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9ba3cf-e2a2-14bc-56d9-de49bb4a3e50}">
          <p14:sldIdLst>
            <p14:sldId id="256"/>
            <p14:sldId id="257"/>
            <p14:sldId id="258"/>
            <p14:sldId id="259"/>
          </p14:sldIdLst>
        </p14:section>
        <p14:section name="How it works" id="{5062fe4d-7e97-3595-fb2e-fcc4a09aaed0}">
          <p14:sldIdLst>
            <p14:sldId id="260"/>
            <p14:sldId id="261"/>
            <p14:sldId id="262"/>
            <p14:sldId id="263"/>
            <p14:sldId id="264"/>
            <p14:sldId id="265"/>
            <p14:sldId id="269"/>
          </p14:sldIdLst>
        </p14:section>
        <p14:section name="Machine learning" id="{df16cda6-27ba-7c9d-3c2a-fbe79da8865a}">
          <p14:sldIdLst>
            <p14:sldId id="266"/>
            <p14:sldId id="267"/>
            <p14:sldId id="268"/>
          </p14:sldIdLst>
        </p14:section>
        <p14:section name="Demonstration" id="{ed258e58-b734-7100-5940-401ac0ebe734}">
          <p14:sldIdLst>
            <p14:sldId id="270"/>
            <p14:sldId id="271"/>
            <p14:sldId id="272"/>
            <p14:sldId id="273"/>
            <p14:sldId id="274"/>
          </p14:sldIdLst>
        </p14:section>
        <p14:section name="Results" id="{407d4d57-c70a-3b65-d3f9-3ac781326376}">
          <p14:sldIdLst>
            <p14:sldId id="275"/>
            <p14:sldId id="276"/>
          </p14:sldIdLst>
        </p14:section>
        <p14:section name="Wrap-up" id="{aa5746e4-2898-6e32-00fb-f6deec99a403}">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D"/>
                </a:solidFill>
                <a:latin typeface="+mn-lt"/>
              </a:defRPr>
            </a:pPr>
            <a:r>
              <a:rPr sz="1300" b="0" i="0" u="none" strike="noStrike">
                <a:solidFill>
                  <a:srgbClr val="16161D"/>
                </a:solidFill>
                <a:latin typeface="+mn-lt"/>
              </a:rPr>
              <a:t>Average error per lap, 2025–26 test races (s)</a:t>
            </a:r>
          </a:p>
        </c:rich>
      </c:tx>
      <c:layout/>
      <c:overlay val="0"/>
    </c:title>
    <c:autoTitleDeleted val="0"/>
    <c:plotArea>
      <c:layout/>
      <c:barChart>
        <c:barDir val="bar"/>
        <c:grouping val="clustered"/>
        <c:varyColors val="0"/>
        <c:ser>
          <c:idx val="0"/>
          <c:order val="0"/>
          <c:tx>
            <c:strRef>
              <c:f>Sheet1!$B$1</c:f>
              <c:strCache>
                <c:ptCount val="1"/>
                <c:pt idx="0">
                  <c:v>Average error per lap (s)</c:v>
                </c:pt>
              </c:strCache>
            </c:strRef>
          </c:tx>
          <c:spPr>
            <a:solidFill>
              <a:srgbClr val="1E73BE"/>
            </a:solidFill>
            <a:effectLst/>
          </c:spPr>
          <c:invertIfNegative val="0"/>
          <c:dLbls>
            <c:numFmt formatCode="0.000&quot; s&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dPt>
            <c:idx val="0"/>
            <c:invertIfNegative val="0"/>
            <c:bubble3D val="0"/>
            <c:spPr>
              <a:solidFill>
                <a:srgbClr val="1E73BE"/>
              </a:solidFill>
              <a:effectLst/>
            </c:spPr>
          </c:dPt>
          <c:dPt>
            <c:idx val="1"/>
            <c:invertIfNegative val="0"/>
            <c:bubble3D val="0"/>
            <c:spPr>
              <a:solidFill>
                <a:srgbClr val="E10600"/>
              </a:solidFill>
              <a:effectLst/>
            </c:spPr>
          </c:dPt>
          <c:dPt>
            <c:idx val="2"/>
            <c:invertIfNegative val="0"/>
            <c:bubble3D val="0"/>
            <c:spPr>
              <a:solidFill>
                <a:srgbClr val="8A8F9C"/>
              </a:solidFill>
              <a:effectLst/>
            </c:spPr>
          </c:dPt>
          <c:cat>
            <c:multiLvlStrRef>
              <c:f>Sheet1!$A$2:$A$4</c:f>
              <c:multiLvlStrCache>
                <c:ptCount val="3"/>
                <c:lvl>
                  <c:pt idx="0">
                    <c:v>ML model</c:v>
                  </c:pt>
                  <c:pt idx="1">
                    <c:v>Formula</c:v>
                  </c:pt>
                  <c:pt idx="2">
                    <c:v>No model</c:v>
                  </c:pt>
                </c:lvl>
              </c:multiLvlStrCache>
            </c:multiLvlStrRef>
          </c:cat>
          <c:val>
            <c:numRef>
              <c:f>Sheet1!$B$2:$B$4</c:f>
              <c:numCache>
                <c:formatCode>General</c:formatCode>
                <c:ptCount val="3"/>
                <c:pt idx="0">
                  <c:v>0.559</c:v>
                </c:pt>
                <c:pt idx="1">
                  <c:v>0.704</c:v>
                </c:pt>
                <c:pt idx="2">
                  <c:v>0.792</c:v>
                </c:pt>
              </c:numCache>
            </c:numRef>
          </c:val>
        </c:ser>
        <c:dLbls>
          <c:numFmt formatCode="0.000&quot; s&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161D"/>
                </a:solidFill>
                <a:latin typeface="+mn-lt"/>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D"/>
                </a:solidFill>
                <a:latin typeface="+mn-lt"/>
              </a:defRPr>
            </a:pPr>
            <a:r>
              <a:rPr sz="1300" b="0" i="0" u="none" strike="noStrike">
                <a:solidFill>
                  <a:srgbClr val="16161D"/>
                </a:solidFill>
                <a:latin typeface="+mn-lt"/>
              </a:rPr>
              <a:t>Error per lap by tyre (s)</a:t>
            </a:r>
          </a:p>
        </c:rich>
      </c:tx>
      <c:layout/>
      <c:overlay val="0"/>
    </c:title>
    <c:autoTitleDeleted val="0"/>
    <c:plotArea>
      <c:layout/>
      <c:barChart>
        <c:barDir val="col"/>
        <c:grouping val="clustered"/>
        <c:varyColors val="0"/>
        <c:ser>
          <c:idx val="0"/>
          <c:order val="0"/>
          <c:tx>
            <c:strRef>
              <c:f>Sheet1!$B$1</c:f>
              <c:strCache>
                <c:ptCount val="1"/>
                <c:pt idx="0">
                  <c:v>ML model</c:v>
                </c:pt>
              </c:strCache>
            </c:strRef>
          </c:tx>
          <c:spPr>
            <a:solidFill>
              <a:srgbClr val="1E73BE"/>
            </a:solidFill>
            <a:effectLst/>
          </c:spPr>
          <c:invertIfNegative val="0"/>
          <c:dLbls>
            <c:numFmt formatCode="0.00" sourceLinked="0"/>
            <c:txPr>
              <a:bodyPr/>
              <a:lstStyle/>
              <a:p>
                <a:pPr>
                  <a:defRPr b="0" i="0" strike="noStrike" sz="1100" u="none">
                    <a:solidFill>
                      <a:srgbClr val="16161D"/>
                    </a:solidFill>
                    <a:latin typeface="+mn-lt"/>
                  </a:defRPr>
                </a:pPr>
              </a:p>
            </c:txPr>
            <c:showLegendKey val="0"/>
            <c:showVal val="1"/>
            <c:showCatName val="0"/>
            <c:showSerName val="0"/>
            <c:showPercent val="0"/>
            <c:showBubbleSize val="0"/>
            <c:showLeaderLines val="0"/>
          </c:dLbls>
          <c:cat>
            <c:multiLvlStrRef>
              <c:f>Sheet1!$A$2:$A$4</c:f>
              <c:multiLvlStrCache>
                <c:ptCount val="3"/>
                <c:lvl>
                  <c:pt idx="0">
                    <c:v>Soft</c:v>
                  </c:pt>
                  <c:pt idx="1">
                    <c:v>Medium</c:v>
                  </c:pt>
                  <c:pt idx="2">
                    <c:v>Hard</c:v>
                  </c:pt>
                </c:lvl>
              </c:multiLvlStrCache>
            </c:multiLvlStrRef>
          </c:cat>
          <c:val>
            <c:numRef>
              <c:f>Sheet1!$B$2:$B$4</c:f>
              <c:numCache>
                <c:formatCode>General</c:formatCode>
                <c:ptCount val="3"/>
                <c:pt idx="0">
                  <c:v>0.634</c:v>
                </c:pt>
                <c:pt idx="1">
                  <c:v>0.53</c:v>
                </c:pt>
                <c:pt idx="2">
                  <c:v>0.558</c:v>
                </c:pt>
              </c:numCache>
            </c:numRef>
          </c:val>
        </c:ser>
        <c:ser>
          <c:idx val="1"/>
          <c:order val="1"/>
          <c:tx>
            <c:strRef>
              <c:f>Sheet1!$C$1</c:f>
              <c:strCache>
                <c:ptCount val="1"/>
                <c:pt idx="0">
                  <c:v>Formula</c:v>
                </c:pt>
              </c:strCache>
            </c:strRef>
          </c:tx>
          <c:spPr>
            <a:solidFill>
              <a:srgbClr val="E10600"/>
            </a:solidFill>
            <a:effectLst/>
          </c:spPr>
          <c:invertIfNegative val="0"/>
          <c:dLbls>
            <c:numFmt formatCode="0.00" sourceLinked="0"/>
            <c:txPr>
              <a:bodyPr/>
              <a:lstStyle/>
              <a:p>
                <a:pPr>
                  <a:defRPr b="0" i="0" strike="noStrike" sz="1100" u="none">
                    <a:solidFill>
                      <a:srgbClr val="16161D"/>
                    </a:solidFill>
                    <a:latin typeface="+mn-lt"/>
                  </a:defRPr>
                </a:pPr>
              </a:p>
            </c:txPr>
            <c:showLegendKey val="0"/>
            <c:showVal val="1"/>
            <c:showCatName val="0"/>
            <c:showSerName val="0"/>
            <c:showPercent val="0"/>
            <c:showBubbleSize val="0"/>
            <c:showLeaderLines val="0"/>
          </c:dLbls>
          <c:cat>
            <c:multiLvlStrRef>
              <c:f>Sheet1!$A$2:$A$4</c:f>
              <c:multiLvlStrCache>
                <c:ptCount val="3"/>
                <c:lvl>
                  <c:pt idx="0">
                    <c:v>Soft</c:v>
                  </c:pt>
                  <c:pt idx="1">
                    <c:v>Medium</c:v>
                  </c:pt>
                  <c:pt idx="2">
                    <c:v>Hard</c:v>
                  </c:pt>
                </c:lvl>
              </c:multiLvlStrCache>
            </c:multiLvlStrRef>
          </c:cat>
          <c:val>
            <c:numRef>
              <c:f>Sheet1!$C$2:$C$4</c:f>
              <c:numCache>
                <c:formatCode>General</c:formatCode>
                <c:ptCount val="3"/>
                <c:pt idx="0">
                  <c:v>1.084</c:v>
                </c:pt>
                <c:pt idx="1">
                  <c:v>0.671</c:v>
                </c:pt>
                <c:pt idx="2">
                  <c:v>0.603</c:v>
                </c:pt>
              </c:numCache>
            </c:numRef>
          </c:val>
        </c:ser>
        <c:dLbls>
          <c:numFmt formatCode="0.00" sourceLinked="0"/>
          <c:txPr>
            <a:bodyPr/>
            <a:lstStyle/>
            <a:p>
              <a:pPr>
                <a:defRPr b="0" i="0" strike="noStrike" sz="1100" u="none">
                  <a:solidFill>
                    <a:srgbClr val="1616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161D"/>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161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D"/>
                </a:solidFill>
                <a:latin typeface="+mn-lt"/>
              </a:defRPr>
            </a:pPr>
            <a:r>
              <a:rPr sz="1300" b="0" i="0" u="none" strike="noStrike">
                <a:solidFill>
                  <a:srgbClr val="16161D"/>
                </a:solidFill>
                <a:latin typeface="+mn-lt"/>
              </a:rPr>
              <a:t>Tests by area (pytest)</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9B5DE5"/>
            </a:solidFill>
            <a:effectLst/>
          </c:spPr>
          <c:invertIfNegative val="0"/>
          <c:dLbls>
            <c:numFmt formatCode="#,##0" sourceLinked="0"/>
            <c:txPr>
              <a:bodyPr/>
              <a:lstStyle/>
              <a:p>
                <a:pPr>
                  <a:defRPr b="0" i="0" strike="noStrike" sz="1100" u="none">
                    <a:solidFill>
                      <a:srgbClr val="16161D"/>
                    </a:solidFill>
                    <a:latin typeface="+mn-lt"/>
                  </a:defRPr>
                </a:pPr>
              </a:p>
            </c:txPr>
            <c:showLegendKey val="0"/>
            <c:showVal val="1"/>
            <c:showCatName val="0"/>
            <c:showSerName val="0"/>
            <c:showPercent val="0"/>
            <c:showBubbleSize val="0"/>
            <c:showLeaderLines val="0"/>
          </c:dLbls>
          <c:cat>
            <c:multiLvlStrRef>
              <c:f>Sheet1!$A$2:$A$12</c:f>
              <c:multiLvlStrCache>
                <c:ptCount val="11"/>
                <c:lvl>
                  <c:pt idx="0">
                    <c:v>Chat assistant</c:v>
                  </c:pt>
                  <c:pt idx="1">
                    <c:v>Input validation</c:v>
                  </c:pt>
                  <c:pt idx="2">
                    <c:v>Simulation</c:v>
                  </c:pt>
                  <c:pt idx="3">
                    <c:v>Real races + reality check</c:v>
                  </c:pt>
                  <c:pt idx="4">
                    <c:v>Workflow + Critic loop</c:v>
                  </c:pt>
                  <c:pt idx="5">
                    <c:v>Scenarios + events</c:v>
                  </c:pt>
                  <c:pt idx="6">
                    <c:v>App pages (headless)</c:v>
                  </c:pt>
                  <c:pt idx="7">
                    <c:v>AI agents (stand-in server)</c:v>
                  </c:pt>
                  <c:pt idx="8">
                    <c:v>Events + records</c:v>
                  </c:pt>
                  <c:pt idx="9">
                    <c:v>FastF1 source</c:v>
                  </c:pt>
                  <c:pt idx="10">
                    <c:v>ML model</c:v>
                  </c:pt>
                </c:lvl>
              </c:multiLvlStrCache>
            </c:multiLvlStrRef>
          </c:cat>
          <c:val>
            <c:numRef>
              <c:f>Sheet1!$B$2:$B$12</c:f>
              <c:numCache>
                <c:formatCode>General</c:formatCode>
                <c:ptCount val="11"/>
                <c:pt idx="0">
                  <c:v>29</c:v>
                </c:pt>
                <c:pt idx="1">
                  <c:v>23</c:v>
                </c:pt>
                <c:pt idx="2">
                  <c:v>22</c:v>
                </c:pt>
                <c:pt idx="3">
                  <c:v>20</c:v>
                </c:pt>
                <c:pt idx="4">
                  <c:v>19</c:v>
                </c:pt>
                <c:pt idx="5">
                  <c:v>18</c:v>
                </c:pt>
                <c:pt idx="6">
                  <c:v>17</c:v>
                </c:pt>
                <c:pt idx="7">
                  <c:v>13</c:v>
                </c:pt>
                <c:pt idx="8">
                  <c:v>13</c:v>
                </c:pt>
                <c:pt idx="9">
                  <c:v>11</c:v>
                </c:pt>
                <c:pt idx="10">
                  <c:v>7</c:v>
                </c:pt>
              </c:numCache>
            </c:numRef>
          </c:val>
        </c:ser>
        <c:dLbls>
          <c:numFmt formatCode="#,##0" sourceLinked="0"/>
          <c:txPr>
            <a:bodyPr/>
            <a:lstStyle/>
            <a:p>
              <a:pPr>
                <a:defRPr b="0" i="0" strike="noStrike" sz="1100" u="none">
                  <a:solidFill>
                    <a:srgbClr val="16161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61D"/>
                </a:solidFill>
                <a:latin typeface="+mn-lt"/>
              </a:defRPr>
            </a:pPr>
            <a:endParaRPr lang="en-US"/>
          </a:p>
        </c:txPr>
        <c:crossAx val="2094734552"/>
        <c:crosses val="autoZero"/>
        <c:auto val="1"/>
        <c:lblAlgn val="ctr"/>
        <c:noMultiLvlLbl val="1"/>
      </c:catAx>
      <c:valAx>
        <c:axId val="2094734552"/>
        <c:scaling>
          <c:orientation val="minMax"/>
          <c:max val="3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D"/>
                </a:solidFill>
                <a:latin typeface="+mn-lt"/>
              </a:defRPr>
            </a:pPr>
            <a:r>
              <a:rPr sz="1300" b="0" i="0" u="none" strike="noStrike">
                <a:solidFill>
                  <a:srgbClr val="16161D"/>
                </a:solidFill>
                <a:latin typeface="+mn-lt"/>
              </a:rPr>
              <a:t>Agreement with the team (% of moments)</a:t>
            </a:r>
          </a:p>
        </c:rich>
      </c:tx>
      <c:layout/>
      <c:overlay val="0"/>
    </c:title>
    <c:autoTitleDeleted val="0"/>
    <c:plotArea>
      <c:layout/>
      <c:barChart>
        <c:barDir val="col"/>
        <c:grouping val="clustered"/>
        <c:varyColors val="0"/>
        <c:ser>
          <c:idx val="0"/>
          <c:order val="0"/>
          <c:tx>
            <c:strRef>
              <c:f>Sheet1!$B$1</c:f>
              <c:strCache>
                <c:ptCount val="1"/>
                <c:pt idx="0">
                  <c:v>Formula tyres</c:v>
                </c:pt>
              </c:strCache>
            </c:strRef>
          </c:tx>
          <c:spPr>
            <a:solidFill>
              <a:srgbClr val="E10600"/>
            </a:solidFill>
            <a:effectLst/>
          </c:spPr>
          <c:invertIfNegative val="0"/>
          <c:dLbls>
            <c:numFmt formatCode="0&quot;%&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cat>
            <c:multiLvlStrRef>
              <c:f>Sheet1!$A$2:$A$4</c:f>
              <c:multiLvlStrCache>
                <c:ptCount val="3"/>
                <c:lvl>
                  <c:pt idx="0">
                    <c:v>Same call</c:v>
                  </c:pt>
                  <c:pt idx="1">
                    <c:v>Same tyre</c:v>
                  </c:pt>
                  <c:pt idx="2">
                    <c:v>Same number of stops</c:v>
                  </c:pt>
                </c:lvl>
              </c:multiLvlStrCache>
            </c:multiLvlStrRef>
          </c:cat>
          <c:val>
            <c:numRef>
              <c:f>Sheet1!$B$2:$B$4</c:f>
              <c:numCache>
                <c:formatCode>General</c:formatCode>
                <c:ptCount val="3"/>
                <c:pt idx="0">
                  <c:v>43.1</c:v>
                </c:pt>
                <c:pt idx="1">
                  <c:v>68</c:v>
                </c:pt>
                <c:pt idx="2">
                  <c:v>56.9</c:v>
                </c:pt>
              </c:numCache>
            </c:numRef>
          </c:val>
        </c:ser>
        <c:ser>
          <c:idx val="1"/>
          <c:order val="1"/>
          <c:tx>
            <c:strRef>
              <c:f>Sheet1!$C$1</c:f>
              <c:strCache>
                <c:ptCount val="1"/>
                <c:pt idx="0">
                  <c:v>ML tyres</c:v>
                </c:pt>
              </c:strCache>
            </c:strRef>
          </c:tx>
          <c:spPr>
            <a:solidFill>
              <a:srgbClr val="1E73BE"/>
            </a:solidFill>
            <a:effectLst/>
          </c:spPr>
          <c:invertIfNegative val="0"/>
          <c:dLbls>
            <c:numFmt formatCode="0&quot;%&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cat>
            <c:multiLvlStrRef>
              <c:f>Sheet1!$A$2:$A$4</c:f>
              <c:multiLvlStrCache>
                <c:ptCount val="3"/>
                <c:lvl>
                  <c:pt idx="0">
                    <c:v>Same call</c:v>
                  </c:pt>
                  <c:pt idx="1">
                    <c:v>Same tyre</c:v>
                  </c:pt>
                  <c:pt idx="2">
                    <c:v>Same number of stops</c:v>
                  </c:pt>
                </c:lvl>
              </c:multiLvlStrCache>
            </c:multiLvlStrRef>
          </c:cat>
          <c:val>
            <c:numRef>
              <c:f>Sheet1!$C$2:$C$4</c:f>
              <c:numCache>
                <c:formatCode>General</c:formatCode>
                <c:ptCount val="3"/>
                <c:pt idx="0">
                  <c:v>38.9</c:v>
                </c:pt>
                <c:pt idx="1">
                  <c:v>60.8</c:v>
                </c:pt>
                <c:pt idx="2">
                  <c:v>56.9</c:v>
                </c:pt>
              </c:numCache>
            </c:numRef>
          </c:val>
        </c:ser>
        <c:dLbls>
          <c:numFmt formatCode="0&quot;%&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161D"/>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161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161D"/>
                </a:solidFill>
                <a:latin typeface="+mn-lt"/>
              </a:defRPr>
            </a:pPr>
            <a:r>
              <a:rPr sz="1300" b="0" i="0" u="none" strike="noStrike">
                <a:solidFill>
                  <a:srgbClr val="16161D"/>
                </a:solidFill>
                <a:latin typeface="+mn-lt"/>
              </a:rPr>
              <a:t>Time-to-flag error, 139 clean races (s)</a:t>
            </a:r>
          </a:p>
        </c:rich>
      </c:tx>
      <c:layout/>
      <c:overlay val="0"/>
    </c:title>
    <c:autoTitleDeleted val="0"/>
    <c:plotArea>
      <c:layout/>
      <c:barChart>
        <c:barDir val="bar"/>
        <c:grouping val="clustered"/>
        <c:varyColors val="0"/>
        <c:ser>
          <c:idx val="0"/>
          <c:order val="0"/>
          <c:tx>
            <c:strRef>
              <c:f>Sheet1!$B$1</c:f>
              <c:strCache>
                <c:ptCount val="1"/>
                <c:pt idx="0">
                  <c:v>Median error (s)</c:v>
                </c:pt>
              </c:strCache>
            </c:strRef>
          </c:tx>
          <c:spPr>
            <a:solidFill>
              <a:srgbClr val="E10600"/>
            </a:solidFill>
            <a:effectLst/>
          </c:spPr>
          <c:invertIfNegative val="0"/>
          <c:dLbls>
            <c:numFmt formatCode="0.0&quot; s&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dPt>
            <c:idx val="0"/>
            <c:invertIfNegative val="0"/>
            <c:bubble3D val="0"/>
            <c:spPr>
              <a:solidFill>
                <a:srgbClr val="E10600"/>
              </a:solidFill>
              <a:effectLst/>
            </c:spPr>
          </c:dPt>
          <c:dPt>
            <c:idx val="1"/>
            <c:invertIfNegative val="0"/>
            <c:bubble3D val="0"/>
            <c:spPr>
              <a:solidFill>
                <a:srgbClr val="1E73BE"/>
              </a:solidFill>
              <a:effectLst/>
            </c:spPr>
          </c:dPt>
          <c:cat>
            <c:multiLvlStrRef>
              <c:f>Sheet1!$A$2:$A$3</c:f>
              <c:multiLvlStrCache>
                <c:ptCount val="2"/>
                <c:lvl>
                  <c:pt idx="0">
                    <c:v>Formula tyres</c:v>
                  </c:pt>
                  <c:pt idx="1">
                    <c:v>ML tyres</c:v>
                  </c:pt>
                </c:lvl>
              </c:multiLvlStrCache>
            </c:multiLvlStrRef>
          </c:cat>
          <c:val>
            <c:numRef>
              <c:f>Sheet1!$B$2:$B$3</c:f>
              <c:numCache>
                <c:formatCode>General</c:formatCode>
                <c:ptCount val="2"/>
                <c:pt idx="0">
                  <c:v>17.4</c:v>
                </c:pt>
                <c:pt idx="1">
                  <c:v>10.1</c:v>
                </c:pt>
              </c:numCache>
            </c:numRef>
          </c:val>
        </c:ser>
        <c:dLbls>
          <c:numFmt formatCode="0.0&quot; s&quot;" sourceLinked="0"/>
          <c:txPr>
            <a:bodyPr/>
            <a:lstStyle/>
            <a:p>
              <a:pPr>
                <a:defRPr b="0" i="0" strike="noStrike" sz="1200" u="none">
                  <a:solidFill>
                    <a:srgbClr val="16161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161D"/>
                </a:solidFill>
                <a:latin typeface="+mn-lt"/>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PitWall AI is a proof of concept for agentic AI: five software agents share one workspace to decide a Formula 1 pit-stop call (when to stop and which tyres), using a Python simulation for every number and a rule-based Critic as a safety gate. It runs on made-up scenarios and on 162 real races, and can compare its call with what the team really did. Add your name and course details here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strategy is hard: a stop costs around 20-25 seconds, but a Safety Car halves that cost; rain makes slick tyres useless; tyres wear and eventually fall off. These numbers are the assumptions inside our model (config.py), not official F1 data. The decision has to be made quickly, with incomplete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Intended users: students, fans and analysts, and teachers. The gap: a chatbot alone can explain but may invent numbers; a spreadsheet or simulator calculates but doesn't explain or enforce rules; a black-box ML model predicts without reasons or safety checks. PitWall AI combines the three: an AI that reasons, a simulator that calculates, and a rule-based Critic that checks. This matrix is a simplification of typical tools, used to motivate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matching the assignment's requirement for an agentic workflow with validation. Be clear about scope: this is a proof of concept that replays history; it does not use a live feed, does not model overtaking or tyre temperature, and never predicts Safety Cars or rain (those are given as forecasts or, optionally, from the real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 one line: the AI proposes, Python calculates, rules check. The AI model is used where judgement and language help (planning which options to try, choosing among safe options, explaining). Numbers always come from the simulator, and the Critic's rules can't be overridden by the AI. Without an API key, the same agents run on rules, so the demo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Inputs come from example scenarios, 162 built-in real races, optional FastF1 downloads, or events and chat scenarios. The orchestrator passes one shared workspace through the five agents. The Critic can send work back to the Planner (new plan) or the Executor (re-run), at most twice. Supporting services sit underneath: the AI client (used by Planner, Operations and the chat), the ML tyre model (used by the Executor) and the rule parameters (used by the Critic). Outputs: the call with a team-radio message, a saved decision record, and for real races a reality check. The Streamlit UI on top drives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one job. The Planner and Pit Wall Operations use the AI model; Race Research and the Executor are Python tools; the Critic is pure rules. Every agent writes what it was given, what it did and what it decided into the shared workspace and the activity log, which the Agents page shows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reproducible example from the app. The agents only see laps 1 to 10. The Planner tests seven options; the Critic rejects five (tyres would exceed their safe life, or the two-compound rule); Operations picks 'stay out, then box lap 14 for hards'. Only then does the user press Reveal: Ferrari boxed on lap 15 for hards, so the verdict is a match, and the model's estimate of the race time was within 3 seconds. Note the pit-loss value was an assumption here, which the app labels in its data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is deliberately simple and transparent so every number can be explained. Each lap is a sum of named effects. Safety Car and VSC factors are assumptions stored in config.py. The Critic's rules come from F1 practice (two-compound rule, safe tyre life) plus number checks that catch any bad simulation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called through one small OpenAI-compatible client written with Python's standard library, so Groq, Google Gemini and a local Ollama all work. The agent sends a compact factual brief and asks for JSON. A validator checks every field. The guard rails are the important part: the AI can only choose among options the Critic approved, it never produces numbers, and its radio message is checked against the plan. Free-plan limits (from Groq's published rate limits, source [1]) shaped the design: short prompts and an automatic rules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clean lap is compared with the same driver's typical lap in that race, which removes car and driver speed, so the model learns tyres and fuel. The model is scikit-learn's HistGradientBoostingRegressor with monotonic constraints for physical sense. The key methodological choice: model size was chosen on the 2024 season, never on the test seasons, because adding trees made results worse on newer seasons. 156 of the 162 races contribute usable laps after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40 races from 2025 and 2026 that the model never saw, the ML model's average error is 0.559 seconds per lap, against 0.704 for our hand-written formula and 0.792 for no model at all: 21 percent lower than the formula, and better on every compound, especially softs. Be honest about R-squared: 0.44 is modest because lap times are noisy, but the formula only reaches 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a real screenshot of the app. The ML model learned that, in real races, the three dry compounds degrade similarly for the first 25 or so laps, much more alike than our formula assumes. Beyond the ages seen in the data, the curve is extended at its recent slope (never flatter than the formula). A plausible reason for the flat curves is survivorship: teams pit before tyres collapse, so the dataset rarely contains the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role of each technology rather than just naming it. Python holds all logic. Streamlit gives a web UI without front-end code. pandas and NumPy handle the lap data and arithmetic; Altair draws the charts; scikit-learn trains the tyre model. Groq hosts OpenAI's open-weight gpt-oss-120b for free with an API key. Real timing comes from the TracingInsights archive (MIT licence), itself built with FastF1. pytest plus Streamlit's AppTest test the logic and the pages. Docker and an EC2 server are used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The top bar has eight pages, one job each. On Race Control the user picks a real race moment (here Leclerc at Monza 2024 after lap 10), chooses the question and tyre model, and presses Analyze Strategy. The call appears with its numbers and a risk rating computed by an explicit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'agentic' part made visible. With Watch live on, each step appears as the agent performs it. Afterwards the pipeline shows each agent's result, and expandable panels show what each agent was given, what it did, what it decided and what it passed on, all taken from the real run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is connected to the agents. A whole scenario can be described in plain words; the app builds a copy of the race inputs, runs all five agents and explains the outcome simply: here, switch to intermediates on lap 34 just before the rain, back to softs on lap 45. The timeline chart shows the race events and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Lab injects events like a Safety Car, a VSC, rain or extra tyre wear in one click, re-runs the agents and shows what changed and why. On real races, 'Reveal what really happened' reads the laps after the decision only after the agents have decided, so hindsight can't leak into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the build environment could not reach Groq, so these screenshots come from a local test server that speaks the same API and returns canned replies. They show how the interface reports AI decisions and how the guard rails act: the AI's choice was accepted because it was on the approved shortlist, while its radio message was rejected because it contradicted the plan. With a real Groq key the same screens show real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suite has 192 tests, all passing on three combinations of Python and Streamlit versions. Highlight the ones that prove the design claims: no hindsight leakage, rules always enforced, safe AI failure, pages that work, and the ML model's advantage. The AI tests use a local stand-in server, because a real API can't be part of automated tests. Pages were also checked in a real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honest result in the project. Across 406 real moments the agents made exactly the team's call 43 percent of the time with the formula, 39 percent with ML tyres; the tyre choice matched 68 and 61 percent. Where nothing unpredictable happened, the race-time error drops from 17.4 to 10.1 seconds with the ML model. Mention the caveat: the evaluation uses the model trained on all seasons, so only 2025-26 is a fully fair test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to discuss in detail. The hindsight problem is subtle: if any later lap leaks into the race state, the agents would cheat. The data had real problems (2018 tyre labels didn't match real stops). The AI needed guard rails. The ML model looked better with more trees on a random split but worse on newer seasons, which a season-based validation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limits and plans clearly separated: everything on the right is a proposal, not a feature. The most valuable next step is probably probabilistic Safety Car and rain risk, because unpredictable events cause most of the disagreement with real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main message: what makes this agentic AI useful is not that it is clever but that it is checkable. Repeat the four numbers, then invite questions. Good demo to offer: load a real race, press Analyze, watch the agents live, then reveal what really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for external claims about free plans and deployment, and the data and library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W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5852160" cy="1143000"/>
          </a:xfrm>
          <a:prstGeom prst="rect">
            <a:avLst/>
          </a:prstGeom>
          <a:noFill/>
          <a:ln/>
        </p:spPr>
        <p:txBody>
          <a:bodyPr wrap="square" rtlCol="0"/>
          <a:lstStyle>
            <a:lvl1pPr algn="l" indent="0" marL="0">
              <a:buNone/>
              <a:defRPr lang="en-US" sz="6000" b="1" dirty="0">
                <a:solidFill>
                  <a:schemeClr val="bg1"/>
                </a:solidFill>
                <a:latin typeface="Bookman Old Style" pitchFamily="34" charset="0"/>
                <a:ea typeface="Bookman Old Style" pitchFamily="34" charset="-122"/>
                <a:cs typeface="Bookman Old Style" pitchFamily="34" charset="-120"/>
              </a:defRPr>
            </a:lvl1pPr>
          </a:lstStyle>
          <a:p>
            <a:pPr algn="l" indent="0" marL="0">
              <a:buNone/>
            </a:pPr>
            <a:endParaRPr lang="en-US" sz="6000" dirty="0"/>
          </a:p>
        </p:txBody>
      </p:sp>
      <p:sp>
        <p:nvSpPr>
          <p:cNvPr id="3" name="Text 0"/>
          <p:cNvSpPr/>
          <p:nvPr>
            <p:ph idx="101" type="body" hasCustomPrompt="1"/>
          </p:nvPr>
        </p:nvSpPr>
        <p:spPr>
          <a:xfrm>
            <a:off x="548640" y="3108960"/>
            <a:ext cx="5394960" cy="105156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W 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rtlCol="0"/>
          <a:lstStyle>
            <a:lvl1pPr algn="l" indent="0" marL="0">
              <a:buNone/>
              <a:defRPr lang="en-US" sz="3200" b="1" dirty="0">
                <a:solidFill>
                  <a:schemeClr val="tx1"/>
                </a:solidFill>
                <a:latin typeface="Bookman Old Style" pitchFamily="34" charset="0"/>
                <a:ea typeface="Bookman Old Style" pitchFamily="34" charset="-122"/>
                <a:cs typeface="Bookman Old Style" pitchFamily="34" charset="-120"/>
              </a:defRPr>
            </a:lvl1pPr>
          </a:lstStyle>
          <a:p>
            <a:pPr algn="l" indent="0" marL="0">
              <a:buNone/>
            </a:pPr>
            <a:endParaRPr lang="en-US" sz="3200" dirty="0"/>
          </a:p>
        </p:txBody>
      </p:sp>
      <p:sp>
        <p:nvSpPr>
          <p:cNvPr id="4" name="Text 0"/>
          <p:cNvSpPr/>
          <p:nvPr/>
        </p:nvSpPr>
        <p:spPr>
          <a:xfrm>
            <a:off x="548640" y="6446520"/>
            <a:ext cx="5486400" cy="256032"/>
          </a:xfrm>
          <a:prstGeom prst="rect">
            <a:avLst/>
          </a:prstGeom>
          <a:noFill/>
          <a:ln/>
        </p:spPr>
        <p:txBody>
          <a:bodyPr wrap="square" lIns="0" tIns="0" rIns="0" bIns="0" rtlCol="0" anchor="ctr"/>
          <a:lstStyle/>
          <a:p>
            <a:pPr indent="0" marL="0">
              <a:buNone/>
            </a:pPr>
            <a:r>
              <a:rPr lang="en-US" sz="1000" dirty="0">
                <a:solidFill>
                  <a:schemeClr val="tx2"/>
                </a:solidFill>
              </a:rPr>
              <a:t>PitWall AI  ·  Agentic AI for F1 race strategy</a:t>
            </a:r>
            <a:endParaRPr lang="en-US" sz="10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W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rtlCol="0"/>
          <a:lstStyle>
            <a:lvl1pPr algn="l" indent="0" marL="0">
              <a:buNone/>
              <a:defRPr lang="en-US" sz="3200" b="1" dirty="0">
                <a:solidFill>
                  <a:schemeClr val="bg1"/>
                </a:solidFill>
                <a:latin typeface="Bookman Old Style" pitchFamily="34" charset="0"/>
                <a:ea typeface="Bookman Old Style" pitchFamily="34" charset="-122"/>
                <a:cs typeface="Bookman Old Style" pitchFamily="34" charset="-120"/>
              </a:defRPr>
            </a:lvl1pPr>
          </a:lstStyle>
          <a:p>
            <a:pPr algn="l" indent="0" marL="0">
              <a:buNone/>
            </a:pPr>
            <a:endParaRPr lang="en-US" sz="3200" dirty="0"/>
          </a:p>
        </p:txBody>
      </p:sp>
      <p:sp>
        <p:nvSpPr>
          <p:cNvPr id="4" name="Text 0"/>
          <p:cNvSpPr/>
          <p:nvPr/>
        </p:nvSpPr>
        <p:spPr>
          <a:xfrm>
            <a:off x="548640" y="6446520"/>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PitWall AI  ·  Agentic AI for F1 race strategy</a:t>
            </a:r>
            <a:endParaRPr lang="en-US" sz="10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image" Target="../media/image-20-3.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1"/>
          <p:cNvSpPr/>
          <p:nvPr/>
        </p:nvSpPr>
        <p:spPr>
          <a:xfrm>
            <a:off x="548640" y="1188720"/>
            <a:ext cx="3291840" cy="310896"/>
          </a:xfrm>
          <a:prstGeom prst="roundRect">
            <a:avLst>
              <a:gd name="adj" fmla="val 50000"/>
            </a:avLst>
          </a:prstGeom>
          <a:solidFill>
            <a:schemeClr val="accent2"/>
          </a:solidFill>
          <a:ln/>
        </p:spPr>
      </p:sp>
      <p:sp>
        <p:nvSpPr>
          <p:cNvPr id="3" name="Chip label-2"/>
          <p:cNvSpPr txBox="1"/>
          <p:nvPr/>
        </p:nvSpPr>
        <p:spPr>
          <a:xfrm>
            <a:off x="548640" y="1188720"/>
            <a:ext cx="3291840" cy="310896"/>
          </a:xfrm>
          <a:prstGeom prst="rect">
            <a:avLst/>
          </a:prstGeom>
          <a:noFill/>
          <a:ln/>
        </p:spPr>
        <p:txBody>
          <a:bodyPr wrap="square" lIns="0" tIns="0" rIns="0" bIns="0" rtlCol="0" anchor="ctr"/>
          <a:lstStyle/>
          <a:p>
            <a:pPr algn="ctr" indent="0" marL="0">
              <a:buNone/>
            </a:pPr>
            <a:r>
              <a:rPr lang="en-US" sz="1200" b="1" dirty="0">
                <a:solidFill>
                  <a:schemeClr val="tx1"/>
                </a:solidFill>
              </a:rPr>
              <a:t>CA-3  ·  Agentic AI proof of concept</a:t>
            </a:r>
            <a:endParaRPr lang="en-US" sz="1200" dirty="0"/>
          </a:p>
        </p:txBody>
      </p:sp>
      <p:sp>
        <p:nvSpPr>
          <p:cNvPr id="4" name="Text 0"/>
          <p:cNvSpPr/>
          <p:nvPr>
            <p:ph idx="100" type="title" hasCustomPrompt="1"/>
          </p:nvPr>
        </p:nvSpPr>
        <p:spPr>
          <a:xfrm>
            <a:off x="548640" y="1783080"/>
            <a:ext cx="5852160" cy="1143000"/>
          </a:xfrm>
          <a:prstGeom prst="rect">
            <a:avLst/>
          </a:prstGeom>
          <a:noFill/>
          <a:ln/>
        </p:spPr>
        <p:txBody>
          <a:bodyPr wrap="square" lIns="0" tIns="0" rIns="0" bIns="0" rtlCol="0" anchor="b"/>
          <a:lstStyle/>
          <a:p>
            <a:pPr algn="l" indent="0" marL="0">
              <a:buNone/>
            </a:pPr>
            <a:r>
              <a:rPr lang="en-US" sz="6000" b="1" dirty="0">
                <a:solidFill>
                  <a:schemeClr val="bg1"/>
                </a:solidFill>
                <a:latin typeface="Bookman Old Style" pitchFamily="34" charset="0"/>
                <a:ea typeface="Bookman Old Style" pitchFamily="34" charset="-122"/>
                <a:cs typeface="Bookman Old Style" pitchFamily="34" charset="-120"/>
              </a:rPr>
              <a:t>PitWall </a:t>
            </a:r>
            <a:pPr algn="l" indent="0" marL="0">
              <a:buNone/>
            </a:pPr>
            <a:r>
              <a:rPr lang="en-US" sz="6000" b="1" dirty="0">
                <a:solidFill>
                  <a:schemeClr val="accent5"/>
                </a:solidFill>
                <a:latin typeface="Bookman Old Style" pitchFamily="34" charset="0"/>
                <a:ea typeface="Bookman Old Style" pitchFamily="34" charset="-122"/>
                <a:cs typeface="Bookman Old Style" pitchFamily="34" charset="-120"/>
              </a:rPr>
              <a:t>AI</a:t>
            </a:r>
            <a:endParaRPr lang="en-US" sz="6000" dirty="0"/>
          </a:p>
        </p:txBody>
      </p:sp>
      <p:sp>
        <p:nvSpPr>
          <p:cNvPr id="5" name="Text 0"/>
          <p:cNvSpPr/>
          <p:nvPr>
            <p:ph idx="101" type="body" hasCustomPrompt="1"/>
          </p:nvPr>
        </p:nvSpPr>
        <p:spPr>
          <a:xfrm>
            <a:off x="548640" y="3108960"/>
            <a:ext cx="5394960" cy="1051560"/>
          </a:xfrm>
          <a:prstGeom prst="rect">
            <a:avLst/>
          </a:prstGeom>
          <a:noFill/>
          <a:ln/>
        </p:spPr>
        <p:txBody>
          <a:bodyPr wrap="square" lIns="0" tIns="0" rIns="0" bIns="0" rtlCol="0" anchor="t"/>
          <a:lstStyle/>
          <a:p>
            <a:pPr algn="l" indent="0" marL="0">
              <a:buNone/>
            </a:pPr>
            <a:r>
              <a:rPr lang="en-US" sz="2200" dirty="0">
                <a:solidFill>
                  <a:schemeClr val="bg2"/>
                </a:solidFill>
              </a:rPr>
              <a:t>Five AI agents that make the Formula 1 pit-stop call, and show their work.</a:t>
            </a:r>
            <a:endParaRPr lang="en-US" sz="2200" dirty="0"/>
          </a:p>
        </p:txBody>
      </p:sp>
      <p:sp>
        <p:nvSpPr>
          <p:cNvPr id="6" name="Text-3"/>
          <p:cNvSpPr txBox="1"/>
          <p:nvPr/>
        </p:nvSpPr>
        <p:spPr>
          <a:xfrm>
            <a:off x="548640" y="4343400"/>
            <a:ext cx="5486400" cy="548640"/>
          </a:xfrm>
          <a:prstGeom prst="rect">
            <a:avLst/>
          </a:prstGeom>
          <a:noFill/>
          <a:ln/>
        </p:spPr>
        <p:txBody>
          <a:bodyPr wrap="square" lIns="0" tIns="0" rIns="0" bIns="0" rtlCol="0" anchor="t"/>
          <a:lstStyle/>
          <a:p>
            <a:pPr algn="l" indent="0" marL="0">
              <a:buNone/>
            </a:pPr>
            <a:r>
              <a:rPr lang="en-US" sz="1400" dirty="0">
                <a:solidFill>
                  <a:schemeClr val="accent6"/>
                </a:solidFill>
              </a:rPr>
              <a:t>Python  ·  Streamlit  ·  Groq gpt-oss-120b  ·  scikit-learn  ·  162 real races (2019–2026)</a:t>
            </a:r>
            <a:endParaRPr lang="en-US" sz="1400" dirty="0"/>
          </a:p>
        </p:txBody>
      </p:sp>
      <p:pic>
        <p:nvPicPr>
          <p:cNvPr id="7" name="Hero illustration" descr="Illustration of a purple race car with a BOX, BOX! radio bubble">    </p:cNvPr>
          <p:cNvPicPr>
            <a:picLocks noChangeAspect="1"/>
          </p:cNvPicPr>
          <p:nvPr/>
        </p:nvPicPr>
        <p:blipFill>
          <a:blip r:embed="rId1"/>
          <a:stretch>
            <a:fillRect/>
          </a:stretch>
        </p:blipFill>
        <p:spPr>
          <a:xfrm>
            <a:off x="5989320" y="1463040"/>
            <a:ext cx="5852160" cy="31052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A pit stop is a race-changing bet</a:t>
            </a:r>
            <a:endParaRPr lang="en-US" sz="3200" dirty="0"/>
          </a:p>
        </p:txBody>
      </p:sp>
      <p:sp>
        <p:nvSpPr>
          <p:cNvPr id="4" name="Text-4"/>
          <p:cNvSpPr txBox="1"/>
          <p:nvPr/>
        </p:nvSpPr>
        <p:spPr>
          <a:xfrm>
            <a:off x="548640" y="1417320"/>
            <a:ext cx="6949440" cy="731520"/>
          </a:xfrm>
          <a:prstGeom prst="rect">
            <a:avLst/>
          </a:prstGeom>
          <a:noFill/>
          <a:ln/>
        </p:spPr>
        <p:txBody>
          <a:bodyPr wrap="square" lIns="0" tIns="0" rIns="0" bIns="0" rtlCol="0" anchor="t"/>
          <a:lstStyle/>
          <a:p>
            <a:pPr algn="l" indent="0" marL="0">
              <a:buNone/>
            </a:pPr>
            <a:r>
              <a:rPr lang="en-US" sz="1600" dirty="0">
                <a:solidFill>
                  <a:schemeClr val="tx2"/>
                </a:solidFill>
              </a:rPr>
              <a:t>Every lap the pit wall decides: box now, box later or stay out, and which tyres. The best answer changes the moment something happens on track.</a:t>
            </a:r>
            <a:endParaRPr lang="en-US" sz="1600" dirty="0"/>
          </a:p>
        </p:txBody>
      </p:sp>
      <p:pic>
        <p:nvPicPr>
          <p:cNvPr id="5" name="Sticker-5" descr="Decorative radio sticker">    </p:cNvPr>
          <p:cNvPicPr>
            <a:picLocks noChangeAspect="1"/>
          </p:cNvPicPr>
          <p:nvPr/>
        </p:nvPicPr>
        <p:blipFill>
          <a:blip r:embed="rId1"/>
          <a:stretch>
            <a:fillRect/>
          </a:stretch>
        </p:blipFill>
        <p:spPr>
          <a:xfrm rot="-240000">
            <a:off x="8321040" y="1234440"/>
            <a:ext cx="1737360" cy="970878"/>
          </a:xfrm>
          <a:prstGeom prst="rect">
            <a:avLst/>
          </a:prstGeom>
        </p:spPr>
      </p:pic>
      <p:pic>
        <p:nvPicPr>
          <p:cNvPr id="6" name="Sticker-6" descr="Decorative radio sticker">    </p:cNvPr>
          <p:cNvPicPr>
            <a:picLocks noChangeAspect="1"/>
          </p:cNvPicPr>
          <p:nvPr/>
        </p:nvPicPr>
        <p:blipFill>
          <a:blip r:embed="rId2"/>
          <a:stretch>
            <a:fillRect/>
          </a:stretch>
        </p:blipFill>
        <p:spPr>
          <a:xfrm rot="300000">
            <a:off x="10058400" y="1463040"/>
            <a:ext cx="1600200" cy="894229"/>
          </a:xfrm>
          <a:prstGeom prst="rect">
            <a:avLst/>
          </a:prstGeom>
        </p:spPr>
      </p:pic>
      <p:sp>
        <p:nvSpPr>
          <p:cNvPr id="7" name="Card-7"/>
          <p:cNvSpPr/>
          <p:nvPr/>
        </p:nvSpPr>
        <p:spPr>
          <a:xfrm>
            <a:off x="548640" y="2514600"/>
            <a:ext cx="2606040" cy="3063240"/>
          </a:xfrm>
          <a:prstGeom prst="roundRect">
            <a:avLst>
              <a:gd name="adj" fmla="val 4211"/>
            </a:avLst>
          </a:prstGeom>
          <a:solidFill>
            <a:schemeClr val="bg2"/>
          </a:solidFill>
          <a:ln/>
          <a:effectLst>
            <a:outerShdw sx="100000" sy="100000" kx="0" ky="0" algn="bl" rotWithShape="0" blurRad="101600" dist="38100" dir="5400000">
              <a:srgbClr val="000000">
                <a:alpha val="22000"/>
              </a:srgbClr>
            </a:outerShdw>
          </a:effectLst>
        </p:spPr>
      </p:sp>
      <p:pic>
        <p:nvPicPr>
          <p:cNvPr id="8" name="Badge stopwatch-8" descr="stopwatch icon">    </p:cNvPr>
          <p:cNvPicPr>
            <a:picLocks noChangeAspect="1"/>
          </p:cNvPicPr>
          <p:nvPr/>
        </p:nvPicPr>
        <p:blipFill>
          <a:blip r:embed="rId3"/>
          <a:stretch>
            <a:fillRect/>
          </a:stretch>
        </p:blipFill>
        <p:spPr>
          <a:xfrm>
            <a:off x="777240" y="2743200"/>
            <a:ext cx="685800" cy="685800"/>
          </a:xfrm>
          <a:prstGeom prst="rect">
            <a:avLst/>
          </a:prstGeom>
        </p:spPr>
      </p:pic>
      <p:sp>
        <p:nvSpPr>
          <p:cNvPr id="9" name="Text-9"/>
          <p:cNvSpPr txBox="1"/>
          <p:nvPr/>
        </p:nvSpPr>
        <p:spPr>
          <a:xfrm>
            <a:off x="777240" y="3566160"/>
            <a:ext cx="2148840" cy="594360"/>
          </a:xfrm>
          <a:prstGeom prst="rect">
            <a:avLst/>
          </a:prstGeom>
          <a:noFill/>
          <a:ln/>
        </p:spPr>
        <p:txBody>
          <a:bodyPr wrap="square" lIns="0" tIns="0" rIns="0" bIns="0" rtlCol="0" anchor="t"/>
          <a:lstStyle/>
          <a:p>
            <a:pPr algn="l" indent="0" marL="0">
              <a:buNone/>
            </a:pPr>
            <a:r>
              <a:rPr lang="en-US" sz="3000" b="1" dirty="0">
                <a:solidFill>
                  <a:schemeClr val="tx1"/>
                </a:solidFill>
                <a:latin typeface="Bookman Old Style" pitchFamily="34" charset="0"/>
                <a:ea typeface="Bookman Old Style" pitchFamily="34" charset="-122"/>
                <a:cs typeface="Bookman Old Style" pitchFamily="34" charset="-120"/>
              </a:rPr>
              <a:t>~22 s</a:t>
            </a:r>
            <a:endParaRPr lang="en-US" sz="3000" dirty="0"/>
          </a:p>
        </p:txBody>
      </p:sp>
      <p:sp>
        <p:nvSpPr>
          <p:cNvPr id="10" name="Text-10"/>
          <p:cNvSpPr txBox="1"/>
          <p:nvPr/>
        </p:nvSpPr>
        <p:spPr>
          <a:xfrm>
            <a:off x="777240" y="4206240"/>
            <a:ext cx="2148840" cy="594360"/>
          </a:xfrm>
          <a:prstGeom prst="rect">
            <a:avLst/>
          </a:prstGeom>
          <a:noFill/>
          <a:ln/>
        </p:spPr>
        <p:txBody>
          <a:bodyPr wrap="square" lIns="0" tIns="0" rIns="0" bIns="0" rtlCol="0" anchor="t"/>
          <a:lstStyle/>
          <a:p>
            <a:pPr algn="l" indent="0" marL="0">
              <a:buNone/>
            </a:pPr>
            <a:r>
              <a:rPr lang="en-US" sz="1400" b="1" dirty="0">
                <a:solidFill>
                  <a:schemeClr val="tx1"/>
                </a:solidFill>
              </a:rPr>
              <a:t>lost driving through the pit lane and changing tyres</a:t>
            </a:r>
            <a:endParaRPr lang="en-US" sz="1400" dirty="0"/>
          </a:p>
        </p:txBody>
      </p:sp>
      <p:sp>
        <p:nvSpPr>
          <p:cNvPr id="11" name="Text-11"/>
          <p:cNvSpPr txBox="1"/>
          <p:nvPr/>
        </p:nvSpPr>
        <p:spPr>
          <a:xfrm>
            <a:off x="777240" y="4800600"/>
            <a:ext cx="2148840" cy="640080"/>
          </a:xfrm>
          <a:prstGeom prst="rect">
            <a:avLst/>
          </a:prstGeom>
          <a:noFill/>
          <a:ln/>
        </p:spPr>
        <p:txBody>
          <a:bodyPr wrap="square" lIns="0" tIns="0" rIns="0" bIns="0" rtlCol="0" anchor="t"/>
          <a:lstStyle/>
          <a:p>
            <a:pPr algn="l" indent="0" marL="0">
              <a:buNone/>
            </a:pPr>
            <a:r>
              <a:rPr lang="en-US" sz="1200" dirty="0">
                <a:solidFill>
                  <a:schemeClr val="tx2"/>
                </a:solidFill>
              </a:rPr>
              <a:t>PitWall's default; real races measure it from real stops</a:t>
            </a:r>
            <a:endParaRPr lang="en-US" sz="1200" dirty="0"/>
          </a:p>
        </p:txBody>
      </p:sp>
      <p:sp>
        <p:nvSpPr>
          <p:cNvPr id="12" name="Card-12"/>
          <p:cNvSpPr/>
          <p:nvPr/>
        </p:nvSpPr>
        <p:spPr>
          <a:xfrm>
            <a:off x="3360420" y="2514600"/>
            <a:ext cx="2606040" cy="3063240"/>
          </a:xfrm>
          <a:prstGeom prst="roundRect">
            <a:avLst>
              <a:gd name="adj" fmla="val 4211"/>
            </a:avLst>
          </a:prstGeom>
          <a:solidFill>
            <a:schemeClr val="bg2"/>
          </a:solidFill>
          <a:ln/>
          <a:effectLst>
            <a:outerShdw sx="100000" sy="100000" kx="0" ky="0" algn="bl" rotWithShape="0" blurRad="101600" dist="38100" dir="5400000">
              <a:srgbClr val="000000">
                <a:alpha val="22000"/>
              </a:srgbClr>
            </a:outerShdw>
          </a:effectLst>
        </p:spPr>
      </p:sp>
      <p:pic>
        <p:nvPicPr>
          <p:cNvPr id="13" name="Badge sc-13" descr="sc icon">    </p:cNvPr>
          <p:cNvPicPr>
            <a:picLocks noChangeAspect="1"/>
          </p:cNvPicPr>
          <p:nvPr/>
        </p:nvPicPr>
        <p:blipFill>
          <a:blip r:embed="rId4"/>
          <a:stretch>
            <a:fillRect/>
          </a:stretch>
        </p:blipFill>
        <p:spPr>
          <a:xfrm>
            <a:off x="3589020" y="2743200"/>
            <a:ext cx="685800" cy="685800"/>
          </a:xfrm>
          <a:prstGeom prst="rect">
            <a:avLst/>
          </a:prstGeom>
        </p:spPr>
      </p:pic>
      <p:sp>
        <p:nvSpPr>
          <p:cNvPr id="14" name="Text-14"/>
          <p:cNvSpPr txBox="1"/>
          <p:nvPr/>
        </p:nvSpPr>
        <p:spPr>
          <a:xfrm>
            <a:off x="3589020" y="3566160"/>
            <a:ext cx="2148840" cy="594360"/>
          </a:xfrm>
          <a:prstGeom prst="rect">
            <a:avLst/>
          </a:prstGeom>
          <a:noFill/>
          <a:ln/>
        </p:spPr>
        <p:txBody>
          <a:bodyPr wrap="square" lIns="0" tIns="0" rIns="0" bIns="0" rtlCol="0" anchor="t"/>
          <a:lstStyle/>
          <a:p>
            <a:pPr algn="l" indent="0" marL="0">
              <a:buNone/>
            </a:pPr>
            <a:r>
              <a:rPr lang="en-US" sz="3000" b="1" dirty="0">
                <a:solidFill>
                  <a:schemeClr val="tx1"/>
                </a:solidFill>
                <a:latin typeface="Bookman Old Style" pitchFamily="34" charset="0"/>
                <a:ea typeface="Bookman Old Style" pitchFamily="34" charset="-122"/>
                <a:cs typeface="Bookman Old Style" pitchFamily="34" charset="-120"/>
              </a:rPr>
              <a:t>× 0.5</a:t>
            </a:r>
            <a:endParaRPr lang="en-US" sz="3000" dirty="0"/>
          </a:p>
        </p:txBody>
      </p:sp>
      <p:sp>
        <p:nvSpPr>
          <p:cNvPr id="15" name="Text-15"/>
          <p:cNvSpPr txBox="1"/>
          <p:nvPr/>
        </p:nvSpPr>
        <p:spPr>
          <a:xfrm>
            <a:off x="3589020" y="4206240"/>
            <a:ext cx="2148840" cy="594360"/>
          </a:xfrm>
          <a:prstGeom prst="rect">
            <a:avLst/>
          </a:prstGeom>
          <a:noFill/>
          <a:ln/>
        </p:spPr>
        <p:txBody>
          <a:bodyPr wrap="square" lIns="0" tIns="0" rIns="0" bIns="0" rtlCol="0" anchor="t"/>
          <a:lstStyle/>
          <a:p>
            <a:pPr algn="l" indent="0" marL="0">
              <a:buNone/>
            </a:pPr>
            <a:r>
              <a:rPr lang="en-US" sz="1400" b="1" dirty="0">
                <a:solidFill>
                  <a:schemeClr val="tx1"/>
                </a:solidFill>
              </a:rPr>
              <a:t>the cost of a stop under a Safety Car</a:t>
            </a:r>
            <a:endParaRPr lang="en-US" sz="1400" dirty="0"/>
          </a:p>
        </p:txBody>
      </p:sp>
      <p:sp>
        <p:nvSpPr>
          <p:cNvPr id="16" name="Text-16"/>
          <p:cNvSpPr txBox="1"/>
          <p:nvPr/>
        </p:nvSpPr>
        <p:spPr>
          <a:xfrm>
            <a:off x="3589020" y="4800600"/>
            <a:ext cx="2148840" cy="640080"/>
          </a:xfrm>
          <a:prstGeom prst="rect">
            <a:avLst/>
          </a:prstGeom>
          <a:noFill/>
          <a:ln/>
        </p:spPr>
        <p:txBody>
          <a:bodyPr wrap="square" lIns="0" tIns="0" rIns="0" bIns="0" rtlCol="0" anchor="t"/>
          <a:lstStyle/>
          <a:p>
            <a:pPr algn="l" indent="0" marL="0">
              <a:buNone/>
            </a:pPr>
            <a:r>
              <a:rPr lang="en-US" sz="1200" dirty="0">
                <a:solidFill>
                  <a:schemeClr val="tx2"/>
                </a:solidFill>
              </a:rPr>
              <a:t>Miss the window and rivals gain a cheap stop</a:t>
            </a:r>
            <a:endParaRPr lang="en-US" sz="1200" dirty="0"/>
          </a:p>
        </p:txBody>
      </p:sp>
      <p:sp>
        <p:nvSpPr>
          <p:cNvPr id="17" name="Card-17"/>
          <p:cNvSpPr/>
          <p:nvPr/>
        </p:nvSpPr>
        <p:spPr>
          <a:xfrm>
            <a:off x="6172200" y="2514600"/>
            <a:ext cx="2606040" cy="3063240"/>
          </a:xfrm>
          <a:prstGeom prst="roundRect">
            <a:avLst>
              <a:gd name="adj" fmla="val 4211"/>
            </a:avLst>
          </a:prstGeom>
          <a:solidFill>
            <a:schemeClr val="bg2"/>
          </a:solidFill>
          <a:ln/>
          <a:effectLst>
            <a:outerShdw sx="100000" sy="100000" kx="0" ky="0" algn="bl" rotWithShape="0" blurRad="101600" dist="38100" dir="5400000">
              <a:srgbClr val="000000">
                <a:alpha val="22000"/>
              </a:srgbClr>
            </a:outerShdw>
          </a:effectLst>
        </p:spPr>
      </p:sp>
      <p:pic>
        <p:nvPicPr>
          <p:cNvPr id="18" name="Badge rain-18" descr="rain icon">    </p:cNvPr>
          <p:cNvPicPr>
            <a:picLocks noChangeAspect="1"/>
          </p:cNvPicPr>
          <p:nvPr/>
        </p:nvPicPr>
        <p:blipFill>
          <a:blip r:embed="rId5"/>
          <a:stretch>
            <a:fillRect/>
          </a:stretch>
        </p:blipFill>
        <p:spPr>
          <a:xfrm>
            <a:off x="6400800" y="2743200"/>
            <a:ext cx="685800" cy="685800"/>
          </a:xfrm>
          <a:prstGeom prst="rect">
            <a:avLst/>
          </a:prstGeom>
        </p:spPr>
      </p:pic>
      <p:sp>
        <p:nvSpPr>
          <p:cNvPr id="19" name="Text-19"/>
          <p:cNvSpPr txBox="1"/>
          <p:nvPr/>
        </p:nvSpPr>
        <p:spPr>
          <a:xfrm>
            <a:off x="6400800" y="3566160"/>
            <a:ext cx="2148840" cy="594360"/>
          </a:xfrm>
          <a:prstGeom prst="rect">
            <a:avLst/>
          </a:prstGeom>
          <a:noFill/>
          <a:ln/>
        </p:spPr>
        <p:txBody>
          <a:bodyPr wrap="square" lIns="0" tIns="0" rIns="0" bIns="0" rtlCol="0" anchor="t"/>
          <a:lstStyle/>
          <a:p>
            <a:pPr algn="l" indent="0" marL="0">
              <a:buNone/>
            </a:pPr>
            <a:r>
              <a:rPr lang="en-US" sz="3000" b="1" dirty="0">
                <a:solidFill>
                  <a:schemeClr val="tx1"/>
                </a:solidFill>
                <a:latin typeface="Bookman Old Style" pitchFamily="34" charset="0"/>
                <a:ea typeface="Bookman Old Style" pitchFamily="34" charset="-122"/>
                <a:cs typeface="Bookman Old Style" pitchFamily="34" charset="-120"/>
              </a:rPr>
              <a:t>+10 s / lap</a:t>
            </a:r>
            <a:endParaRPr lang="en-US" sz="3000" dirty="0"/>
          </a:p>
        </p:txBody>
      </p:sp>
      <p:sp>
        <p:nvSpPr>
          <p:cNvPr id="20" name="Text-20"/>
          <p:cNvSpPr txBox="1"/>
          <p:nvPr/>
        </p:nvSpPr>
        <p:spPr>
          <a:xfrm>
            <a:off x="6400800" y="4206240"/>
            <a:ext cx="2148840" cy="594360"/>
          </a:xfrm>
          <a:prstGeom prst="rect">
            <a:avLst/>
          </a:prstGeom>
          <a:noFill/>
          <a:ln/>
        </p:spPr>
        <p:txBody>
          <a:bodyPr wrap="square" lIns="0" tIns="0" rIns="0" bIns="0" rtlCol="0" anchor="t"/>
          <a:lstStyle/>
          <a:p>
            <a:pPr algn="l" indent="0" marL="0">
              <a:buNone/>
            </a:pPr>
            <a:r>
              <a:rPr lang="en-US" sz="1400" b="1" dirty="0">
                <a:solidFill>
                  <a:schemeClr val="tx1"/>
                </a:solidFill>
              </a:rPr>
              <a:t>for slick tyres on a wet track</a:t>
            </a:r>
            <a:endParaRPr lang="en-US" sz="1400" dirty="0"/>
          </a:p>
        </p:txBody>
      </p:sp>
      <p:sp>
        <p:nvSpPr>
          <p:cNvPr id="21" name="Text-21"/>
          <p:cNvSpPr txBox="1"/>
          <p:nvPr/>
        </p:nvSpPr>
        <p:spPr>
          <a:xfrm>
            <a:off x="6400800" y="4800600"/>
            <a:ext cx="2148840" cy="640080"/>
          </a:xfrm>
          <a:prstGeom prst="rect">
            <a:avLst/>
          </a:prstGeom>
          <a:noFill/>
          <a:ln/>
        </p:spPr>
        <p:txBody>
          <a:bodyPr wrap="square" lIns="0" tIns="0" rIns="0" bIns="0" rtlCol="0" anchor="t"/>
          <a:lstStyle/>
          <a:p>
            <a:pPr algn="l" indent="0" marL="0">
              <a:buNone/>
            </a:pPr>
            <a:r>
              <a:rPr lang="en-US" sz="1200" dirty="0">
                <a:solidFill>
                  <a:schemeClr val="tx2"/>
                </a:solidFill>
              </a:rPr>
              <a:t>The wrong tyre at the wrong moment ruins a race</a:t>
            </a:r>
            <a:endParaRPr lang="en-US" sz="1200" dirty="0"/>
          </a:p>
        </p:txBody>
      </p:sp>
      <p:sp>
        <p:nvSpPr>
          <p:cNvPr id="22" name="Card-22"/>
          <p:cNvSpPr/>
          <p:nvPr/>
        </p:nvSpPr>
        <p:spPr>
          <a:xfrm>
            <a:off x="8983980" y="2514600"/>
            <a:ext cx="2606040" cy="3063240"/>
          </a:xfrm>
          <a:prstGeom prst="roundRect">
            <a:avLst>
              <a:gd name="adj" fmla="val 4211"/>
            </a:avLst>
          </a:prstGeom>
          <a:solidFill>
            <a:schemeClr val="bg2"/>
          </a:solidFill>
          <a:ln/>
          <a:effectLst>
            <a:outerShdw sx="100000" sy="100000" kx="0" ky="0" algn="bl" rotWithShape="0" blurRad="101600" dist="38100" dir="5400000">
              <a:srgbClr val="000000">
                <a:alpha val="22000"/>
              </a:srgbClr>
            </a:outerShdw>
          </a:effectLst>
        </p:spPr>
      </p:sp>
      <p:pic>
        <p:nvPicPr>
          <p:cNvPr id="23" name="Badge tyre-23" descr="tyre icon">    </p:cNvPr>
          <p:cNvPicPr>
            <a:picLocks noChangeAspect="1"/>
          </p:cNvPicPr>
          <p:nvPr/>
        </p:nvPicPr>
        <p:blipFill>
          <a:blip r:embed="rId6"/>
          <a:stretch>
            <a:fillRect/>
          </a:stretch>
        </p:blipFill>
        <p:spPr>
          <a:xfrm>
            <a:off x="9212580" y="2743200"/>
            <a:ext cx="685800" cy="685800"/>
          </a:xfrm>
          <a:prstGeom prst="rect">
            <a:avLst/>
          </a:prstGeom>
        </p:spPr>
      </p:pic>
      <p:sp>
        <p:nvSpPr>
          <p:cNvPr id="24" name="Text-24"/>
          <p:cNvSpPr txBox="1"/>
          <p:nvPr/>
        </p:nvSpPr>
        <p:spPr>
          <a:xfrm>
            <a:off x="9212580" y="3566160"/>
            <a:ext cx="2148840" cy="594360"/>
          </a:xfrm>
          <a:prstGeom prst="rect">
            <a:avLst/>
          </a:prstGeom>
          <a:noFill/>
          <a:ln/>
        </p:spPr>
        <p:txBody>
          <a:bodyPr wrap="square" lIns="0" tIns="0" rIns="0" bIns="0" rtlCol="0" anchor="t"/>
          <a:lstStyle/>
          <a:p>
            <a:pPr algn="l" indent="0" marL="0">
              <a:buNone/>
            </a:pPr>
            <a:r>
              <a:rPr lang="en-US" sz="3000" b="1" dirty="0">
                <a:solidFill>
                  <a:schemeClr val="tx1"/>
                </a:solidFill>
                <a:latin typeface="Bookman Old Style" pitchFamily="34" charset="0"/>
                <a:ea typeface="Bookman Old Style" pitchFamily="34" charset="-122"/>
                <a:cs typeface="Bookman Old Style" pitchFamily="34" charset="-120"/>
              </a:rPr>
              <a:t>26–50 laps</a:t>
            </a:r>
            <a:endParaRPr lang="en-US" sz="3000" dirty="0"/>
          </a:p>
        </p:txBody>
      </p:sp>
      <p:sp>
        <p:nvSpPr>
          <p:cNvPr id="25" name="Text-25"/>
          <p:cNvSpPr txBox="1"/>
          <p:nvPr/>
        </p:nvSpPr>
        <p:spPr>
          <a:xfrm>
            <a:off x="9212580" y="4206240"/>
            <a:ext cx="2148840" cy="594360"/>
          </a:xfrm>
          <a:prstGeom prst="rect">
            <a:avLst/>
          </a:prstGeom>
          <a:noFill/>
          <a:ln/>
        </p:spPr>
        <p:txBody>
          <a:bodyPr wrap="square" lIns="0" tIns="0" rIns="0" bIns="0" rtlCol="0" anchor="t"/>
          <a:lstStyle/>
          <a:p>
            <a:pPr algn="l" indent="0" marL="0">
              <a:buNone/>
            </a:pPr>
            <a:r>
              <a:rPr lang="en-US" sz="1400" b="1" dirty="0">
                <a:solidFill>
                  <a:schemeClr val="tx1"/>
                </a:solidFill>
              </a:rPr>
              <a:t>safe life of soft, medium and hard tyres</a:t>
            </a:r>
            <a:endParaRPr lang="en-US" sz="1400" dirty="0"/>
          </a:p>
        </p:txBody>
      </p:sp>
      <p:sp>
        <p:nvSpPr>
          <p:cNvPr id="26" name="Text-26"/>
          <p:cNvSpPr txBox="1"/>
          <p:nvPr/>
        </p:nvSpPr>
        <p:spPr>
          <a:xfrm>
            <a:off x="9212580" y="4800600"/>
            <a:ext cx="2148840" cy="640080"/>
          </a:xfrm>
          <a:prstGeom prst="rect">
            <a:avLst/>
          </a:prstGeom>
          <a:noFill/>
          <a:ln/>
        </p:spPr>
        <p:txBody>
          <a:bodyPr wrap="square" lIns="0" tIns="0" rIns="0" bIns="0" rtlCol="0" anchor="t"/>
          <a:lstStyle/>
          <a:p>
            <a:pPr algn="l" indent="0" marL="0">
              <a:buNone/>
            </a:pPr>
            <a:r>
              <a:rPr lang="en-US" sz="1200" dirty="0">
                <a:solidFill>
                  <a:schemeClr val="tx2"/>
                </a:solidFill>
              </a:rPr>
              <a:t>Old tyres lose time every lap, then fall off a cliff</a:t>
            </a:r>
            <a:endParaRPr lang="en-US" sz="1200" dirty="0"/>
          </a:p>
        </p:txBody>
      </p:sp>
      <p:sp>
        <p:nvSpPr>
          <p:cNvPr id="27" name="Text-27"/>
          <p:cNvSpPr txBox="1"/>
          <p:nvPr/>
        </p:nvSpPr>
        <p:spPr>
          <a:xfrm>
            <a:off x="548640" y="5806440"/>
            <a:ext cx="10972800" cy="274320"/>
          </a:xfrm>
          <a:prstGeom prst="rect">
            <a:avLst/>
          </a:prstGeom>
          <a:noFill/>
          <a:ln/>
        </p:spPr>
        <p:txBody>
          <a:bodyPr wrap="square" lIns="0" tIns="0" rIns="0" bIns="0" rtlCol="0" anchor="t"/>
          <a:lstStyle/>
          <a:p>
            <a:pPr algn="l" indent="0" marL="0">
              <a:buNone/>
            </a:pPr>
            <a:r>
              <a:rPr lang="en-US" sz="1100" i="1" dirty="0">
                <a:solidFill>
                  <a:schemeClr val="tx2"/>
                </a:solidFill>
              </a:rPr>
              <a:t>Figures are the model assumptions used in PitWall AI (pitwall/config.py), shown to explain the trade-offs.</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WHO IT'S FOR</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Who needs it, and what's missing today</a:t>
            </a:r>
            <a:endParaRPr lang="en-US" sz="3200" dirty="0"/>
          </a:p>
        </p:txBody>
      </p:sp>
      <p:pic>
        <p:nvPicPr>
          <p:cNvPr id="4" name="Badge users-28" descr="users icon">    </p:cNvPr>
          <p:cNvPicPr>
            <a:picLocks noChangeAspect="1"/>
          </p:cNvPicPr>
          <p:nvPr/>
        </p:nvPicPr>
        <p:blipFill>
          <a:blip r:embed="rId1"/>
          <a:stretch>
            <a:fillRect/>
          </a:stretch>
        </p:blipFill>
        <p:spPr>
          <a:xfrm>
            <a:off x="548640" y="1508760"/>
            <a:ext cx="777240" cy="777240"/>
          </a:xfrm>
          <a:prstGeom prst="rect">
            <a:avLst/>
          </a:prstGeom>
        </p:spPr>
      </p:pic>
      <p:sp>
        <p:nvSpPr>
          <p:cNvPr id="5" name="Text-29"/>
          <p:cNvSpPr txBox="1"/>
          <p:nvPr/>
        </p:nvSpPr>
        <p:spPr>
          <a:xfrm>
            <a:off x="1508760" y="1527048"/>
            <a:ext cx="3291840" cy="365760"/>
          </a:xfrm>
          <a:prstGeom prst="rect">
            <a:avLst/>
          </a:prstGeom>
          <a:noFill/>
          <a:ln/>
        </p:spPr>
        <p:txBody>
          <a:bodyPr wrap="square" lIns="0" tIns="0" rIns="0" bIns="0" rtlCol="0" anchor="t"/>
          <a:lstStyle/>
          <a:p>
            <a:pPr algn="l" indent="0" marL="0">
              <a:buNone/>
            </a:pPr>
            <a:r>
              <a:rPr lang="en-US" sz="1800" b="1" dirty="0">
                <a:solidFill>
                  <a:schemeClr val="tx1"/>
                </a:solidFill>
              </a:rPr>
              <a:t>Students</a:t>
            </a:r>
            <a:endParaRPr lang="en-US" sz="1800" dirty="0"/>
          </a:p>
        </p:txBody>
      </p:sp>
      <p:sp>
        <p:nvSpPr>
          <p:cNvPr id="6" name="Text-30"/>
          <p:cNvSpPr txBox="1"/>
          <p:nvPr/>
        </p:nvSpPr>
        <p:spPr>
          <a:xfrm>
            <a:off x="1508760" y="1920240"/>
            <a:ext cx="3291840" cy="731520"/>
          </a:xfrm>
          <a:prstGeom prst="rect">
            <a:avLst/>
          </a:prstGeom>
          <a:noFill/>
          <a:ln/>
        </p:spPr>
        <p:txBody>
          <a:bodyPr wrap="square" lIns="0" tIns="0" rIns="0" bIns="0" rtlCol="0" anchor="t"/>
          <a:lstStyle/>
          <a:p>
            <a:pPr algn="l" indent="0" marL="0">
              <a:buNone/>
            </a:pPr>
            <a:r>
              <a:rPr lang="en-US" sz="1400" dirty="0">
                <a:solidFill>
                  <a:schemeClr val="tx2"/>
                </a:solidFill>
              </a:rPr>
              <a:t>learning race strategy and agentic AI with something they can poke at</a:t>
            </a:r>
            <a:endParaRPr lang="en-US" sz="1400" dirty="0"/>
          </a:p>
        </p:txBody>
      </p:sp>
      <p:pic>
        <p:nvPicPr>
          <p:cNvPr id="7" name="Badge flag-31" descr="flag icon">    </p:cNvPr>
          <p:cNvPicPr>
            <a:picLocks noChangeAspect="1"/>
          </p:cNvPicPr>
          <p:nvPr/>
        </p:nvPicPr>
        <p:blipFill>
          <a:blip r:embed="rId2"/>
          <a:stretch>
            <a:fillRect/>
          </a:stretch>
        </p:blipFill>
        <p:spPr>
          <a:xfrm>
            <a:off x="548640" y="2834640"/>
            <a:ext cx="777240" cy="777240"/>
          </a:xfrm>
          <a:prstGeom prst="rect">
            <a:avLst/>
          </a:prstGeom>
        </p:spPr>
      </p:pic>
      <p:sp>
        <p:nvSpPr>
          <p:cNvPr id="8" name="Text-32"/>
          <p:cNvSpPr txBox="1"/>
          <p:nvPr/>
        </p:nvSpPr>
        <p:spPr>
          <a:xfrm>
            <a:off x="1508760" y="2852928"/>
            <a:ext cx="3291840" cy="365760"/>
          </a:xfrm>
          <a:prstGeom prst="rect">
            <a:avLst/>
          </a:prstGeom>
          <a:noFill/>
          <a:ln/>
        </p:spPr>
        <p:txBody>
          <a:bodyPr wrap="square" lIns="0" tIns="0" rIns="0" bIns="0" rtlCol="0" anchor="t"/>
          <a:lstStyle/>
          <a:p>
            <a:pPr algn="l" indent="0" marL="0">
              <a:buNone/>
            </a:pPr>
            <a:r>
              <a:rPr lang="en-US" sz="1800" b="1" dirty="0">
                <a:solidFill>
                  <a:schemeClr val="tx1"/>
                </a:solidFill>
              </a:rPr>
              <a:t>F1 fans and analysts</a:t>
            </a:r>
            <a:endParaRPr lang="en-US" sz="1800" dirty="0"/>
          </a:p>
        </p:txBody>
      </p:sp>
      <p:sp>
        <p:nvSpPr>
          <p:cNvPr id="9" name="Text-33"/>
          <p:cNvSpPr txBox="1"/>
          <p:nvPr/>
        </p:nvSpPr>
        <p:spPr>
          <a:xfrm>
            <a:off x="1508760" y="3246120"/>
            <a:ext cx="3291840" cy="731520"/>
          </a:xfrm>
          <a:prstGeom prst="rect">
            <a:avLst/>
          </a:prstGeom>
          <a:noFill/>
          <a:ln/>
        </p:spPr>
        <p:txBody>
          <a:bodyPr wrap="square" lIns="0" tIns="0" rIns="0" bIns="0" rtlCol="0" anchor="t"/>
          <a:lstStyle/>
          <a:p>
            <a:pPr algn="l" indent="0" marL="0">
              <a:buNone/>
            </a:pPr>
            <a:r>
              <a:rPr lang="en-US" sz="1400" dirty="0">
                <a:solidFill>
                  <a:schemeClr val="tx2"/>
                </a:solidFill>
              </a:rPr>
              <a:t>replaying real moments and asking “what if?”</a:t>
            </a:r>
            <a:endParaRPr lang="en-US" sz="1400" dirty="0"/>
          </a:p>
        </p:txBody>
      </p:sp>
      <p:pic>
        <p:nvPicPr>
          <p:cNvPr id="10" name="Badge bulb-34" descr="bulb icon">    </p:cNvPr>
          <p:cNvPicPr>
            <a:picLocks noChangeAspect="1"/>
          </p:cNvPicPr>
          <p:nvPr/>
        </p:nvPicPr>
        <p:blipFill>
          <a:blip r:embed="rId3"/>
          <a:stretch>
            <a:fillRect/>
          </a:stretch>
        </p:blipFill>
        <p:spPr>
          <a:xfrm>
            <a:off x="548640" y="4160520"/>
            <a:ext cx="777240" cy="777240"/>
          </a:xfrm>
          <a:prstGeom prst="rect">
            <a:avLst/>
          </a:prstGeom>
        </p:spPr>
      </p:pic>
      <p:sp>
        <p:nvSpPr>
          <p:cNvPr id="11" name="Text-35"/>
          <p:cNvSpPr txBox="1"/>
          <p:nvPr/>
        </p:nvSpPr>
        <p:spPr>
          <a:xfrm>
            <a:off x="1508760" y="4178808"/>
            <a:ext cx="3291840" cy="365760"/>
          </a:xfrm>
          <a:prstGeom prst="rect">
            <a:avLst/>
          </a:prstGeom>
          <a:noFill/>
          <a:ln/>
        </p:spPr>
        <p:txBody>
          <a:bodyPr wrap="square" lIns="0" tIns="0" rIns="0" bIns="0" rtlCol="0" anchor="t"/>
          <a:lstStyle/>
          <a:p>
            <a:pPr algn="l" indent="0" marL="0">
              <a:buNone/>
            </a:pPr>
            <a:r>
              <a:rPr lang="en-US" sz="1800" b="1" dirty="0">
                <a:solidFill>
                  <a:schemeClr val="tx1"/>
                </a:solidFill>
              </a:rPr>
              <a:t>Teachers</a:t>
            </a:r>
            <a:endParaRPr lang="en-US" sz="1800" dirty="0"/>
          </a:p>
        </p:txBody>
      </p:sp>
      <p:sp>
        <p:nvSpPr>
          <p:cNvPr id="12" name="Text-36"/>
          <p:cNvSpPr txBox="1"/>
          <p:nvPr/>
        </p:nvSpPr>
        <p:spPr>
          <a:xfrm>
            <a:off x="1508760" y="4572000"/>
            <a:ext cx="3291840" cy="731520"/>
          </a:xfrm>
          <a:prstGeom prst="rect">
            <a:avLst/>
          </a:prstGeom>
          <a:noFill/>
          <a:ln/>
        </p:spPr>
        <p:txBody>
          <a:bodyPr wrap="square" lIns="0" tIns="0" rIns="0" bIns="0" rtlCol="0" anchor="t"/>
          <a:lstStyle/>
          <a:p>
            <a:pPr algn="l" indent="0" marL="0">
              <a:buNone/>
            </a:pPr>
            <a:r>
              <a:rPr lang="en-US" sz="1400" dirty="0">
                <a:solidFill>
                  <a:schemeClr val="tx2"/>
                </a:solidFill>
              </a:rPr>
              <a:t>showing an AI that has to justify itself and obey rules</a:t>
            </a:r>
            <a:endParaRPr lang="en-US" sz="1400" dirty="0"/>
          </a:p>
        </p:txBody>
      </p:sp>
      <p:sp>
        <p:nvSpPr>
          <p:cNvPr id="13" name="Card-37"/>
          <p:cNvSpPr/>
          <p:nvPr/>
        </p:nvSpPr>
        <p:spPr>
          <a:xfrm>
            <a:off x="5074920" y="1325880"/>
            <a:ext cx="6537960" cy="4434840"/>
          </a:xfrm>
          <a:prstGeom prst="roundRect">
            <a:avLst>
              <a:gd name="adj" fmla="val 2474"/>
            </a:avLst>
          </a:prstGeom>
          <a:solidFill>
            <a:schemeClr val="bg2"/>
          </a:solidFill>
          <a:ln/>
          <a:effectLst>
            <a:outerShdw sx="100000" sy="100000" kx="0" ky="0" algn="bl" rotWithShape="0" blurRad="101600" dist="38100" dir="5400000">
              <a:srgbClr val="000000">
                <a:alpha val="22000"/>
              </a:srgbClr>
            </a:outerShdw>
          </a:effectLst>
        </p:spPr>
      </p:sp>
      <p:sp>
        <p:nvSpPr>
          <p:cNvPr id="14" name="Text-38"/>
          <p:cNvSpPr txBox="1"/>
          <p:nvPr/>
        </p:nvSpPr>
        <p:spPr>
          <a:xfrm>
            <a:off x="5257800" y="1463040"/>
            <a:ext cx="2148840" cy="365760"/>
          </a:xfrm>
          <a:prstGeom prst="rect">
            <a:avLst/>
          </a:prstGeom>
          <a:noFill/>
          <a:ln/>
        </p:spPr>
        <p:txBody>
          <a:bodyPr wrap="square" lIns="0" tIns="0" rIns="0" bIns="0" rtlCol="0" anchor="t"/>
          <a:lstStyle/>
          <a:p>
            <a:pPr algn="l" indent="0" marL="0">
              <a:buNone/>
            </a:pPr>
            <a:endParaRPr lang="en-US" sz="1300" dirty="0"/>
          </a:p>
        </p:txBody>
      </p:sp>
      <p:sp>
        <p:nvSpPr>
          <p:cNvPr id="15" name="Text-39"/>
          <p:cNvSpPr txBox="1"/>
          <p:nvPr/>
        </p:nvSpPr>
        <p:spPr>
          <a:xfrm>
            <a:off x="7406640" y="1463040"/>
            <a:ext cx="1371600" cy="365760"/>
          </a:xfrm>
          <a:prstGeom prst="rect">
            <a:avLst/>
          </a:prstGeom>
          <a:noFill/>
          <a:ln/>
        </p:spPr>
        <p:txBody>
          <a:bodyPr wrap="square" lIns="0" tIns="0" rIns="0" bIns="0" rtlCol="0" anchor="t"/>
          <a:lstStyle/>
          <a:p>
            <a:pPr algn="ctr" indent="0" marL="0">
              <a:buNone/>
            </a:pPr>
            <a:r>
              <a:rPr lang="en-US" sz="1300" b="1" dirty="0">
                <a:solidFill>
                  <a:schemeClr val="tx2"/>
                </a:solidFill>
              </a:rPr>
              <a:t>Calculates</a:t>
            </a:r>
            <a:endParaRPr lang="en-US" sz="1300" dirty="0"/>
          </a:p>
        </p:txBody>
      </p:sp>
      <p:sp>
        <p:nvSpPr>
          <p:cNvPr id="16" name="Text-40"/>
          <p:cNvSpPr txBox="1"/>
          <p:nvPr/>
        </p:nvSpPr>
        <p:spPr>
          <a:xfrm>
            <a:off x="8778240" y="1463040"/>
            <a:ext cx="1371600" cy="365760"/>
          </a:xfrm>
          <a:prstGeom prst="rect">
            <a:avLst/>
          </a:prstGeom>
          <a:noFill/>
          <a:ln/>
        </p:spPr>
        <p:txBody>
          <a:bodyPr wrap="square" lIns="0" tIns="0" rIns="0" bIns="0" rtlCol="0" anchor="t"/>
          <a:lstStyle/>
          <a:p>
            <a:pPr algn="ctr" indent="0" marL="0">
              <a:buNone/>
            </a:pPr>
            <a:r>
              <a:rPr lang="en-US" sz="1300" b="1" dirty="0">
                <a:solidFill>
                  <a:schemeClr val="tx2"/>
                </a:solidFill>
              </a:rPr>
              <a:t>Explains</a:t>
            </a:r>
            <a:endParaRPr lang="en-US" sz="1300" dirty="0"/>
          </a:p>
        </p:txBody>
      </p:sp>
      <p:sp>
        <p:nvSpPr>
          <p:cNvPr id="17" name="Text-41"/>
          <p:cNvSpPr txBox="1"/>
          <p:nvPr/>
        </p:nvSpPr>
        <p:spPr>
          <a:xfrm>
            <a:off x="10149840" y="1463040"/>
            <a:ext cx="1463040" cy="365760"/>
          </a:xfrm>
          <a:prstGeom prst="rect">
            <a:avLst/>
          </a:prstGeom>
          <a:noFill/>
          <a:ln/>
        </p:spPr>
        <p:txBody>
          <a:bodyPr wrap="square" lIns="0" tIns="0" rIns="0" bIns="0" rtlCol="0" anchor="t"/>
          <a:lstStyle/>
          <a:p>
            <a:pPr algn="ctr" indent="0" marL="0">
              <a:buNone/>
            </a:pPr>
            <a:r>
              <a:rPr lang="en-US" sz="1300" b="1" dirty="0">
                <a:solidFill>
                  <a:schemeClr val="tx2"/>
                </a:solidFill>
              </a:rPr>
              <a:t>Checks rules</a:t>
            </a:r>
            <a:endParaRPr lang="en-US" sz="1300" dirty="0"/>
          </a:p>
        </p:txBody>
      </p:sp>
      <p:sp>
        <p:nvSpPr>
          <p:cNvPr id="18" name="Text-42"/>
          <p:cNvSpPr txBox="1"/>
          <p:nvPr/>
        </p:nvSpPr>
        <p:spPr>
          <a:xfrm>
            <a:off x="5257800" y="2011680"/>
            <a:ext cx="2148840" cy="548640"/>
          </a:xfrm>
          <a:prstGeom prst="rect">
            <a:avLst/>
          </a:prstGeom>
          <a:noFill/>
          <a:ln/>
        </p:spPr>
        <p:txBody>
          <a:bodyPr wrap="square" lIns="0" tIns="0" rIns="0" bIns="0" rtlCol="0" anchor="ctr"/>
          <a:lstStyle/>
          <a:p>
            <a:pPr algn="l" indent="0" marL="0">
              <a:buNone/>
            </a:pPr>
            <a:r>
              <a:rPr lang="en-US" sz="1500" b="1" dirty="0">
                <a:solidFill>
                  <a:schemeClr val="tx1"/>
                </a:solidFill>
              </a:rPr>
              <a:t>Chatbot alone</a:t>
            </a:r>
            <a:endParaRPr lang="en-US" sz="1500" dirty="0"/>
          </a:p>
        </p:txBody>
      </p:sp>
      <p:sp>
        <p:nvSpPr>
          <p:cNvPr id="19" name="Mark-43"/>
          <p:cNvSpPr/>
          <p:nvPr/>
        </p:nvSpPr>
        <p:spPr>
          <a:xfrm>
            <a:off x="7872984" y="2066544"/>
            <a:ext cx="438912" cy="438912"/>
          </a:xfrm>
          <a:prstGeom prst="ellipse">
            <a:avLst/>
          </a:prstGeom>
          <a:solidFill>
            <a:schemeClr val="accent1"/>
          </a:solidFill>
          <a:ln/>
        </p:spPr>
      </p:sp>
      <p:sp>
        <p:nvSpPr>
          <p:cNvPr id="20" name="Text-44"/>
          <p:cNvSpPr txBox="1"/>
          <p:nvPr/>
        </p:nvSpPr>
        <p:spPr>
          <a:xfrm>
            <a:off x="7872984" y="206654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Mark-45"/>
          <p:cNvSpPr/>
          <p:nvPr/>
        </p:nvSpPr>
        <p:spPr>
          <a:xfrm>
            <a:off x="9244584" y="2066544"/>
            <a:ext cx="438912" cy="438912"/>
          </a:xfrm>
          <a:prstGeom prst="ellipse">
            <a:avLst/>
          </a:prstGeom>
          <a:solidFill>
            <a:schemeClr val="accent3"/>
          </a:solidFill>
          <a:ln/>
        </p:spPr>
      </p:sp>
      <p:sp>
        <p:nvSpPr>
          <p:cNvPr id="22" name="Text-46"/>
          <p:cNvSpPr txBox="1"/>
          <p:nvPr/>
        </p:nvSpPr>
        <p:spPr>
          <a:xfrm>
            <a:off x="9244584" y="206654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Mark-47"/>
          <p:cNvSpPr/>
          <p:nvPr/>
        </p:nvSpPr>
        <p:spPr>
          <a:xfrm>
            <a:off x="10661904" y="2066544"/>
            <a:ext cx="438912" cy="438912"/>
          </a:xfrm>
          <a:prstGeom prst="ellipse">
            <a:avLst/>
          </a:prstGeom>
          <a:solidFill>
            <a:schemeClr val="accent1"/>
          </a:solidFill>
          <a:ln/>
        </p:spPr>
      </p:sp>
      <p:sp>
        <p:nvSpPr>
          <p:cNvPr id="24" name="Text-48"/>
          <p:cNvSpPr txBox="1"/>
          <p:nvPr/>
        </p:nvSpPr>
        <p:spPr>
          <a:xfrm>
            <a:off x="10661904" y="206654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5" name="Text-49"/>
          <p:cNvSpPr txBox="1"/>
          <p:nvPr/>
        </p:nvSpPr>
        <p:spPr>
          <a:xfrm>
            <a:off x="5257800" y="2880360"/>
            <a:ext cx="2148840" cy="548640"/>
          </a:xfrm>
          <a:prstGeom prst="rect">
            <a:avLst/>
          </a:prstGeom>
          <a:noFill/>
          <a:ln/>
        </p:spPr>
        <p:txBody>
          <a:bodyPr wrap="square" lIns="0" tIns="0" rIns="0" bIns="0" rtlCol="0" anchor="ctr"/>
          <a:lstStyle/>
          <a:p>
            <a:pPr algn="l" indent="0" marL="0">
              <a:buNone/>
            </a:pPr>
            <a:r>
              <a:rPr lang="en-US" sz="1500" b="1" dirty="0">
                <a:solidFill>
                  <a:schemeClr val="tx1"/>
                </a:solidFill>
              </a:rPr>
              <a:t>Spreadsheet / simulator</a:t>
            </a:r>
            <a:endParaRPr lang="en-US" sz="1500" dirty="0"/>
          </a:p>
        </p:txBody>
      </p:sp>
      <p:sp>
        <p:nvSpPr>
          <p:cNvPr id="26" name="Mark-50"/>
          <p:cNvSpPr/>
          <p:nvPr/>
        </p:nvSpPr>
        <p:spPr>
          <a:xfrm>
            <a:off x="7872984" y="2935224"/>
            <a:ext cx="438912" cy="438912"/>
          </a:xfrm>
          <a:prstGeom prst="ellipse">
            <a:avLst/>
          </a:prstGeom>
          <a:solidFill>
            <a:schemeClr val="accent3"/>
          </a:solidFill>
          <a:ln/>
        </p:spPr>
      </p:sp>
      <p:sp>
        <p:nvSpPr>
          <p:cNvPr id="27" name="Text-51"/>
          <p:cNvSpPr txBox="1"/>
          <p:nvPr/>
        </p:nvSpPr>
        <p:spPr>
          <a:xfrm>
            <a:off x="7872984" y="293522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Mark-52"/>
          <p:cNvSpPr/>
          <p:nvPr/>
        </p:nvSpPr>
        <p:spPr>
          <a:xfrm>
            <a:off x="9244584" y="2935224"/>
            <a:ext cx="438912" cy="438912"/>
          </a:xfrm>
          <a:prstGeom prst="ellipse">
            <a:avLst/>
          </a:prstGeom>
          <a:solidFill>
            <a:schemeClr val="accent1"/>
          </a:solidFill>
          <a:ln/>
        </p:spPr>
      </p:sp>
      <p:sp>
        <p:nvSpPr>
          <p:cNvPr id="29" name="Text-53"/>
          <p:cNvSpPr txBox="1"/>
          <p:nvPr/>
        </p:nvSpPr>
        <p:spPr>
          <a:xfrm>
            <a:off x="9244584" y="293522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0" name="Mark-54"/>
          <p:cNvSpPr/>
          <p:nvPr/>
        </p:nvSpPr>
        <p:spPr>
          <a:xfrm>
            <a:off x="10661904" y="2935224"/>
            <a:ext cx="438912" cy="438912"/>
          </a:xfrm>
          <a:prstGeom prst="ellipse">
            <a:avLst/>
          </a:prstGeom>
          <a:solidFill>
            <a:schemeClr val="accent2"/>
          </a:solidFill>
          <a:ln/>
        </p:spPr>
      </p:sp>
      <p:sp>
        <p:nvSpPr>
          <p:cNvPr id="31" name="Text-55"/>
          <p:cNvSpPr txBox="1"/>
          <p:nvPr/>
        </p:nvSpPr>
        <p:spPr>
          <a:xfrm>
            <a:off x="10661904" y="2935224"/>
            <a:ext cx="438912" cy="438912"/>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32" name="Text-56"/>
          <p:cNvSpPr txBox="1"/>
          <p:nvPr/>
        </p:nvSpPr>
        <p:spPr>
          <a:xfrm>
            <a:off x="5257800" y="3749040"/>
            <a:ext cx="2148840" cy="548640"/>
          </a:xfrm>
          <a:prstGeom prst="rect">
            <a:avLst/>
          </a:prstGeom>
          <a:noFill/>
          <a:ln/>
        </p:spPr>
        <p:txBody>
          <a:bodyPr wrap="square" lIns="0" tIns="0" rIns="0" bIns="0" rtlCol="0" anchor="ctr"/>
          <a:lstStyle/>
          <a:p>
            <a:pPr algn="l" indent="0" marL="0">
              <a:buNone/>
            </a:pPr>
            <a:r>
              <a:rPr lang="en-US" sz="1500" b="1" dirty="0">
                <a:solidFill>
                  <a:schemeClr val="tx1"/>
                </a:solidFill>
              </a:rPr>
              <a:t>Black-box ML</a:t>
            </a:r>
            <a:endParaRPr lang="en-US" sz="1500" dirty="0"/>
          </a:p>
        </p:txBody>
      </p:sp>
      <p:sp>
        <p:nvSpPr>
          <p:cNvPr id="33" name="Mark-57"/>
          <p:cNvSpPr/>
          <p:nvPr/>
        </p:nvSpPr>
        <p:spPr>
          <a:xfrm>
            <a:off x="7872984" y="3803904"/>
            <a:ext cx="438912" cy="438912"/>
          </a:xfrm>
          <a:prstGeom prst="ellipse">
            <a:avLst/>
          </a:prstGeom>
          <a:solidFill>
            <a:schemeClr val="accent3"/>
          </a:solidFill>
          <a:ln/>
        </p:spPr>
      </p:sp>
      <p:sp>
        <p:nvSpPr>
          <p:cNvPr id="34" name="Text-58"/>
          <p:cNvSpPr txBox="1"/>
          <p:nvPr/>
        </p:nvSpPr>
        <p:spPr>
          <a:xfrm>
            <a:off x="7872984" y="380390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5" name="Mark-59"/>
          <p:cNvSpPr/>
          <p:nvPr/>
        </p:nvSpPr>
        <p:spPr>
          <a:xfrm>
            <a:off x="9244584" y="3803904"/>
            <a:ext cx="438912" cy="438912"/>
          </a:xfrm>
          <a:prstGeom prst="ellipse">
            <a:avLst/>
          </a:prstGeom>
          <a:solidFill>
            <a:schemeClr val="accent1"/>
          </a:solidFill>
          <a:ln/>
        </p:spPr>
      </p:sp>
      <p:sp>
        <p:nvSpPr>
          <p:cNvPr id="36" name="Text-60"/>
          <p:cNvSpPr txBox="1"/>
          <p:nvPr/>
        </p:nvSpPr>
        <p:spPr>
          <a:xfrm>
            <a:off x="9244584" y="380390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7" name="Mark-61"/>
          <p:cNvSpPr/>
          <p:nvPr/>
        </p:nvSpPr>
        <p:spPr>
          <a:xfrm>
            <a:off x="10661904" y="3803904"/>
            <a:ext cx="438912" cy="438912"/>
          </a:xfrm>
          <a:prstGeom prst="ellipse">
            <a:avLst/>
          </a:prstGeom>
          <a:solidFill>
            <a:schemeClr val="accent1"/>
          </a:solidFill>
          <a:ln/>
        </p:spPr>
      </p:sp>
      <p:sp>
        <p:nvSpPr>
          <p:cNvPr id="38" name="Text-62"/>
          <p:cNvSpPr txBox="1"/>
          <p:nvPr/>
        </p:nvSpPr>
        <p:spPr>
          <a:xfrm>
            <a:off x="10661904" y="380390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9" name="Card-63"/>
          <p:cNvSpPr/>
          <p:nvPr/>
        </p:nvSpPr>
        <p:spPr>
          <a:xfrm>
            <a:off x="5166360" y="4507992"/>
            <a:ext cx="6355080" cy="749808"/>
          </a:xfrm>
          <a:prstGeom prst="roundRect">
            <a:avLst>
              <a:gd name="adj" fmla="val 14634"/>
            </a:avLst>
          </a:prstGeom>
          <a:solidFill>
            <a:schemeClr val="bg1"/>
          </a:solidFill>
          <a:ln w="25400">
            <a:solidFill>
              <a:srgbClr val="9B5DE5"/>
            </a:solidFill>
            <a:prstDash val="solid"/>
          </a:ln>
        </p:spPr>
      </p:sp>
      <p:sp>
        <p:nvSpPr>
          <p:cNvPr id="40" name="Text-64"/>
          <p:cNvSpPr txBox="1"/>
          <p:nvPr/>
        </p:nvSpPr>
        <p:spPr>
          <a:xfrm>
            <a:off x="5257800" y="4617720"/>
            <a:ext cx="2148840" cy="548640"/>
          </a:xfrm>
          <a:prstGeom prst="rect">
            <a:avLst/>
          </a:prstGeom>
          <a:noFill/>
          <a:ln/>
        </p:spPr>
        <p:txBody>
          <a:bodyPr wrap="square" lIns="0" tIns="0" rIns="0" bIns="0" rtlCol="0" anchor="ctr"/>
          <a:lstStyle/>
          <a:p>
            <a:pPr algn="l" indent="0" marL="0">
              <a:buNone/>
            </a:pPr>
            <a:r>
              <a:rPr lang="en-US" sz="1500" b="1" dirty="0">
                <a:solidFill>
                  <a:schemeClr val="accent5"/>
                </a:solidFill>
              </a:rPr>
              <a:t>PitWall AI</a:t>
            </a:r>
            <a:endParaRPr lang="en-US" sz="1500" dirty="0"/>
          </a:p>
        </p:txBody>
      </p:sp>
      <p:sp>
        <p:nvSpPr>
          <p:cNvPr id="41" name="Mark-65"/>
          <p:cNvSpPr/>
          <p:nvPr/>
        </p:nvSpPr>
        <p:spPr>
          <a:xfrm>
            <a:off x="7872984" y="4672584"/>
            <a:ext cx="438912" cy="438912"/>
          </a:xfrm>
          <a:prstGeom prst="ellipse">
            <a:avLst/>
          </a:prstGeom>
          <a:solidFill>
            <a:schemeClr val="accent3"/>
          </a:solidFill>
          <a:ln/>
        </p:spPr>
      </p:sp>
      <p:sp>
        <p:nvSpPr>
          <p:cNvPr id="42" name="Text-66"/>
          <p:cNvSpPr txBox="1"/>
          <p:nvPr/>
        </p:nvSpPr>
        <p:spPr>
          <a:xfrm>
            <a:off x="7872984" y="467258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3" name="Mark-67"/>
          <p:cNvSpPr/>
          <p:nvPr/>
        </p:nvSpPr>
        <p:spPr>
          <a:xfrm>
            <a:off x="9244584" y="4672584"/>
            <a:ext cx="438912" cy="438912"/>
          </a:xfrm>
          <a:prstGeom prst="ellipse">
            <a:avLst/>
          </a:prstGeom>
          <a:solidFill>
            <a:schemeClr val="accent3"/>
          </a:solidFill>
          <a:ln/>
        </p:spPr>
      </p:sp>
      <p:sp>
        <p:nvSpPr>
          <p:cNvPr id="44" name="Text-68"/>
          <p:cNvSpPr txBox="1"/>
          <p:nvPr/>
        </p:nvSpPr>
        <p:spPr>
          <a:xfrm>
            <a:off x="9244584" y="467258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5" name="Mark-69"/>
          <p:cNvSpPr/>
          <p:nvPr/>
        </p:nvSpPr>
        <p:spPr>
          <a:xfrm>
            <a:off x="10661904" y="4672584"/>
            <a:ext cx="438912" cy="438912"/>
          </a:xfrm>
          <a:prstGeom prst="ellipse">
            <a:avLst/>
          </a:prstGeom>
          <a:solidFill>
            <a:schemeClr val="accent3"/>
          </a:solidFill>
          <a:ln/>
        </p:spPr>
      </p:sp>
      <p:sp>
        <p:nvSpPr>
          <p:cNvPr id="46" name="Text-70"/>
          <p:cNvSpPr txBox="1"/>
          <p:nvPr/>
        </p:nvSpPr>
        <p:spPr>
          <a:xfrm>
            <a:off x="10661904" y="467258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7" name="Text-71"/>
          <p:cNvSpPr txBox="1"/>
          <p:nvPr/>
        </p:nvSpPr>
        <p:spPr>
          <a:xfrm>
            <a:off x="548640" y="5806440"/>
            <a:ext cx="10972800" cy="274320"/>
          </a:xfrm>
          <a:prstGeom prst="rect">
            <a:avLst/>
          </a:prstGeom>
          <a:noFill/>
          <a:ln/>
        </p:spPr>
        <p:txBody>
          <a:bodyPr wrap="square" lIns="0" tIns="0" rIns="0" bIns="0" rtlCol="0" anchor="t"/>
          <a:lstStyle/>
          <a:p>
            <a:pPr algn="l" indent="0" marL="0">
              <a:buNone/>
            </a:pPr>
            <a:r>
              <a:rPr lang="en-US" sz="1100" i="1" dirty="0">
                <a:solidFill>
                  <a:schemeClr val="tx2"/>
                </a:solidFill>
              </a:rPr>
              <a:t>Typical approaches, simplified, to show the design goal: answers that are calculated, explained and checked.</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OBJECTIVES AND SCOPE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What we set out to build</a:t>
            </a:r>
            <a:endParaRPr lang="en-US" sz="3200" dirty="0"/>
          </a:p>
        </p:txBody>
      </p:sp>
      <p:sp>
        <p:nvSpPr>
          <p:cNvPr id="4" name="Objective number-72"/>
          <p:cNvSpPr/>
          <p:nvPr/>
        </p:nvSpPr>
        <p:spPr>
          <a:xfrm>
            <a:off x="548640" y="1463040"/>
            <a:ext cx="502920" cy="502920"/>
          </a:xfrm>
          <a:prstGeom prst="ellipse">
            <a:avLst/>
          </a:prstGeom>
          <a:solidFill>
            <a:schemeClr val="accent1"/>
          </a:solidFill>
          <a:ln w="25400">
            <a:solidFill>
              <a:schemeClr val="tx1"/>
            </a:solidFill>
            <a:prstDash val="solid"/>
          </a:ln>
        </p:spPr>
      </p:sp>
      <p:sp>
        <p:nvSpPr>
          <p:cNvPr id="5" name="Text-73"/>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74"/>
          <p:cNvSpPr txBox="1"/>
          <p:nvPr/>
        </p:nvSpPr>
        <p:spPr>
          <a:xfrm>
            <a:off x="1234440" y="1444752"/>
            <a:ext cx="5120640" cy="685800"/>
          </a:xfrm>
          <a:prstGeom prst="rect">
            <a:avLst/>
          </a:prstGeom>
          <a:noFill/>
          <a:ln/>
        </p:spPr>
        <p:txBody>
          <a:bodyPr wrap="square" lIns="0" tIns="0" rIns="0" bIns="0" rtlCol="0" anchor="ctr"/>
          <a:lstStyle/>
          <a:p>
            <a:pPr algn="l" indent="0" marL="0">
              <a:buNone/>
            </a:pPr>
            <a:r>
              <a:rPr lang="en-US" sz="1500" dirty="0">
                <a:solidFill>
                  <a:schemeClr val="tx1"/>
                </a:solidFill>
              </a:rPr>
              <a:t>Five agents with clear roles, sharing one workspace (an agentic workflow, not just a chatbot)</a:t>
            </a:r>
            <a:endParaRPr lang="en-US" sz="1500" dirty="0"/>
          </a:p>
        </p:txBody>
      </p:sp>
      <p:sp>
        <p:nvSpPr>
          <p:cNvPr id="7" name="Objective number-75"/>
          <p:cNvSpPr/>
          <p:nvPr/>
        </p:nvSpPr>
        <p:spPr>
          <a:xfrm>
            <a:off x="548640" y="2331720"/>
            <a:ext cx="502920" cy="502920"/>
          </a:xfrm>
          <a:prstGeom prst="ellipse">
            <a:avLst/>
          </a:prstGeom>
          <a:solidFill>
            <a:schemeClr val="accent2"/>
          </a:solidFill>
          <a:ln w="25400">
            <a:solidFill>
              <a:schemeClr val="tx1"/>
            </a:solidFill>
            <a:prstDash val="solid"/>
          </a:ln>
        </p:spPr>
      </p:sp>
      <p:sp>
        <p:nvSpPr>
          <p:cNvPr id="8" name="Text-76"/>
          <p:cNvSpPr txBox="1"/>
          <p:nvPr/>
        </p:nvSpPr>
        <p:spPr>
          <a:xfrm>
            <a:off x="548640" y="23317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77"/>
          <p:cNvSpPr txBox="1"/>
          <p:nvPr/>
        </p:nvSpPr>
        <p:spPr>
          <a:xfrm>
            <a:off x="1234440" y="2313432"/>
            <a:ext cx="5120640" cy="685800"/>
          </a:xfrm>
          <a:prstGeom prst="rect">
            <a:avLst/>
          </a:prstGeom>
          <a:noFill/>
          <a:ln/>
        </p:spPr>
        <p:txBody>
          <a:bodyPr wrap="square" lIns="0" tIns="0" rIns="0" bIns="0" rtlCol="0" anchor="ctr"/>
          <a:lstStyle/>
          <a:p>
            <a:pPr algn="l" indent="0" marL="0">
              <a:buNone/>
            </a:pPr>
            <a:r>
              <a:rPr lang="en-US" sz="1500" dirty="0">
                <a:solidFill>
                  <a:schemeClr val="tx1"/>
                </a:solidFill>
              </a:rPr>
              <a:t>Every number from a transparent, lap-by-lap Python simulation</a:t>
            </a:r>
            <a:endParaRPr lang="en-US" sz="1500" dirty="0"/>
          </a:p>
        </p:txBody>
      </p:sp>
      <p:sp>
        <p:nvSpPr>
          <p:cNvPr id="10" name="Objective number-78"/>
          <p:cNvSpPr/>
          <p:nvPr/>
        </p:nvSpPr>
        <p:spPr>
          <a:xfrm>
            <a:off x="548640" y="3200400"/>
            <a:ext cx="502920" cy="502920"/>
          </a:xfrm>
          <a:prstGeom prst="ellipse">
            <a:avLst/>
          </a:prstGeom>
          <a:solidFill>
            <a:schemeClr val="accent3"/>
          </a:solidFill>
          <a:ln w="25400">
            <a:solidFill>
              <a:schemeClr val="tx1"/>
            </a:solidFill>
            <a:prstDash val="solid"/>
          </a:ln>
        </p:spPr>
      </p:sp>
      <p:sp>
        <p:nvSpPr>
          <p:cNvPr id="11" name="Text-79"/>
          <p:cNvSpPr txBox="1"/>
          <p:nvPr/>
        </p:nvSpPr>
        <p:spPr>
          <a:xfrm>
            <a:off x="548640" y="3200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80"/>
          <p:cNvSpPr txBox="1"/>
          <p:nvPr/>
        </p:nvSpPr>
        <p:spPr>
          <a:xfrm>
            <a:off x="1234440" y="3182112"/>
            <a:ext cx="5120640" cy="685800"/>
          </a:xfrm>
          <a:prstGeom prst="rect">
            <a:avLst/>
          </a:prstGeom>
          <a:noFill/>
          <a:ln/>
        </p:spPr>
        <p:txBody>
          <a:bodyPr wrap="square" lIns="0" tIns="0" rIns="0" bIns="0" rtlCol="0" anchor="ctr"/>
          <a:lstStyle/>
          <a:p>
            <a:pPr algn="l" indent="0" marL="0">
              <a:buNone/>
            </a:pPr>
            <a:r>
              <a:rPr lang="en-US" sz="1500" dirty="0">
                <a:solidFill>
                  <a:schemeClr val="tx1"/>
                </a:solidFill>
              </a:rPr>
              <a:t>Every plan checked against racing rules, with a bounded revision loop</a:t>
            </a:r>
            <a:endParaRPr lang="en-US" sz="1500" dirty="0"/>
          </a:p>
        </p:txBody>
      </p:sp>
      <p:sp>
        <p:nvSpPr>
          <p:cNvPr id="13" name="Objective number-81"/>
          <p:cNvSpPr/>
          <p:nvPr/>
        </p:nvSpPr>
        <p:spPr>
          <a:xfrm>
            <a:off x="548640" y="4069080"/>
            <a:ext cx="502920" cy="502920"/>
          </a:xfrm>
          <a:prstGeom prst="ellipse">
            <a:avLst/>
          </a:prstGeom>
          <a:solidFill>
            <a:schemeClr val="accent4"/>
          </a:solidFill>
          <a:ln w="25400">
            <a:solidFill>
              <a:schemeClr val="tx1"/>
            </a:solidFill>
            <a:prstDash val="solid"/>
          </a:ln>
        </p:spPr>
      </p:sp>
      <p:sp>
        <p:nvSpPr>
          <p:cNvPr id="14" name="Text-82"/>
          <p:cNvSpPr txBox="1"/>
          <p:nvPr/>
        </p:nvSpPr>
        <p:spPr>
          <a:xfrm>
            <a:off x="548640" y="4069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83"/>
          <p:cNvSpPr txBox="1"/>
          <p:nvPr/>
        </p:nvSpPr>
        <p:spPr>
          <a:xfrm>
            <a:off x="1234440" y="4050792"/>
            <a:ext cx="5120640" cy="685800"/>
          </a:xfrm>
          <a:prstGeom prst="rect">
            <a:avLst/>
          </a:prstGeom>
          <a:noFill/>
          <a:ln/>
        </p:spPr>
        <p:txBody>
          <a:bodyPr wrap="square" lIns="0" tIns="0" rIns="0" bIns="0" rtlCol="0" anchor="ctr"/>
          <a:lstStyle/>
          <a:p>
            <a:pPr algn="l" indent="0" marL="0">
              <a:buNone/>
            </a:pPr>
            <a:r>
              <a:rPr lang="en-US" sz="1500" dirty="0">
                <a:solidFill>
                  <a:schemeClr val="tx1"/>
                </a:solidFill>
              </a:rPr>
              <a:t>Tested on real races and compared with what the teams actually did</a:t>
            </a:r>
            <a:endParaRPr lang="en-US" sz="1500" dirty="0"/>
          </a:p>
        </p:txBody>
      </p:sp>
      <p:sp>
        <p:nvSpPr>
          <p:cNvPr id="16" name="Objective number-84"/>
          <p:cNvSpPr/>
          <p:nvPr/>
        </p:nvSpPr>
        <p:spPr>
          <a:xfrm>
            <a:off x="548640" y="4937760"/>
            <a:ext cx="502920" cy="502920"/>
          </a:xfrm>
          <a:prstGeom prst="ellipse">
            <a:avLst/>
          </a:prstGeom>
          <a:solidFill>
            <a:schemeClr val="accent5"/>
          </a:solidFill>
          <a:ln w="25400">
            <a:solidFill>
              <a:schemeClr val="tx1"/>
            </a:solidFill>
            <a:prstDash val="solid"/>
          </a:ln>
        </p:spPr>
      </p:sp>
      <p:sp>
        <p:nvSpPr>
          <p:cNvPr id="17" name="Text-85"/>
          <p:cNvSpPr txBox="1"/>
          <p:nvPr/>
        </p:nvSpPr>
        <p:spPr>
          <a:xfrm>
            <a:off x="548640" y="4937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8" name="Text-86"/>
          <p:cNvSpPr txBox="1"/>
          <p:nvPr/>
        </p:nvSpPr>
        <p:spPr>
          <a:xfrm>
            <a:off x="1234440" y="4919472"/>
            <a:ext cx="5120640" cy="685800"/>
          </a:xfrm>
          <a:prstGeom prst="rect">
            <a:avLst/>
          </a:prstGeom>
          <a:noFill/>
          <a:ln/>
        </p:spPr>
        <p:txBody>
          <a:bodyPr wrap="square" lIns="0" tIns="0" rIns="0" bIns="0" rtlCol="0" anchor="ctr"/>
          <a:lstStyle/>
          <a:p>
            <a:pPr algn="l" indent="0" marL="0">
              <a:buNone/>
            </a:pPr>
            <a:r>
              <a:rPr lang="en-US" sz="1500" dirty="0">
                <a:solidFill>
                  <a:schemeClr val="tx1"/>
                </a:solidFill>
              </a:rPr>
              <a:t>Plain-English explanations: live agent view, chat, decision records</a:t>
            </a:r>
            <a:endParaRPr lang="en-US" sz="1500" dirty="0"/>
          </a:p>
        </p:txBody>
      </p:sp>
      <p:sp>
        <p:nvSpPr>
          <p:cNvPr id="19" name="Card-87"/>
          <p:cNvSpPr/>
          <p:nvPr/>
        </p:nvSpPr>
        <p:spPr>
          <a:xfrm>
            <a:off x="6720840" y="1417320"/>
            <a:ext cx="2377440" cy="4526280"/>
          </a:xfrm>
          <a:prstGeom prst="roundRect">
            <a:avLst>
              <a:gd name="adj" fmla="val 4615"/>
            </a:avLst>
          </a:prstGeom>
          <a:solidFill>
            <a:schemeClr val="bg2"/>
          </a:solidFill>
          <a:ln/>
          <a:effectLst>
            <a:outerShdw sx="100000" sy="100000" kx="0" ky="0" algn="bl" rotWithShape="0" blurRad="101600" dist="38100" dir="5400000">
              <a:srgbClr val="000000">
                <a:alpha val="22000"/>
              </a:srgbClr>
            </a:outerShdw>
          </a:effectLst>
        </p:spPr>
      </p:sp>
      <p:sp>
        <p:nvSpPr>
          <p:cNvPr id="20" name="Card-88"/>
          <p:cNvSpPr/>
          <p:nvPr/>
        </p:nvSpPr>
        <p:spPr>
          <a:xfrm>
            <a:off x="9281160" y="1417320"/>
            <a:ext cx="2377440" cy="4526280"/>
          </a:xfrm>
          <a:prstGeom prst="roundRect">
            <a:avLst>
              <a:gd name="adj" fmla="val 4615"/>
            </a:avLst>
          </a:prstGeom>
          <a:solidFill>
            <a:schemeClr val="bg2"/>
          </a:solidFill>
          <a:ln/>
          <a:effectLst>
            <a:outerShdw sx="100000" sy="100000" kx="0" ky="0" algn="bl" rotWithShape="0" blurRad="101600" dist="38100" dir="5400000">
              <a:srgbClr val="000000">
                <a:alpha val="22000"/>
              </a:srgbClr>
            </a:outerShdw>
          </a:effectLst>
        </p:spPr>
      </p:sp>
      <p:sp>
        <p:nvSpPr>
          <p:cNvPr id="21" name="Text-89"/>
          <p:cNvSpPr txBox="1"/>
          <p:nvPr/>
        </p:nvSpPr>
        <p:spPr>
          <a:xfrm>
            <a:off x="6903720" y="1600200"/>
            <a:ext cx="2103120" cy="365760"/>
          </a:xfrm>
          <a:prstGeom prst="rect">
            <a:avLst/>
          </a:prstGeom>
          <a:noFill/>
          <a:ln/>
        </p:spPr>
        <p:txBody>
          <a:bodyPr wrap="square" lIns="0" tIns="0" rIns="0" bIns="0" rtlCol="0" anchor="t"/>
          <a:lstStyle/>
          <a:p>
            <a:pPr algn="l" indent="0" marL="0">
              <a:buNone/>
            </a:pPr>
            <a:r>
              <a:rPr lang="en-US" sz="1600" b="1" dirty="0">
                <a:solidFill>
                  <a:schemeClr val="accent3"/>
                </a:solidFill>
              </a:rPr>
              <a:t>Built and working</a:t>
            </a:r>
            <a:endParaRPr lang="en-US" sz="1600" dirty="0"/>
          </a:p>
        </p:txBody>
      </p:sp>
      <p:sp>
        <p:nvSpPr>
          <p:cNvPr id="22" name="Built list"/>
          <p:cNvSpPr txBox="1"/>
          <p:nvPr/>
        </p:nvSpPr>
        <p:spPr>
          <a:xfrm>
            <a:off x="6903720" y="2057400"/>
            <a:ext cx="2103120" cy="37490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Example scenarios + 162 real races</a:t>
            </a:r>
            <a:endParaRPr lang="en-US" sz="1300" dirty="0"/>
          </a:p>
          <a:p>
            <a:pPr marL="203200" indent="-203200">
              <a:spcAft>
                <a:spcPts val="600"/>
              </a:spcAft>
              <a:buSzPct val="100000"/>
              <a:buChar char="•"/>
            </a:pPr>
            <a:r>
              <a:rPr lang="en-US" sz="1300" dirty="0">
                <a:solidFill>
                  <a:schemeClr val="tx1"/>
                </a:solidFill>
              </a:rPr>
              <a:t>AI-model brain or rules</a:t>
            </a:r>
            <a:endParaRPr lang="en-US" sz="1300" dirty="0"/>
          </a:p>
          <a:p>
            <a:pPr marL="203200" indent="-203200">
              <a:spcAft>
                <a:spcPts val="600"/>
              </a:spcAft>
              <a:buSzPct val="100000"/>
              <a:buChar char="•"/>
            </a:pPr>
            <a:r>
              <a:rPr lang="en-US" sz="1300" dirty="0">
                <a:solidFill>
                  <a:schemeClr val="tx1"/>
                </a:solidFill>
              </a:rPr>
              <a:t>ML tyre model</a:t>
            </a:r>
            <a:endParaRPr lang="en-US" sz="1300" dirty="0"/>
          </a:p>
          <a:p>
            <a:pPr marL="203200" indent="-203200">
              <a:spcAft>
                <a:spcPts val="600"/>
              </a:spcAft>
              <a:buSzPct val="100000"/>
              <a:buChar char="•"/>
            </a:pPr>
            <a:r>
              <a:rPr lang="en-US" sz="1300" dirty="0">
                <a:solidFill>
                  <a:schemeClr val="tx1"/>
                </a:solidFill>
              </a:rPr>
              <a:t>Chat that runs scenarios</a:t>
            </a:r>
            <a:endParaRPr lang="en-US" sz="1300" dirty="0"/>
          </a:p>
          <a:p>
            <a:pPr marL="203200" indent="-203200">
              <a:spcAft>
                <a:spcPts val="600"/>
              </a:spcAft>
              <a:buSzPct val="100000"/>
              <a:buChar char="•"/>
            </a:pPr>
            <a:r>
              <a:rPr lang="en-US" sz="1300" dirty="0">
                <a:solidFill>
                  <a:schemeClr val="tx1"/>
                </a:solidFill>
              </a:rPr>
              <a:t>Hindsight “what really happened”</a:t>
            </a:r>
            <a:endParaRPr lang="en-US" sz="1300" dirty="0"/>
          </a:p>
          <a:p>
            <a:pPr marL="203200" indent="-203200">
              <a:spcAft>
                <a:spcPts val="600"/>
              </a:spcAft>
              <a:buSzPct val="100000"/>
              <a:buChar char="•"/>
            </a:pPr>
            <a:r>
              <a:rPr lang="en-US" sz="1300" dirty="0">
                <a:solidFill>
                  <a:schemeClr val="tx1"/>
                </a:solidFill>
              </a:rPr>
              <a:t>Decision records, Docker + AWS guide</a:t>
            </a:r>
            <a:endParaRPr lang="en-US" sz="1300" dirty="0"/>
          </a:p>
        </p:txBody>
      </p:sp>
      <p:sp>
        <p:nvSpPr>
          <p:cNvPr id="23" name="Text-90"/>
          <p:cNvSpPr txBox="1"/>
          <p:nvPr/>
        </p:nvSpPr>
        <p:spPr>
          <a:xfrm>
            <a:off x="9464040" y="1600200"/>
            <a:ext cx="2103120" cy="365760"/>
          </a:xfrm>
          <a:prstGeom prst="rect">
            <a:avLst/>
          </a:prstGeom>
          <a:noFill/>
          <a:ln/>
        </p:spPr>
        <p:txBody>
          <a:bodyPr wrap="square" lIns="0" tIns="0" rIns="0" bIns="0" rtlCol="0" anchor="t"/>
          <a:lstStyle/>
          <a:p>
            <a:pPr algn="l" indent="0" marL="0">
              <a:buNone/>
            </a:pPr>
            <a:r>
              <a:rPr lang="en-US" sz="1600" b="1" dirty="0">
                <a:solidFill>
                  <a:schemeClr val="accent1"/>
                </a:solidFill>
              </a:rPr>
              <a:t>Out of scope</a:t>
            </a:r>
            <a:endParaRPr lang="en-US" sz="1600" dirty="0"/>
          </a:p>
        </p:txBody>
      </p:sp>
      <p:sp>
        <p:nvSpPr>
          <p:cNvPr id="24" name="Out of scope list"/>
          <p:cNvSpPr txBox="1"/>
          <p:nvPr/>
        </p:nvSpPr>
        <p:spPr>
          <a:xfrm>
            <a:off x="9464040" y="2057400"/>
            <a:ext cx="2103120" cy="37490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chemeClr val="tx1"/>
                </a:solidFill>
              </a:rPr>
              <a:t>Live timing feed</a:t>
            </a:r>
            <a:endParaRPr lang="en-US" sz="1300" dirty="0"/>
          </a:p>
          <a:p>
            <a:pPr marL="203200" indent="-203200">
              <a:spcAft>
                <a:spcPts val="600"/>
              </a:spcAft>
              <a:buSzPct val="100000"/>
              <a:buChar char="•"/>
            </a:pPr>
            <a:r>
              <a:rPr lang="en-US" sz="1300" dirty="0">
                <a:solidFill>
                  <a:schemeClr val="tx1"/>
                </a:solidFill>
              </a:rPr>
              <a:t>Overtaking, DRS and tyre-temperature physics</a:t>
            </a:r>
            <a:endParaRPr lang="en-US" sz="1300" dirty="0"/>
          </a:p>
          <a:p>
            <a:pPr marL="203200" indent="-203200">
              <a:spcAft>
                <a:spcPts val="600"/>
              </a:spcAft>
              <a:buSzPct val="100000"/>
              <a:buChar char="•"/>
            </a:pPr>
            <a:r>
              <a:rPr lang="en-US" sz="1300" dirty="0">
                <a:solidFill>
                  <a:schemeClr val="tx1"/>
                </a:solidFill>
              </a:rPr>
              <a:t>Predicting Safety Cars or rain</a:t>
            </a:r>
            <a:endParaRPr lang="en-US" sz="1300" dirty="0"/>
          </a:p>
          <a:p>
            <a:pPr marL="203200" indent="-203200">
              <a:spcAft>
                <a:spcPts val="600"/>
              </a:spcAft>
              <a:buSzPct val="100000"/>
              <a:buChar char="•"/>
            </a:pPr>
            <a:r>
              <a:rPr lang="en-US" sz="1300" dirty="0">
                <a:solidFill>
                  <a:schemeClr val="tx1"/>
                </a:solidFill>
              </a:rPr>
              <a:t>Use by a real team</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THE SOLUTION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AI proposes · Python calculates · Rules check</a:t>
            </a:r>
            <a:endParaRPr lang="en-US" sz="3200" dirty="0"/>
          </a:p>
        </p:txBody>
      </p:sp>
      <p:sp>
        <p:nvSpPr>
          <p:cNvPr id="4" name="Card-91"/>
          <p:cNvSpPr/>
          <p:nvPr/>
        </p:nvSpPr>
        <p:spPr>
          <a:xfrm>
            <a:off x="548640" y="1463040"/>
            <a:ext cx="3520440" cy="2971800"/>
          </a:xfrm>
          <a:prstGeom prst="roundRect">
            <a:avLst>
              <a:gd name="adj" fmla="val 3692"/>
            </a:avLst>
          </a:prstGeom>
          <a:solidFill>
            <a:srgbClr val="23232E"/>
          </a:solidFill>
          <a:ln/>
          <a:effectLst>
            <a:outerShdw sx="100000" sy="100000" kx="0" ky="0" algn="bl" rotWithShape="0" blurRad="101600" dist="38100" dir="5400000">
              <a:srgbClr val="000000">
                <a:alpha val="22000"/>
              </a:srgbClr>
            </a:outerShdw>
          </a:effectLst>
        </p:spPr>
      </p:sp>
      <p:pic>
        <p:nvPicPr>
          <p:cNvPr id="5" name="Badge brain-92" descr="brain icon">    </p:cNvPr>
          <p:cNvPicPr>
            <a:picLocks noChangeAspect="1"/>
          </p:cNvPicPr>
          <p:nvPr/>
        </p:nvPicPr>
        <p:blipFill>
          <a:blip r:embed="rId1"/>
          <a:stretch>
            <a:fillRect/>
          </a:stretch>
        </p:blipFill>
        <p:spPr>
          <a:xfrm>
            <a:off x="822960" y="1737360"/>
            <a:ext cx="868680" cy="868680"/>
          </a:xfrm>
          <a:prstGeom prst="rect">
            <a:avLst/>
          </a:prstGeom>
        </p:spPr>
      </p:pic>
      <p:sp>
        <p:nvSpPr>
          <p:cNvPr id="6" name="Text-93"/>
          <p:cNvSpPr txBox="1"/>
          <p:nvPr/>
        </p:nvSpPr>
        <p:spPr>
          <a:xfrm>
            <a:off x="1828800" y="1874520"/>
            <a:ext cx="2103120" cy="548640"/>
          </a:xfrm>
          <a:prstGeom prst="rect">
            <a:avLst/>
          </a:prstGeom>
          <a:noFill/>
          <a:ln/>
        </p:spPr>
        <p:txBody>
          <a:bodyPr wrap="square" lIns="0" tIns="0" rIns="0" bIns="0" rtlCol="0" anchor="t"/>
          <a:lstStyle/>
          <a:p>
            <a:pPr algn="l" indent="0" marL="0">
              <a:buNone/>
            </a:pPr>
            <a:r>
              <a:rPr lang="en-US" sz="2200" b="1" dirty="0">
                <a:solidFill>
                  <a:schemeClr val="accent5"/>
                </a:solidFill>
                <a:latin typeface="Bookman Old Style" pitchFamily="34" charset="0"/>
                <a:ea typeface="Bookman Old Style" pitchFamily="34" charset="-122"/>
                <a:cs typeface="Bookman Old Style" pitchFamily="34" charset="-120"/>
              </a:rPr>
              <a:t>AI proposes</a:t>
            </a:r>
            <a:endParaRPr lang="en-US" sz="2200" dirty="0"/>
          </a:p>
        </p:txBody>
      </p:sp>
      <p:sp>
        <p:nvSpPr>
          <p:cNvPr id="7" name="Text-94"/>
          <p:cNvSpPr txBox="1"/>
          <p:nvPr/>
        </p:nvSpPr>
        <p:spPr>
          <a:xfrm>
            <a:off x="822960" y="2788920"/>
            <a:ext cx="3017520" cy="1554480"/>
          </a:xfrm>
          <a:prstGeom prst="rect">
            <a:avLst/>
          </a:prstGeom>
          <a:noFill/>
          <a:ln/>
        </p:spPr>
        <p:txBody>
          <a:bodyPr wrap="square" lIns="0" tIns="0" rIns="0" bIns="0" rtlCol="0" anchor="t"/>
          <a:lstStyle/>
          <a:p>
            <a:pPr algn="l" indent="0" marL="0">
              <a:buNone/>
            </a:pPr>
            <a:r>
              <a:rPr lang="en-US" sz="1400" dirty="0">
                <a:solidFill>
                  <a:schemeClr val="bg2"/>
                </a:solidFill>
              </a:rPr>
              <a:t>The AI model writes the plan (which strategies to test) and makes the final call from a safe shortlist. Groq's gpt-oss-120b by default; Gemini or Ollama also work.</a:t>
            </a:r>
            <a:endParaRPr lang="en-US" sz="1400" dirty="0"/>
          </a:p>
        </p:txBody>
      </p:sp>
      <p:sp>
        <p:nvSpPr>
          <p:cNvPr id="8" name="Connector-95"/>
          <p:cNvSpPr/>
          <p:nvPr/>
        </p:nvSpPr>
        <p:spPr>
          <a:xfrm>
            <a:off x="4096512" y="2944368"/>
            <a:ext cx="246888" cy="91"/>
          </a:xfrm>
          <a:prstGeom prst="line">
            <a:avLst/>
          </a:prstGeom>
          <a:noFill/>
          <a:ln w="31750">
            <a:solidFill>
              <a:schemeClr val="accent6"/>
            </a:solidFill>
            <a:prstDash val="solid"/>
            <a:tailEnd type="triangle"/>
          </a:ln>
        </p:spPr>
      </p:sp>
      <p:sp>
        <p:nvSpPr>
          <p:cNvPr id="9" name="Card-96"/>
          <p:cNvSpPr/>
          <p:nvPr/>
        </p:nvSpPr>
        <p:spPr>
          <a:xfrm>
            <a:off x="4370832" y="1463040"/>
            <a:ext cx="3520440" cy="2971800"/>
          </a:xfrm>
          <a:prstGeom prst="roundRect">
            <a:avLst>
              <a:gd name="adj" fmla="val 3692"/>
            </a:avLst>
          </a:prstGeom>
          <a:solidFill>
            <a:srgbClr val="23232E"/>
          </a:solidFill>
          <a:ln/>
          <a:effectLst>
            <a:outerShdw sx="100000" sy="100000" kx="0" ky="0" algn="bl" rotWithShape="0" blurRad="101600" dist="38100" dir="5400000">
              <a:srgbClr val="000000">
                <a:alpha val="22000"/>
              </a:srgbClr>
            </a:outerShdw>
          </a:effectLst>
        </p:spPr>
      </p:sp>
      <p:pic>
        <p:nvPicPr>
          <p:cNvPr id="10" name="Badge executor-97" descr="executor icon">    </p:cNvPr>
          <p:cNvPicPr>
            <a:picLocks noChangeAspect="1"/>
          </p:cNvPicPr>
          <p:nvPr/>
        </p:nvPicPr>
        <p:blipFill>
          <a:blip r:embed="rId2"/>
          <a:stretch>
            <a:fillRect/>
          </a:stretch>
        </p:blipFill>
        <p:spPr>
          <a:xfrm>
            <a:off x="4645152" y="1737360"/>
            <a:ext cx="868680" cy="868680"/>
          </a:xfrm>
          <a:prstGeom prst="rect">
            <a:avLst/>
          </a:prstGeom>
        </p:spPr>
      </p:pic>
      <p:sp>
        <p:nvSpPr>
          <p:cNvPr id="11" name="Text-98"/>
          <p:cNvSpPr txBox="1"/>
          <p:nvPr/>
        </p:nvSpPr>
        <p:spPr>
          <a:xfrm>
            <a:off x="5650992" y="1874520"/>
            <a:ext cx="2103120" cy="548640"/>
          </a:xfrm>
          <a:prstGeom prst="rect">
            <a:avLst/>
          </a:prstGeom>
          <a:noFill/>
          <a:ln/>
        </p:spPr>
        <p:txBody>
          <a:bodyPr wrap="square" lIns="0" tIns="0" rIns="0" bIns="0" rtlCol="0" anchor="t"/>
          <a:lstStyle/>
          <a:p>
            <a:pPr algn="l" indent="0" marL="0">
              <a:buNone/>
            </a:pPr>
            <a:r>
              <a:rPr lang="en-US" sz="2200" b="1" dirty="0">
                <a:solidFill>
                  <a:schemeClr val="accent2"/>
                </a:solidFill>
                <a:latin typeface="Bookman Old Style" pitchFamily="34" charset="0"/>
                <a:ea typeface="Bookman Old Style" pitchFamily="34" charset="-122"/>
                <a:cs typeface="Bookman Old Style" pitchFamily="34" charset="-120"/>
              </a:rPr>
              <a:t>Python calculates</a:t>
            </a:r>
            <a:endParaRPr lang="en-US" sz="2200" dirty="0"/>
          </a:p>
        </p:txBody>
      </p:sp>
      <p:sp>
        <p:nvSpPr>
          <p:cNvPr id="12" name="Text-99"/>
          <p:cNvSpPr txBox="1"/>
          <p:nvPr/>
        </p:nvSpPr>
        <p:spPr>
          <a:xfrm>
            <a:off x="4645152" y="2788920"/>
            <a:ext cx="3017520" cy="1554480"/>
          </a:xfrm>
          <a:prstGeom prst="rect">
            <a:avLst/>
          </a:prstGeom>
          <a:noFill/>
          <a:ln/>
        </p:spPr>
        <p:txBody>
          <a:bodyPr wrap="square" lIns="0" tIns="0" rIns="0" bIns="0" rtlCol="0" anchor="t"/>
          <a:lstStyle/>
          <a:p>
            <a:pPr algn="l" indent="0" marL="0">
              <a:buNone/>
            </a:pPr>
            <a:r>
              <a:rPr lang="en-US" sz="1400" dirty="0">
                <a:solidFill>
                  <a:schemeClr val="bg2"/>
                </a:solidFill>
              </a:rPr>
              <a:t>A lap-by-lap simulator times every option: tyres, fuel, weather, traffic, Safety Cars. Tyre wear from a formula or an ML model.</a:t>
            </a:r>
            <a:endParaRPr lang="en-US" sz="1400" dirty="0"/>
          </a:p>
        </p:txBody>
      </p:sp>
      <p:sp>
        <p:nvSpPr>
          <p:cNvPr id="13" name="Connector-100"/>
          <p:cNvSpPr/>
          <p:nvPr/>
        </p:nvSpPr>
        <p:spPr>
          <a:xfrm>
            <a:off x="7918704" y="2944368"/>
            <a:ext cx="246888" cy="91"/>
          </a:xfrm>
          <a:prstGeom prst="line">
            <a:avLst/>
          </a:prstGeom>
          <a:noFill/>
          <a:ln w="31750">
            <a:solidFill>
              <a:schemeClr val="accent6"/>
            </a:solidFill>
            <a:prstDash val="solid"/>
            <a:tailEnd type="triangle"/>
          </a:ln>
        </p:spPr>
      </p:sp>
      <p:sp>
        <p:nvSpPr>
          <p:cNvPr id="14" name="Card-101"/>
          <p:cNvSpPr/>
          <p:nvPr/>
        </p:nvSpPr>
        <p:spPr>
          <a:xfrm>
            <a:off x="8193024" y="1463040"/>
            <a:ext cx="3520440" cy="2971800"/>
          </a:xfrm>
          <a:prstGeom prst="roundRect">
            <a:avLst>
              <a:gd name="adj" fmla="val 3692"/>
            </a:avLst>
          </a:prstGeom>
          <a:solidFill>
            <a:srgbClr val="23232E"/>
          </a:solidFill>
          <a:ln/>
          <a:effectLst>
            <a:outerShdw sx="100000" sy="100000" kx="0" ky="0" algn="bl" rotWithShape="0" blurRad="101600" dist="38100" dir="5400000">
              <a:srgbClr val="000000">
                <a:alpha val="22000"/>
              </a:srgbClr>
            </a:outerShdw>
          </a:effectLst>
        </p:spPr>
      </p:sp>
      <p:pic>
        <p:nvPicPr>
          <p:cNvPr id="15" name="Badge critic-102" descr="critic icon">    </p:cNvPr>
          <p:cNvPicPr>
            <a:picLocks noChangeAspect="1"/>
          </p:cNvPicPr>
          <p:nvPr/>
        </p:nvPicPr>
        <p:blipFill>
          <a:blip r:embed="rId3"/>
          <a:stretch>
            <a:fillRect/>
          </a:stretch>
        </p:blipFill>
        <p:spPr>
          <a:xfrm>
            <a:off x="8467344" y="1737360"/>
            <a:ext cx="868680" cy="868680"/>
          </a:xfrm>
          <a:prstGeom prst="rect">
            <a:avLst/>
          </a:prstGeom>
        </p:spPr>
      </p:pic>
      <p:sp>
        <p:nvSpPr>
          <p:cNvPr id="16" name="Text-103"/>
          <p:cNvSpPr txBox="1"/>
          <p:nvPr/>
        </p:nvSpPr>
        <p:spPr>
          <a:xfrm>
            <a:off x="9473184" y="1874520"/>
            <a:ext cx="2103120" cy="548640"/>
          </a:xfrm>
          <a:prstGeom prst="rect">
            <a:avLst/>
          </a:prstGeom>
          <a:noFill/>
          <a:ln/>
        </p:spPr>
        <p:txBody>
          <a:bodyPr wrap="square" lIns="0" tIns="0" rIns="0" bIns="0" rtlCol="0" anchor="t"/>
          <a:lstStyle/>
          <a:p>
            <a:pPr algn="l" indent="0" marL="0">
              <a:buNone/>
            </a:pPr>
            <a:r>
              <a:rPr lang="en-US" sz="2200" b="1" dirty="0">
                <a:solidFill>
                  <a:schemeClr val="accent1"/>
                </a:solidFill>
                <a:latin typeface="Bookman Old Style" pitchFamily="34" charset="0"/>
                <a:ea typeface="Bookman Old Style" pitchFamily="34" charset="-122"/>
                <a:cs typeface="Bookman Old Style" pitchFamily="34" charset="-120"/>
              </a:rPr>
              <a:t>Rules check</a:t>
            </a:r>
            <a:endParaRPr lang="en-US" sz="2200" dirty="0"/>
          </a:p>
        </p:txBody>
      </p:sp>
      <p:sp>
        <p:nvSpPr>
          <p:cNvPr id="17" name="Text-104"/>
          <p:cNvSpPr txBox="1"/>
          <p:nvPr/>
        </p:nvSpPr>
        <p:spPr>
          <a:xfrm>
            <a:off x="8467344" y="2788920"/>
            <a:ext cx="3017520" cy="1554480"/>
          </a:xfrm>
          <a:prstGeom prst="rect">
            <a:avLst/>
          </a:prstGeom>
          <a:noFill/>
          <a:ln/>
        </p:spPr>
        <p:txBody>
          <a:bodyPr wrap="square" lIns="0" tIns="0" rIns="0" bIns="0" rtlCol="0" anchor="t"/>
          <a:lstStyle/>
          <a:p>
            <a:pPr algn="l" indent="0" marL="0">
              <a:buNone/>
            </a:pPr>
            <a:r>
              <a:rPr lang="en-US" sz="1400" dirty="0">
                <a:solidFill>
                  <a:schemeClr val="bg2"/>
                </a:solidFill>
              </a:rPr>
              <a:t>The Critic rejects anything unsafe or illegal and sends work back (max two times). It is deliberately not AI.</a:t>
            </a:r>
            <a:endParaRPr lang="en-US" sz="1400" dirty="0"/>
          </a:p>
        </p:txBody>
      </p:sp>
      <p:sp>
        <p:nvSpPr>
          <p:cNvPr id="18" name="Text-105"/>
          <p:cNvSpPr txBox="1"/>
          <p:nvPr/>
        </p:nvSpPr>
        <p:spPr>
          <a:xfrm>
            <a:off x="548640" y="4754880"/>
            <a:ext cx="5486400" cy="365760"/>
          </a:xfrm>
          <a:prstGeom prst="rect">
            <a:avLst/>
          </a:prstGeom>
          <a:noFill/>
          <a:ln/>
        </p:spPr>
        <p:txBody>
          <a:bodyPr wrap="square" lIns="0" tIns="0" rIns="0" bIns="0" rtlCol="0" anchor="t"/>
          <a:lstStyle/>
          <a:p>
            <a:pPr algn="l" indent="0" marL="0">
              <a:buNone/>
            </a:pPr>
            <a:r>
              <a:rPr lang="en-US" sz="1600" b="1" dirty="0">
                <a:solidFill>
                  <a:schemeClr val="bg1"/>
                </a:solidFill>
              </a:rPr>
              <a:t>What you can do with it</a:t>
            </a:r>
            <a:endParaRPr lang="en-US" sz="1600" dirty="0"/>
          </a:p>
        </p:txBody>
      </p:sp>
      <p:sp>
        <p:nvSpPr>
          <p:cNvPr id="19" name="Chip-106"/>
          <p:cNvSpPr/>
          <p:nvPr/>
        </p:nvSpPr>
        <p:spPr>
          <a:xfrm>
            <a:off x="548640" y="5212080"/>
            <a:ext cx="3520440" cy="310896"/>
          </a:xfrm>
          <a:prstGeom prst="roundRect">
            <a:avLst>
              <a:gd name="adj" fmla="val 50000"/>
            </a:avLst>
          </a:prstGeom>
          <a:solidFill>
            <a:schemeClr val="accent1"/>
          </a:solidFill>
          <a:ln/>
        </p:spPr>
      </p:sp>
      <p:sp>
        <p:nvSpPr>
          <p:cNvPr id="20" name="Chip label-107"/>
          <p:cNvSpPr txBox="1"/>
          <p:nvPr/>
        </p:nvSpPr>
        <p:spPr>
          <a:xfrm>
            <a:off x="548640" y="5212080"/>
            <a:ext cx="3520440" cy="310896"/>
          </a:xfrm>
          <a:prstGeom prst="rect">
            <a:avLst/>
          </a:prstGeom>
          <a:noFill/>
          <a:ln/>
        </p:spPr>
        <p:txBody>
          <a:bodyPr wrap="square" lIns="0" tIns="0" rIns="0" bIns="0" rtlCol="0" anchor="ctr"/>
          <a:lstStyle/>
          <a:p>
            <a:pPr algn="ctr" indent="0" marL="0">
              <a:buNone/>
            </a:pPr>
            <a:r>
              <a:rPr lang="en-US" sz="1300" b="1" dirty="0">
                <a:solidFill>
                  <a:schemeClr val="bg1"/>
                </a:solidFill>
              </a:rPr>
              <a:t>162 real races, offline</a:t>
            </a:r>
            <a:endParaRPr lang="en-US" sz="1300" dirty="0"/>
          </a:p>
        </p:txBody>
      </p:sp>
      <p:sp>
        <p:nvSpPr>
          <p:cNvPr id="21" name="Chip-108"/>
          <p:cNvSpPr/>
          <p:nvPr/>
        </p:nvSpPr>
        <p:spPr>
          <a:xfrm>
            <a:off x="4370832" y="5212080"/>
            <a:ext cx="3520440" cy="310896"/>
          </a:xfrm>
          <a:prstGeom prst="roundRect">
            <a:avLst>
              <a:gd name="adj" fmla="val 50000"/>
            </a:avLst>
          </a:prstGeom>
          <a:solidFill>
            <a:schemeClr val="accent2"/>
          </a:solidFill>
          <a:ln/>
        </p:spPr>
      </p:sp>
      <p:sp>
        <p:nvSpPr>
          <p:cNvPr id="22" name="Chip label-109"/>
          <p:cNvSpPr txBox="1"/>
          <p:nvPr/>
        </p:nvSpPr>
        <p:spPr>
          <a:xfrm>
            <a:off x="4370832" y="5212080"/>
            <a:ext cx="3520440" cy="310896"/>
          </a:xfrm>
          <a:prstGeom prst="rect">
            <a:avLst/>
          </a:prstGeom>
          <a:noFill/>
          <a:ln/>
        </p:spPr>
        <p:txBody>
          <a:bodyPr wrap="square" lIns="0" tIns="0" rIns="0" bIns="0" rtlCol="0" anchor="ctr"/>
          <a:lstStyle/>
          <a:p>
            <a:pPr algn="ctr" indent="0" marL="0">
              <a:buNone/>
            </a:pPr>
            <a:r>
              <a:rPr lang="en-US" sz="1300" b="1" dirty="0">
                <a:solidFill>
                  <a:schemeClr val="tx1"/>
                </a:solidFill>
              </a:rPr>
              <a:t>Watch the agents live</a:t>
            </a:r>
            <a:endParaRPr lang="en-US" sz="1300" dirty="0"/>
          </a:p>
        </p:txBody>
      </p:sp>
      <p:sp>
        <p:nvSpPr>
          <p:cNvPr id="23" name="Chip-110"/>
          <p:cNvSpPr/>
          <p:nvPr/>
        </p:nvSpPr>
        <p:spPr>
          <a:xfrm>
            <a:off x="8193024" y="5212080"/>
            <a:ext cx="3520440" cy="310896"/>
          </a:xfrm>
          <a:prstGeom prst="roundRect">
            <a:avLst>
              <a:gd name="adj" fmla="val 50000"/>
            </a:avLst>
          </a:prstGeom>
          <a:solidFill>
            <a:schemeClr val="accent3"/>
          </a:solidFill>
          <a:ln/>
        </p:spPr>
      </p:sp>
      <p:sp>
        <p:nvSpPr>
          <p:cNvPr id="24" name="Chip label-111"/>
          <p:cNvSpPr txBox="1"/>
          <p:nvPr/>
        </p:nvSpPr>
        <p:spPr>
          <a:xfrm>
            <a:off x="8193024" y="5212080"/>
            <a:ext cx="3520440" cy="310896"/>
          </a:xfrm>
          <a:prstGeom prst="rect">
            <a:avLst/>
          </a:prstGeom>
          <a:noFill/>
          <a:ln/>
        </p:spPr>
        <p:txBody>
          <a:bodyPr wrap="square" lIns="0" tIns="0" rIns="0" bIns="0" rtlCol="0" anchor="ctr"/>
          <a:lstStyle/>
          <a:p>
            <a:pPr algn="ctr" indent="0" marL="0">
              <a:buNone/>
            </a:pPr>
            <a:r>
              <a:rPr lang="en-US" sz="1300" b="1" dirty="0">
                <a:solidFill>
                  <a:schemeClr val="bg1"/>
                </a:solidFill>
              </a:rPr>
              <a:t>Chat runs whole scenarios</a:t>
            </a:r>
            <a:endParaRPr lang="en-US" sz="1300" dirty="0"/>
          </a:p>
        </p:txBody>
      </p:sp>
      <p:sp>
        <p:nvSpPr>
          <p:cNvPr id="25" name="Chip-112"/>
          <p:cNvSpPr/>
          <p:nvPr/>
        </p:nvSpPr>
        <p:spPr>
          <a:xfrm>
            <a:off x="548640" y="5669280"/>
            <a:ext cx="3520440" cy="310896"/>
          </a:xfrm>
          <a:prstGeom prst="roundRect">
            <a:avLst>
              <a:gd name="adj" fmla="val 50000"/>
            </a:avLst>
          </a:prstGeom>
          <a:solidFill>
            <a:schemeClr val="accent4"/>
          </a:solidFill>
          <a:ln/>
        </p:spPr>
      </p:sp>
      <p:sp>
        <p:nvSpPr>
          <p:cNvPr id="26" name="Chip label-113"/>
          <p:cNvSpPr txBox="1"/>
          <p:nvPr/>
        </p:nvSpPr>
        <p:spPr>
          <a:xfrm>
            <a:off x="548640" y="5669280"/>
            <a:ext cx="3520440" cy="310896"/>
          </a:xfrm>
          <a:prstGeom prst="rect">
            <a:avLst/>
          </a:prstGeom>
          <a:noFill/>
          <a:ln/>
        </p:spPr>
        <p:txBody>
          <a:bodyPr wrap="square" lIns="0" tIns="0" rIns="0" bIns="0" rtlCol="0" anchor="ctr"/>
          <a:lstStyle/>
          <a:p>
            <a:pPr algn="ctr" indent="0" marL="0">
              <a:buNone/>
            </a:pPr>
            <a:r>
              <a:rPr lang="en-US" sz="1300" b="1" dirty="0">
                <a:solidFill>
                  <a:schemeClr val="bg1"/>
                </a:solidFill>
              </a:rPr>
              <a:t>Reveal what really happened</a:t>
            </a:r>
            <a:endParaRPr lang="en-US" sz="1300" dirty="0"/>
          </a:p>
        </p:txBody>
      </p:sp>
      <p:sp>
        <p:nvSpPr>
          <p:cNvPr id="27" name="Chip-114"/>
          <p:cNvSpPr/>
          <p:nvPr/>
        </p:nvSpPr>
        <p:spPr>
          <a:xfrm>
            <a:off x="4370832" y="5669280"/>
            <a:ext cx="3520440" cy="310896"/>
          </a:xfrm>
          <a:prstGeom prst="roundRect">
            <a:avLst>
              <a:gd name="adj" fmla="val 50000"/>
            </a:avLst>
          </a:prstGeom>
          <a:solidFill>
            <a:schemeClr val="accent5"/>
          </a:solidFill>
          <a:ln/>
        </p:spPr>
      </p:sp>
      <p:sp>
        <p:nvSpPr>
          <p:cNvPr id="28" name="Chip label-115"/>
          <p:cNvSpPr txBox="1"/>
          <p:nvPr/>
        </p:nvSpPr>
        <p:spPr>
          <a:xfrm>
            <a:off x="4370832" y="5669280"/>
            <a:ext cx="3520440" cy="310896"/>
          </a:xfrm>
          <a:prstGeom prst="rect">
            <a:avLst/>
          </a:prstGeom>
          <a:noFill/>
          <a:ln/>
        </p:spPr>
        <p:txBody>
          <a:bodyPr wrap="square" lIns="0" tIns="0" rIns="0" bIns="0" rtlCol="0" anchor="ctr"/>
          <a:lstStyle/>
          <a:p>
            <a:pPr algn="ctr" indent="0" marL="0">
              <a:buNone/>
            </a:pPr>
            <a:r>
              <a:rPr lang="en-US" sz="1300" b="1" dirty="0">
                <a:solidFill>
                  <a:schemeClr val="bg1"/>
                </a:solidFill>
              </a:rPr>
              <a:t>ML tyre model</a:t>
            </a:r>
            <a:endParaRPr lang="en-US" sz="1300" dirty="0"/>
          </a:p>
        </p:txBody>
      </p:sp>
      <p:sp>
        <p:nvSpPr>
          <p:cNvPr id="29" name="Chip-116"/>
          <p:cNvSpPr/>
          <p:nvPr/>
        </p:nvSpPr>
        <p:spPr>
          <a:xfrm>
            <a:off x="8193024" y="5669280"/>
            <a:ext cx="3520440" cy="310896"/>
          </a:xfrm>
          <a:prstGeom prst="roundRect">
            <a:avLst>
              <a:gd name="adj" fmla="val 50000"/>
            </a:avLst>
          </a:prstGeom>
          <a:solidFill>
            <a:schemeClr val="bg1"/>
          </a:solidFill>
          <a:ln/>
        </p:spPr>
      </p:sp>
      <p:sp>
        <p:nvSpPr>
          <p:cNvPr id="30" name="Chip label-117"/>
          <p:cNvSpPr txBox="1"/>
          <p:nvPr/>
        </p:nvSpPr>
        <p:spPr>
          <a:xfrm>
            <a:off x="8193024" y="5669280"/>
            <a:ext cx="3520440" cy="310896"/>
          </a:xfrm>
          <a:prstGeom prst="rect">
            <a:avLst/>
          </a:prstGeom>
          <a:noFill/>
          <a:ln/>
        </p:spPr>
        <p:txBody>
          <a:bodyPr wrap="square" lIns="0" tIns="0" rIns="0" bIns="0" rtlCol="0" anchor="ctr"/>
          <a:lstStyle/>
          <a:p>
            <a:pPr algn="ctr" indent="0" marL="0">
              <a:buNone/>
            </a:pPr>
            <a:r>
              <a:rPr lang="en-US" sz="1300" b="1" dirty="0">
                <a:solidFill>
                  <a:schemeClr val="tx1"/>
                </a:solidFill>
              </a:rPr>
              <a:t>Every decision recorded</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SYSTEM ARCHITECTURE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How the pieces connect</a:t>
            </a:r>
            <a:endParaRPr lang="en-US" sz="3200" dirty="0"/>
          </a:p>
        </p:txBody>
      </p:sp>
      <p:sp>
        <p:nvSpPr>
          <p:cNvPr id="4" name="Card-118"/>
          <p:cNvSpPr/>
          <p:nvPr/>
        </p:nvSpPr>
        <p:spPr>
          <a:xfrm>
            <a:off x="2788920" y="1325880"/>
            <a:ext cx="6583680" cy="658368"/>
          </a:xfrm>
          <a:prstGeom prst="roundRect">
            <a:avLst>
              <a:gd name="adj" fmla="val 11111"/>
            </a:avLst>
          </a:prstGeom>
          <a:solidFill>
            <a:schemeClr val="tx1"/>
          </a:solidFill>
          <a:ln/>
        </p:spPr>
      </p:sp>
      <p:sp>
        <p:nvSpPr>
          <p:cNvPr id="5" name="Text-119"/>
          <p:cNvSpPr txBox="1"/>
          <p:nvPr/>
        </p:nvSpPr>
        <p:spPr>
          <a:xfrm>
            <a:off x="2880360" y="1380744"/>
            <a:ext cx="6400800" cy="274320"/>
          </a:xfrm>
          <a:prstGeom prst="rect">
            <a:avLst/>
          </a:prstGeom>
          <a:noFill/>
          <a:ln/>
        </p:spPr>
        <p:txBody>
          <a:bodyPr wrap="square" lIns="0" tIns="0" rIns="0" bIns="0" rtlCol="0" anchor="t"/>
          <a:lstStyle/>
          <a:p>
            <a:pPr algn="ctr" indent="0" marL="0">
              <a:buNone/>
            </a:pPr>
            <a:r>
              <a:rPr lang="en-US" sz="1200" b="1" dirty="0">
                <a:solidFill>
                  <a:schemeClr val="bg1"/>
                </a:solidFill>
              </a:rPr>
              <a:t>Streamlit UI · 8 pages</a:t>
            </a:r>
            <a:endParaRPr lang="en-US" sz="1200" dirty="0"/>
          </a:p>
        </p:txBody>
      </p:sp>
      <p:sp>
        <p:nvSpPr>
          <p:cNvPr id="6" name="Text-120"/>
          <p:cNvSpPr txBox="1"/>
          <p:nvPr/>
        </p:nvSpPr>
        <p:spPr>
          <a:xfrm>
            <a:off x="2880360" y="1655064"/>
            <a:ext cx="6400800" cy="274320"/>
          </a:xfrm>
          <a:prstGeom prst="rect">
            <a:avLst/>
          </a:prstGeom>
          <a:noFill/>
          <a:ln/>
        </p:spPr>
        <p:txBody>
          <a:bodyPr wrap="square" lIns="0" tIns="0" rIns="0" bIns="0" rtlCol="0" anchor="t"/>
          <a:lstStyle/>
          <a:p>
            <a:pPr algn="ctr" indent="0" marL="0">
              <a:buNone/>
            </a:pPr>
            <a:r>
              <a:rPr lang="en-US" sz="1050" dirty="0">
                <a:solidFill>
                  <a:schemeClr val="bg1"/>
                </a:solidFill>
              </a:rPr>
              <a:t>Race Control · Agents · Chat · Strategy Lab · Model Lab · Setup · Records · About</a:t>
            </a:r>
            <a:endParaRPr lang="en-US" sz="1050" dirty="0"/>
          </a:p>
        </p:txBody>
      </p:sp>
      <p:sp>
        <p:nvSpPr>
          <p:cNvPr id="7" name="Connector-121"/>
          <p:cNvSpPr/>
          <p:nvPr/>
        </p:nvSpPr>
        <p:spPr>
          <a:xfrm>
            <a:off x="6080760" y="2011680"/>
            <a:ext cx="91" cy="228600"/>
          </a:xfrm>
          <a:prstGeom prst="line">
            <a:avLst/>
          </a:prstGeom>
          <a:noFill/>
          <a:ln w="22225">
            <a:solidFill>
              <a:schemeClr val="tx2"/>
            </a:solidFill>
            <a:prstDash val="solid"/>
            <a:headEnd type="triangle"/>
            <a:tailEnd type="triangle"/>
          </a:ln>
        </p:spPr>
      </p:sp>
      <p:sp>
        <p:nvSpPr>
          <p:cNvPr id="8" name="Text-122"/>
          <p:cNvSpPr txBox="1"/>
          <p:nvPr/>
        </p:nvSpPr>
        <p:spPr>
          <a:xfrm>
            <a:off x="548640" y="1938528"/>
            <a:ext cx="2011680" cy="274320"/>
          </a:xfrm>
          <a:prstGeom prst="rect">
            <a:avLst/>
          </a:prstGeom>
          <a:noFill/>
          <a:ln/>
        </p:spPr>
        <p:txBody>
          <a:bodyPr wrap="square" lIns="0" tIns="0" rIns="0" bIns="0" rtlCol="0" anchor="t"/>
          <a:lstStyle/>
          <a:p>
            <a:pPr algn="l" indent="0" marL="0">
              <a:buNone/>
            </a:pPr>
            <a:r>
              <a:rPr lang="en-US" sz="1200" b="1" dirty="0">
                <a:solidFill>
                  <a:schemeClr val="tx2"/>
                </a:solidFill>
              </a:rPr>
              <a:t>Race inputs</a:t>
            </a:r>
            <a:endParaRPr lang="en-US" sz="1200" dirty="0"/>
          </a:p>
        </p:txBody>
      </p:sp>
      <p:sp>
        <p:nvSpPr>
          <p:cNvPr id="9" name="Card-123"/>
          <p:cNvSpPr/>
          <p:nvPr/>
        </p:nvSpPr>
        <p:spPr>
          <a:xfrm>
            <a:off x="548640" y="2286000"/>
            <a:ext cx="2011680" cy="566928"/>
          </a:xfrm>
          <a:prstGeom prst="roundRect">
            <a:avLst>
              <a:gd name="adj" fmla="val 12903"/>
            </a:avLst>
          </a:prstGeom>
          <a:solidFill>
            <a:schemeClr val="bg2"/>
          </a:solidFill>
          <a:ln/>
        </p:spPr>
      </p:sp>
      <p:sp>
        <p:nvSpPr>
          <p:cNvPr id="10" name="Text-124"/>
          <p:cNvSpPr txBox="1"/>
          <p:nvPr/>
        </p:nvSpPr>
        <p:spPr>
          <a:xfrm>
            <a:off x="640080" y="2340864"/>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Example scenarios</a:t>
            </a:r>
            <a:endParaRPr lang="en-US" sz="1200" dirty="0"/>
          </a:p>
        </p:txBody>
      </p:sp>
      <p:sp>
        <p:nvSpPr>
          <p:cNvPr id="11" name="Text-125"/>
          <p:cNvSpPr txBox="1"/>
          <p:nvPr/>
        </p:nvSpPr>
        <p:spPr>
          <a:xfrm>
            <a:off x="640080" y="2615184"/>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4 fictional races</a:t>
            </a:r>
            <a:endParaRPr lang="en-US" sz="1050" dirty="0"/>
          </a:p>
        </p:txBody>
      </p:sp>
      <p:sp>
        <p:nvSpPr>
          <p:cNvPr id="12" name="Connector-126"/>
          <p:cNvSpPr/>
          <p:nvPr/>
        </p:nvSpPr>
        <p:spPr>
          <a:xfrm>
            <a:off x="2578608" y="2569464"/>
            <a:ext cx="192024" cy="91"/>
          </a:xfrm>
          <a:prstGeom prst="line">
            <a:avLst/>
          </a:prstGeom>
          <a:noFill/>
          <a:ln w="22225">
            <a:solidFill>
              <a:schemeClr val="tx2"/>
            </a:solidFill>
            <a:prstDash val="solid"/>
            <a:tailEnd type="triangle"/>
          </a:ln>
        </p:spPr>
      </p:sp>
      <p:sp>
        <p:nvSpPr>
          <p:cNvPr id="13" name="Card-127"/>
          <p:cNvSpPr/>
          <p:nvPr/>
        </p:nvSpPr>
        <p:spPr>
          <a:xfrm>
            <a:off x="548640" y="2907792"/>
            <a:ext cx="2011680" cy="566928"/>
          </a:xfrm>
          <a:prstGeom prst="roundRect">
            <a:avLst>
              <a:gd name="adj" fmla="val 12903"/>
            </a:avLst>
          </a:prstGeom>
          <a:solidFill>
            <a:schemeClr val="bg2"/>
          </a:solidFill>
          <a:ln/>
        </p:spPr>
      </p:sp>
      <p:sp>
        <p:nvSpPr>
          <p:cNvPr id="14" name="Text-128"/>
          <p:cNvSpPr txBox="1"/>
          <p:nvPr/>
        </p:nvSpPr>
        <p:spPr>
          <a:xfrm>
            <a:off x="640080" y="2962656"/>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Real races (built in)</a:t>
            </a:r>
            <a:endParaRPr lang="en-US" sz="1200" dirty="0"/>
          </a:p>
        </p:txBody>
      </p:sp>
      <p:sp>
        <p:nvSpPr>
          <p:cNvPr id="15" name="Text-129"/>
          <p:cNvSpPr txBox="1"/>
          <p:nvPr/>
        </p:nvSpPr>
        <p:spPr>
          <a:xfrm>
            <a:off x="640080" y="3236976"/>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162 races, 2019–2026</a:t>
            </a:r>
            <a:endParaRPr lang="en-US" sz="1050" dirty="0"/>
          </a:p>
        </p:txBody>
      </p:sp>
      <p:sp>
        <p:nvSpPr>
          <p:cNvPr id="16" name="Connector-130"/>
          <p:cNvSpPr/>
          <p:nvPr/>
        </p:nvSpPr>
        <p:spPr>
          <a:xfrm>
            <a:off x="2578608" y="3191256"/>
            <a:ext cx="192024" cy="91"/>
          </a:xfrm>
          <a:prstGeom prst="line">
            <a:avLst/>
          </a:prstGeom>
          <a:noFill/>
          <a:ln w="22225">
            <a:solidFill>
              <a:schemeClr val="tx2"/>
            </a:solidFill>
            <a:prstDash val="solid"/>
            <a:tailEnd type="triangle"/>
          </a:ln>
        </p:spPr>
      </p:sp>
      <p:sp>
        <p:nvSpPr>
          <p:cNvPr id="17" name="Card-131"/>
          <p:cNvSpPr/>
          <p:nvPr/>
        </p:nvSpPr>
        <p:spPr>
          <a:xfrm>
            <a:off x="548640" y="3529584"/>
            <a:ext cx="2011680" cy="566928"/>
          </a:xfrm>
          <a:prstGeom prst="roundRect">
            <a:avLst>
              <a:gd name="adj" fmla="val 12903"/>
            </a:avLst>
          </a:prstGeom>
          <a:solidFill>
            <a:schemeClr val="bg2"/>
          </a:solidFill>
          <a:ln/>
        </p:spPr>
      </p:sp>
      <p:sp>
        <p:nvSpPr>
          <p:cNvPr id="18" name="Text-132"/>
          <p:cNvSpPr txBox="1"/>
          <p:nvPr/>
        </p:nvSpPr>
        <p:spPr>
          <a:xfrm>
            <a:off x="640080" y="3584448"/>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FastF1 (optional)</a:t>
            </a:r>
            <a:endParaRPr lang="en-US" sz="1200" dirty="0"/>
          </a:p>
        </p:txBody>
      </p:sp>
      <p:sp>
        <p:nvSpPr>
          <p:cNvPr id="19" name="Text-133"/>
          <p:cNvSpPr txBox="1"/>
          <p:nvPr/>
        </p:nvSpPr>
        <p:spPr>
          <a:xfrm>
            <a:off x="640080" y="3858768"/>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downloads a race</a:t>
            </a:r>
            <a:endParaRPr lang="en-US" sz="1050" dirty="0"/>
          </a:p>
        </p:txBody>
      </p:sp>
      <p:sp>
        <p:nvSpPr>
          <p:cNvPr id="20" name="Connector-134"/>
          <p:cNvSpPr/>
          <p:nvPr/>
        </p:nvSpPr>
        <p:spPr>
          <a:xfrm>
            <a:off x="2578608" y="3813048"/>
            <a:ext cx="192024" cy="91"/>
          </a:xfrm>
          <a:prstGeom prst="line">
            <a:avLst/>
          </a:prstGeom>
          <a:noFill/>
          <a:ln w="22225">
            <a:solidFill>
              <a:schemeClr val="tx2"/>
            </a:solidFill>
            <a:prstDash val="solid"/>
            <a:tailEnd type="triangle"/>
          </a:ln>
        </p:spPr>
      </p:sp>
      <p:sp>
        <p:nvSpPr>
          <p:cNvPr id="21" name="Card-135"/>
          <p:cNvSpPr/>
          <p:nvPr/>
        </p:nvSpPr>
        <p:spPr>
          <a:xfrm>
            <a:off x="548640" y="4151376"/>
            <a:ext cx="2011680" cy="566928"/>
          </a:xfrm>
          <a:prstGeom prst="roundRect">
            <a:avLst>
              <a:gd name="adj" fmla="val 12903"/>
            </a:avLst>
          </a:prstGeom>
          <a:solidFill>
            <a:schemeClr val="bg2"/>
          </a:solidFill>
          <a:ln/>
        </p:spPr>
      </p:sp>
      <p:sp>
        <p:nvSpPr>
          <p:cNvPr id="22" name="Text-136"/>
          <p:cNvSpPr txBox="1"/>
          <p:nvPr/>
        </p:nvSpPr>
        <p:spPr>
          <a:xfrm>
            <a:off x="640080" y="4206240"/>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Events and chat scenarios</a:t>
            </a:r>
            <a:endParaRPr lang="en-US" sz="1200" dirty="0"/>
          </a:p>
        </p:txBody>
      </p:sp>
      <p:sp>
        <p:nvSpPr>
          <p:cNvPr id="23" name="Text-137"/>
          <p:cNvSpPr txBox="1"/>
          <p:nvPr/>
        </p:nvSpPr>
        <p:spPr>
          <a:xfrm>
            <a:off x="640080" y="4480560"/>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SC, VSC, rain, wear</a:t>
            </a:r>
            <a:endParaRPr lang="en-US" sz="1050" dirty="0"/>
          </a:p>
        </p:txBody>
      </p:sp>
      <p:sp>
        <p:nvSpPr>
          <p:cNvPr id="24" name="Connector-138"/>
          <p:cNvSpPr/>
          <p:nvPr/>
        </p:nvSpPr>
        <p:spPr>
          <a:xfrm>
            <a:off x="2578608" y="4434840"/>
            <a:ext cx="192024" cy="91"/>
          </a:xfrm>
          <a:prstGeom prst="line">
            <a:avLst/>
          </a:prstGeom>
          <a:noFill/>
          <a:ln w="22225">
            <a:solidFill>
              <a:schemeClr val="tx2"/>
            </a:solidFill>
            <a:prstDash val="solid"/>
            <a:tailEnd type="triangle"/>
          </a:ln>
        </p:spPr>
      </p:sp>
      <p:sp>
        <p:nvSpPr>
          <p:cNvPr id="25" name="Card-139"/>
          <p:cNvSpPr/>
          <p:nvPr/>
        </p:nvSpPr>
        <p:spPr>
          <a:xfrm>
            <a:off x="2788920" y="2267712"/>
            <a:ext cx="6583680" cy="2468880"/>
          </a:xfrm>
          <a:prstGeom prst="roundRect">
            <a:avLst>
              <a:gd name="adj" fmla="val 3704"/>
            </a:avLst>
          </a:prstGeom>
          <a:solidFill>
            <a:srgbClr val="F7F1FF"/>
          </a:solidFill>
          <a:ln w="19050">
            <a:solidFill>
              <a:srgbClr val="9B5DE5"/>
            </a:solidFill>
            <a:prstDash val="solid"/>
          </a:ln>
        </p:spPr>
      </p:sp>
      <p:sp>
        <p:nvSpPr>
          <p:cNvPr id="26" name="Text-140"/>
          <p:cNvSpPr txBox="1"/>
          <p:nvPr/>
        </p:nvSpPr>
        <p:spPr>
          <a:xfrm>
            <a:off x="2926080" y="2340864"/>
            <a:ext cx="6309360" cy="274320"/>
          </a:xfrm>
          <a:prstGeom prst="rect">
            <a:avLst/>
          </a:prstGeom>
          <a:noFill/>
          <a:ln/>
        </p:spPr>
        <p:txBody>
          <a:bodyPr wrap="square" lIns="0" tIns="0" rIns="0" bIns="0" rtlCol="0" anchor="t"/>
          <a:lstStyle/>
          <a:p>
            <a:pPr algn="ctr" indent="0" marL="0">
              <a:buNone/>
            </a:pPr>
            <a:r>
              <a:rPr lang="en-US" sz="1200" b="1" dirty="0">
                <a:solidFill>
                  <a:schemeClr val="accent5"/>
                </a:solidFill>
              </a:rPr>
              <a:t>Orchestrator · one shared workspace · bounded revision loop</a:t>
            </a:r>
            <a:endParaRPr lang="en-US" sz="1200" dirty="0"/>
          </a:p>
        </p:txBody>
      </p:sp>
      <p:sp>
        <p:nvSpPr>
          <p:cNvPr id="27" name="Card-141"/>
          <p:cNvSpPr/>
          <p:nvPr/>
        </p:nvSpPr>
        <p:spPr>
          <a:xfrm>
            <a:off x="2926080" y="2697480"/>
            <a:ext cx="1115568" cy="1261872"/>
          </a:xfrm>
          <a:prstGeom prst="roundRect">
            <a:avLst>
              <a:gd name="adj" fmla="val 6557"/>
            </a:avLst>
          </a:prstGeom>
          <a:solidFill>
            <a:schemeClr val="bg1"/>
          </a:solidFill>
          <a:ln w="12700">
            <a:solidFill>
              <a:srgbClr val="D9DBE3"/>
            </a:solidFill>
            <a:prstDash val="solid"/>
          </a:ln>
        </p:spPr>
      </p:sp>
      <p:pic>
        <p:nvPicPr>
          <p:cNvPr id="28" name="Badge planner-142" descr="planner icon">    </p:cNvPr>
          <p:cNvPicPr>
            <a:picLocks noChangeAspect="1"/>
          </p:cNvPicPr>
          <p:nvPr/>
        </p:nvPicPr>
        <p:blipFill>
          <a:blip r:embed="rId1"/>
          <a:stretch>
            <a:fillRect/>
          </a:stretch>
        </p:blipFill>
        <p:spPr>
          <a:xfrm>
            <a:off x="3273552" y="2761488"/>
            <a:ext cx="420624" cy="420624"/>
          </a:xfrm>
          <a:prstGeom prst="rect">
            <a:avLst/>
          </a:prstGeom>
        </p:spPr>
      </p:pic>
      <p:sp>
        <p:nvSpPr>
          <p:cNvPr id="29" name="Text-143"/>
          <p:cNvSpPr txBox="1"/>
          <p:nvPr/>
        </p:nvSpPr>
        <p:spPr>
          <a:xfrm>
            <a:off x="2962656" y="3200400"/>
            <a:ext cx="1042416" cy="411480"/>
          </a:xfrm>
          <a:prstGeom prst="rect">
            <a:avLst/>
          </a:prstGeom>
          <a:noFill/>
          <a:ln/>
        </p:spPr>
        <p:txBody>
          <a:bodyPr wrap="square" lIns="0" tIns="0" rIns="0" bIns="0" rtlCol="0" anchor="ctr"/>
          <a:lstStyle/>
          <a:p>
            <a:pPr algn="ctr" indent="0" marL="0">
              <a:buNone/>
            </a:pPr>
            <a:r>
              <a:rPr lang="en-US" sz="1050" b="1" dirty="0">
                <a:solidFill>
                  <a:schemeClr val="tx1"/>
                </a:solidFill>
              </a:rPr>
              <a:t>Planner</a:t>
            </a:r>
            <a:endParaRPr lang="en-US" sz="1050" dirty="0"/>
          </a:p>
        </p:txBody>
      </p:sp>
      <p:sp>
        <p:nvSpPr>
          <p:cNvPr id="30" name="Text-144"/>
          <p:cNvSpPr txBox="1"/>
          <p:nvPr/>
        </p:nvSpPr>
        <p:spPr>
          <a:xfrm>
            <a:off x="2962656" y="3611880"/>
            <a:ext cx="1042416" cy="274320"/>
          </a:xfrm>
          <a:prstGeom prst="rect">
            <a:avLst/>
          </a:prstGeom>
          <a:noFill/>
          <a:ln/>
        </p:spPr>
        <p:txBody>
          <a:bodyPr wrap="square" lIns="0" tIns="0" rIns="0" bIns="0" rtlCol="0" anchor="t"/>
          <a:lstStyle/>
          <a:p>
            <a:pPr algn="ctr" indent="0" marL="0">
              <a:buNone/>
            </a:pPr>
            <a:r>
              <a:rPr lang="en-US" sz="950" b="1" dirty="0">
                <a:solidFill>
                  <a:schemeClr val="accent5"/>
                </a:solidFill>
              </a:rPr>
              <a:t>AI model</a:t>
            </a:r>
            <a:endParaRPr lang="en-US" sz="950" dirty="0"/>
          </a:p>
        </p:txBody>
      </p:sp>
      <p:sp>
        <p:nvSpPr>
          <p:cNvPr id="31" name="Connector-145"/>
          <p:cNvSpPr/>
          <p:nvPr/>
        </p:nvSpPr>
        <p:spPr>
          <a:xfrm>
            <a:off x="4050792" y="3328416"/>
            <a:ext cx="146304" cy="91"/>
          </a:xfrm>
          <a:prstGeom prst="line">
            <a:avLst/>
          </a:prstGeom>
          <a:noFill/>
          <a:ln w="19050">
            <a:solidFill>
              <a:schemeClr val="tx2"/>
            </a:solidFill>
            <a:prstDash val="solid"/>
            <a:tailEnd type="triangle"/>
          </a:ln>
        </p:spPr>
      </p:sp>
      <p:sp>
        <p:nvSpPr>
          <p:cNvPr id="32" name="Card-146"/>
          <p:cNvSpPr/>
          <p:nvPr/>
        </p:nvSpPr>
        <p:spPr>
          <a:xfrm>
            <a:off x="4206240" y="2697480"/>
            <a:ext cx="1115568" cy="1261872"/>
          </a:xfrm>
          <a:prstGeom prst="roundRect">
            <a:avLst>
              <a:gd name="adj" fmla="val 6557"/>
            </a:avLst>
          </a:prstGeom>
          <a:solidFill>
            <a:schemeClr val="bg1"/>
          </a:solidFill>
          <a:ln w="12700">
            <a:solidFill>
              <a:srgbClr val="D9DBE3"/>
            </a:solidFill>
            <a:prstDash val="solid"/>
          </a:ln>
        </p:spPr>
      </p:sp>
      <p:pic>
        <p:nvPicPr>
          <p:cNvPr id="33" name="Badge research-147" descr="research icon">    </p:cNvPr>
          <p:cNvPicPr>
            <a:picLocks noChangeAspect="1"/>
          </p:cNvPicPr>
          <p:nvPr/>
        </p:nvPicPr>
        <p:blipFill>
          <a:blip r:embed="rId2"/>
          <a:stretch>
            <a:fillRect/>
          </a:stretch>
        </p:blipFill>
        <p:spPr>
          <a:xfrm>
            <a:off x="4553712" y="2761488"/>
            <a:ext cx="420624" cy="420624"/>
          </a:xfrm>
          <a:prstGeom prst="rect">
            <a:avLst/>
          </a:prstGeom>
        </p:spPr>
      </p:pic>
      <p:sp>
        <p:nvSpPr>
          <p:cNvPr id="34" name="Text-148"/>
          <p:cNvSpPr txBox="1"/>
          <p:nvPr/>
        </p:nvSpPr>
        <p:spPr>
          <a:xfrm>
            <a:off x="4242816" y="3200400"/>
            <a:ext cx="1042416" cy="411480"/>
          </a:xfrm>
          <a:prstGeom prst="rect">
            <a:avLst/>
          </a:prstGeom>
          <a:noFill/>
          <a:ln/>
        </p:spPr>
        <p:txBody>
          <a:bodyPr wrap="square" lIns="0" tIns="0" rIns="0" bIns="0" rtlCol="0" anchor="ctr"/>
          <a:lstStyle/>
          <a:p>
            <a:pPr algn="ctr" indent="0" marL="0">
              <a:buNone/>
            </a:pPr>
            <a:r>
              <a:rPr lang="en-US" sz="1050" b="1" dirty="0">
                <a:solidFill>
                  <a:schemeClr val="tx1"/>
                </a:solidFill>
              </a:rPr>
              <a:t>Race Research</a:t>
            </a:r>
            <a:endParaRPr lang="en-US" sz="1050" dirty="0"/>
          </a:p>
        </p:txBody>
      </p:sp>
      <p:sp>
        <p:nvSpPr>
          <p:cNvPr id="35" name="Text-149"/>
          <p:cNvSpPr txBox="1"/>
          <p:nvPr/>
        </p:nvSpPr>
        <p:spPr>
          <a:xfrm>
            <a:off x="4242816" y="3611880"/>
            <a:ext cx="1042416" cy="274320"/>
          </a:xfrm>
          <a:prstGeom prst="rect">
            <a:avLst/>
          </a:prstGeom>
          <a:noFill/>
          <a:ln/>
        </p:spPr>
        <p:txBody>
          <a:bodyPr wrap="square" lIns="0" tIns="0" rIns="0" bIns="0" rtlCol="0" anchor="t"/>
          <a:lstStyle/>
          <a:p>
            <a:pPr algn="ctr" indent="0" marL="0">
              <a:buNone/>
            </a:pPr>
            <a:r>
              <a:rPr lang="en-US" sz="950" dirty="0">
                <a:solidFill>
                  <a:schemeClr val="tx2"/>
                </a:solidFill>
              </a:rPr>
              <a:t>Python tools</a:t>
            </a:r>
            <a:endParaRPr lang="en-US" sz="950" dirty="0"/>
          </a:p>
        </p:txBody>
      </p:sp>
      <p:sp>
        <p:nvSpPr>
          <p:cNvPr id="36" name="Connector-150"/>
          <p:cNvSpPr/>
          <p:nvPr/>
        </p:nvSpPr>
        <p:spPr>
          <a:xfrm>
            <a:off x="5330952" y="3328416"/>
            <a:ext cx="146304" cy="91"/>
          </a:xfrm>
          <a:prstGeom prst="line">
            <a:avLst/>
          </a:prstGeom>
          <a:noFill/>
          <a:ln w="19050">
            <a:solidFill>
              <a:schemeClr val="tx2"/>
            </a:solidFill>
            <a:prstDash val="solid"/>
            <a:tailEnd type="triangle"/>
          </a:ln>
        </p:spPr>
      </p:sp>
      <p:sp>
        <p:nvSpPr>
          <p:cNvPr id="37" name="Card-151"/>
          <p:cNvSpPr/>
          <p:nvPr/>
        </p:nvSpPr>
        <p:spPr>
          <a:xfrm>
            <a:off x="5486400" y="2697480"/>
            <a:ext cx="1115568" cy="1261872"/>
          </a:xfrm>
          <a:prstGeom prst="roundRect">
            <a:avLst>
              <a:gd name="adj" fmla="val 6557"/>
            </a:avLst>
          </a:prstGeom>
          <a:solidFill>
            <a:schemeClr val="bg1"/>
          </a:solidFill>
          <a:ln w="12700">
            <a:solidFill>
              <a:srgbClr val="D9DBE3"/>
            </a:solidFill>
            <a:prstDash val="solid"/>
          </a:ln>
        </p:spPr>
      </p:sp>
      <p:pic>
        <p:nvPicPr>
          <p:cNvPr id="38" name="Badge executor-152" descr="executor icon">    </p:cNvPr>
          <p:cNvPicPr>
            <a:picLocks noChangeAspect="1"/>
          </p:cNvPicPr>
          <p:nvPr/>
        </p:nvPicPr>
        <p:blipFill>
          <a:blip r:embed="rId3"/>
          <a:stretch>
            <a:fillRect/>
          </a:stretch>
        </p:blipFill>
        <p:spPr>
          <a:xfrm>
            <a:off x="5833872" y="2761488"/>
            <a:ext cx="420624" cy="420624"/>
          </a:xfrm>
          <a:prstGeom prst="rect">
            <a:avLst/>
          </a:prstGeom>
        </p:spPr>
      </p:pic>
      <p:sp>
        <p:nvSpPr>
          <p:cNvPr id="39" name="Text-153"/>
          <p:cNvSpPr txBox="1"/>
          <p:nvPr/>
        </p:nvSpPr>
        <p:spPr>
          <a:xfrm>
            <a:off x="5522976" y="3200400"/>
            <a:ext cx="1042416" cy="411480"/>
          </a:xfrm>
          <a:prstGeom prst="rect">
            <a:avLst/>
          </a:prstGeom>
          <a:noFill/>
          <a:ln/>
        </p:spPr>
        <p:txBody>
          <a:bodyPr wrap="square" lIns="0" tIns="0" rIns="0" bIns="0" rtlCol="0" anchor="ctr"/>
          <a:lstStyle/>
          <a:p>
            <a:pPr algn="ctr" indent="0" marL="0">
              <a:buNone/>
            </a:pPr>
            <a:r>
              <a:rPr lang="en-US" sz="1050" b="1" dirty="0">
                <a:solidFill>
                  <a:schemeClr val="tx1"/>
                </a:solidFill>
              </a:rPr>
              <a:t>Strategy Executor</a:t>
            </a:r>
            <a:endParaRPr lang="en-US" sz="1050" dirty="0"/>
          </a:p>
        </p:txBody>
      </p:sp>
      <p:sp>
        <p:nvSpPr>
          <p:cNvPr id="40" name="Text-154"/>
          <p:cNvSpPr txBox="1"/>
          <p:nvPr/>
        </p:nvSpPr>
        <p:spPr>
          <a:xfrm>
            <a:off x="5522976" y="3611880"/>
            <a:ext cx="1042416" cy="274320"/>
          </a:xfrm>
          <a:prstGeom prst="rect">
            <a:avLst/>
          </a:prstGeom>
          <a:noFill/>
          <a:ln/>
        </p:spPr>
        <p:txBody>
          <a:bodyPr wrap="square" lIns="0" tIns="0" rIns="0" bIns="0" rtlCol="0" anchor="t"/>
          <a:lstStyle/>
          <a:p>
            <a:pPr algn="ctr" indent="0" marL="0">
              <a:buNone/>
            </a:pPr>
            <a:r>
              <a:rPr lang="en-US" sz="950" dirty="0">
                <a:solidFill>
                  <a:schemeClr val="tx2"/>
                </a:solidFill>
              </a:rPr>
              <a:t>Python simulator</a:t>
            </a:r>
            <a:endParaRPr lang="en-US" sz="950" dirty="0"/>
          </a:p>
        </p:txBody>
      </p:sp>
      <p:sp>
        <p:nvSpPr>
          <p:cNvPr id="41" name="Connector-155"/>
          <p:cNvSpPr/>
          <p:nvPr/>
        </p:nvSpPr>
        <p:spPr>
          <a:xfrm>
            <a:off x="6611112" y="3328416"/>
            <a:ext cx="146304" cy="91"/>
          </a:xfrm>
          <a:prstGeom prst="line">
            <a:avLst/>
          </a:prstGeom>
          <a:noFill/>
          <a:ln w="19050">
            <a:solidFill>
              <a:schemeClr val="tx2"/>
            </a:solidFill>
            <a:prstDash val="solid"/>
            <a:tailEnd type="triangle"/>
          </a:ln>
        </p:spPr>
      </p:sp>
      <p:sp>
        <p:nvSpPr>
          <p:cNvPr id="42" name="Card-156"/>
          <p:cNvSpPr/>
          <p:nvPr/>
        </p:nvSpPr>
        <p:spPr>
          <a:xfrm>
            <a:off x="6766560" y="2697480"/>
            <a:ext cx="1115568" cy="1261872"/>
          </a:xfrm>
          <a:prstGeom prst="roundRect">
            <a:avLst>
              <a:gd name="adj" fmla="val 6557"/>
            </a:avLst>
          </a:prstGeom>
          <a:solidFill>
            <a:schemeClr val="bg1"/>
          </a:solidFill>
          <a:ln w="12700">
            <a:solidFill>
              <a:srgbClr val="D9DBE3"/>
            </a:solidFill>
            <a:prstDash val="solid"/>
          </a:ln>
        </p:spPr>
      </p:sp>
      <p:pic>
        <p:nvPicPr>
          <p:cNvPr id="43" name="Badge critic-157" descr="critic icon">    </p:cNvPr>
          <p:cNvPicPr>
            <a:picLocks noChangeAspect="1"/>
          </p:cNvPicPr>
          <p:nvPr/>
        </p:nvPicPr>
        <p:blipFill>
          <a:blip r:embed="rId4"/>
          <a:stretch>
            <a:fillRect/>
          </a:stretch>
        </p:blipFill>
        <p:spPr>
          <a:xfrm>
            <a:off x="7114032" y="2761488"/>
            <a:ext cx="420624" cy="420624"/>
          </a:xfrm>
          <a:prstGeom prst="rect">
            <a:avLst/>
          </a:prstGeom>
        </p:spPr>
      </p:pic>
      <p:sp>
        <p:nvSpPr>
          <p:cNvPr id="44" name="Text-158"/>
          <p:cNvSpPr txBox="1"/>
          <p:nvPr/>
        </p:nvSpPr>
        <p:spPr>
          <a:xfrm>
            <a:off x="6803136" y="3200400"/>
            <a:ext cx="1042416" cy="411480"/>
          </a:xfrm>
          <a:prstGeom prst="rect">
            <a:avLst/>
          </a:prstGeom>
          <a:noFill/>
          <a:ln/>
        </p:spPr>
        <p:txBody>
          <a:bodyPr wrap="square" lIns="0" tIns="0" rIns="0" bIns="0" rtlCol="0" anchor="ctr"/>
          <a:lstStyle/>
          <a:p>
            <a:pPr algn="ctr" indent="0" marL="0">
              <a:buNone/>
            </a:pPr>
            <a:r>
              <a:rPr lang="en-US" sz="1050" b="1" dirty="0">
                <a:solidFill>
                  <a:schemeClr val="tx1"/>
                </a:solidFill>
              </a:rPr>
              <a:t>Strategy Critic</a:t>
            </a:r>
            <a:endParaRPr lang="en-US" sz="1050" dirty="0"/>
          </a:p>
        </p:txBody>
      </p:sp>
      <p:sp>
        <p:nvSpPr>
          <p:cNvPr id="45" name="Text-159"/>
          <p:cNvSpPr txBox="1"/>
          <p:nvPr/>
        </p:nvSpPr>
        <p:spPr>
          <a:xfrm>
            <a:off x="6803136" y="3611880"/>
            <a:ext cx="1042416" cy="274320"/>
          </a:xfrm>
          <a:prstGeom prst="rect">
            <a:avLst/>
          </a:prstGeom>
          <a:noFill/>
          <a:ln/>
        </p:spPr>
        <p:txBody>
          <a:bodyPr wrap="square" lIns="0" tIns="0" rIns="0" bIns="0" rtlCol="0" anchor="t"/>
          <a:lstStyle/>
          <a:p>
            <a:pPr algn="ctr" indent="0" marL="0">
              <a:buNone/>
            </a:pPr>
            <a:r>
              <a:rPr lang="en-US" sz="950" dirty="0">
                <a:solidFill>
                  <a:schemeClr val="tx2"/>
                </a:solidFill>
              </a:rPr>
              <a:t>Rules</a:t>
            </a:r>
            <a:endParaRPr lang="en-US" sz="950" dirty="0"/>
          </a:p>
        </p:txBody>
      </p:sp>
      <p:sp>
        <p:nvSpPr>
          <p:cNvPr id="46" name="Connector-160"/>
          <p:cNvSpPr/>
          <p:nvPr/>
        </p:nvSpPr>
        <p:spPr>
          <a:xfrm>
            <a:off x="7891272" y="3328416"/>
            <a:ext cx="146304" cy="91"/>
          </a:xfrm>
          <a:prstGeom prst="line">
            <a:avLst/>
          </a:prstGeom>
          <a:noFill/>
          <a:ln w="19050">
            <a:solidFill>
              <a:schemeClr val="tx2"/>
            </a:solidFill>
            <a:prstDash val="solid"/>
            <a:tailEnd type="triangle"/>
          </a:ln>
        </p:spPr>
      </p:sp>
      <p:sp>
        <p:nvSpPr>
          <p:cNvPr id="47" name="Card-161"/>
          <p:cNvSpPr/>
          <p:nvPr/>
        </p:nvSpPr>
        <p:spPr>
          <a:xfrm>
            <a:off x="8046720" y="2697480"/>
            <a:ext cx="1115568" cy="1261872"/>
          </a:xfrm>
          <a:prstGeom prst="roundRect">
            <a:avLst>
              <a:gd name="adj" fmla="val 6557"/>
            </a:avLst>
          </a:prstGeom>
          <a:solidFill>
            <a:schemeClr val="bg1"/>
          </a:solidFill>
          <a:ln w="12700">
            <a:solidFill>
              <a:srgbClr val="D9DBE3"/>
            </a:solidFill>
            <a:prstDash val="solid"/>
          </a:ln>
        </p:spPr>
      </p:sp>
      <p:pic>
        <p:nvPicPr>
          <p:cNvPr id="48" name="Badge ops-162" descr="ops icon">    </p:cNvPr>
          <p:cNvPicPr>
            <a:picLocks noChangeAspect="1"/>
          </p:cNvPicPr>
          <p:nvPr/>
        </p:nvPicPr>
        <p:blipFill>
          <a:blip r:embed="rId5"/>
          <a:stretch>
            <a:fillRect/>
          </a:stretch>
        </p:blipFill>
        <p:spPr>
          <a:xfrm>
            <a:off x="8394192" y="2761488"/>
            <a:ext cx="420624" cy="420624"/>
          </a:xfrm>
          <a:prstGeom prst="rect">
            <a:avLst/>
          </a:prstGeom>
        </p:spPr>
      </p:pic>
      <p:sp>
        <p:nvSpPr>
          <p:cNvPr id="49" name="Text-163"/>
          <p:cNvSpPr txBox="1"/>
          <p:nvPr/>
        </p:nvSpPr>
        <p:spPr>
          <a:xfrm>
            <a:off x="8083296" y="3200400"/>
            <a:ext cx="1042416" cy="411480"/>
          </a:xfrm>
          <a:prstGeom prst="rect">
            <a:avLst/>
          </a:prstGeom>
          <a:noFill/>
          <a:ln/>
        </p:spPr>
        <p:txBody>
          <a:bodyPr wrap="square" lIns="0" tIns="0" rIns="0" bIns="0" rtlCol="0" anchor="ctr"/>
          <a:lstStyle/>
          <a:p>
            <a:pPr algn="ctr" indent="0" marL="0">
              <a:buNone/>
            </a:pPr>
            <a:r>
              <a:rPr lang="en-US" sz="1050" b="1" dirty="0">
                <a:solidFill>
                  <a:schemeClr val="tx1"/>
                </a:solidFill>
              </a:rPr>
              <a:t>Pit Wall Operations</a:t>
            </a:r>
            <a:endParaRPr lang="en-US" sz="1050" dirty="0"/>
          </a:p>
        </p:txBody>
      </p:sp>
      <p:sp>
        <p:nvSpPr>
          <p:cNvPr id="50" name="Text-164"/>
          <p:cNvSpPr txBox="1"/>
          <p:nvPr/>
        </p:nvSpPr>
        <p:spPr>
          <a:xfrm>
            <a:off x="8083296" y="3611880"/>
            <a:ext cx="1042416" cy="274320"/>
          </a:xfrm>
          <a:prstGeom prst="rect">
            <a:avLst/>
          </a:prstGeom>
          <a:noFill/>
          <a:ln/>
        </p:spPr>
        <p:txBody>
          <a:bodyPr wrap="square" lIns="0" tIns="0" rIns="0" bIns="0" rtlCol="0" anchor="t"/>
          <a:lstStyle/>
          <a:p>
            <a:pPr algn="ctr" indent="0" marL="0">
              <a:buNone/>
            </a:pPr>
            <a:r>
              <a:rPr lang="en-US" sz="950" b="1" dirty="0">
                <a:solidFill>
                  <a:schemeClr val="accent5"/>
                </a:solidFill>
              </a:rPr>
              <a:t>AI model</a:t>
            </a:r>
            <a:endParaRPr lang="en-US" sz="950" dirty="0"/>
          </a:p>
        </p:txBody>
      </p:sp>
      <p:sp>
        <p:nvSpPr>
          <p:cNvPr id="51" name="Revision loop-165"/>
          <p:cNvSpPr/>
          <p:nvPr/>
        </p:nvSpPr>
        <p:spPr>
          <a:xfrm>
            <a:off x="7178040" y="3968496"/>
            <a:ext cx="91" cy="256032"/>
          </a:xfrm>
          <a:prstGeom prst="line">
            <a:avLst/>
          </a:prstGeom>
          <a:noFill/>
          <a:ln w="22225">
            <a:solidFill>
              <a:schemeClr val="accent1"/>
            </a:solidFill>
            <a:prstDash val="dash"/>
          </a:ln>
        </p:spPr>
      </p:sp>
      <p:sp>
        <p:nvSpPr>
          <p:cNvPr id="52" name="Revision loop-166"/>
          <p:cNvSpPr/>
          <p:nvPr/>
        </p:nvSpPr>
        <p:spPr>
          <a:xfrm flipH="1">
            <a:off x="3200400" y="4224528"/>
            <a:ext cx="3977640" cy="91"/>
          </a:xfrm>
          <a:prstGeom prst="line">
            <a:avLst/>
          </a:prstGeom>
          <a:noFill/>
          <a:ln w="22225">
            <a:solidFill>
              <a:schemeClr val="accent1"/>
            </a:solidFill>
            <a:prstDash val="dash"/>
          </a:ln>
        </p:spPr>
      </p:sp>
      <p:sp>
        <p:nvSpPr>
          <p:cNvPr id="53" name="Revision loop-167"/>
          <p:cNvSpPr/>
          <p:nvPr/>
        </p:nvSpPr>
        <p:spPr>
          <a:xfrm flipV="1">
            <a:off x="3200400" y="3977640"/>
            <a:ext cx="91" cy="246888"/>
          </a:xfrm>
          <a:prstGeom prst="line">
            <a:avLst/>
          </a:prstGeom>
          <a:noFill/>
          <a:ln w="22225">
            <a:solidFill>
              <a:schemeClr val="accent1"/>
            </a:solidFill>
            <a:prstDash val="dash"/>
            <a:tailEnd type="triangle"/>
          </a:ln>
        </p:spPr>
      </p:sp>
      <p:sp>
        <p:nvSpPr>
          <p:cNvPr id="54" name="Text-168"/>
          <p:cNvSpPr txBox="1"/>
          <p:nvPr/>
        </p:nvSpPr>
        <p:spPr>
          <a:xfrm>
            <a:off x="3886200" y="4279392"/>
            <a:ext cx="2057400" cy="384048"/>
          </a:xfrm>
          <a:prstGeom prst="rect">
            <a:avLst/>
          </a:prstGeom>
          <a:noFill/>
          <a:ln/>
        </p:spPr>
        <p:txBody>
          <a:bodyPr wrap="square" lIns="0" tIns="0" rIns="0" bIns="0" rtlCol="0" anchor="t"/>
          <a:lstStyle/>
          <a:p>
            <a:pPr algn="ctr" indent="0" marL="0">
              <a:buNone/>
            </a:pPr>
            <a:r>
              <a:rPr lang="en-US" sz="1050" b="1" dirty="0">
                <a:solidFill>
                  <a:schemeClr val="accent1"/>
                </a:solidFill>
              </a:rPr>
              <a:t>Critic sends work back: new plan or re-run (max 2)</a:t>
            </a:r>
            <a:endParaRPr lang="en-US" sz="1050" dirty="0"/>
          </a:p>
        </p:txBody>
      </p:sp>
      <p:sp>
        <p:nvSpPr>
          <p:cNvPr id="55" name="Text-169"/>
          <p:cNvSpPr txBox="1"/>
          <p:nvPr/>
        </p:nvSpPr>
        <p:spPr>
          <a:xfrm>
            <a:off x="9646920" y="1938528"/>
            <a:ext cx="2011680" cy="274320"/>
          </a:xfrm>
          <a:prstGeom prst="rect">
            <a:avLst/>
          </a:prstGeom>
          <a:noFill/>
          <a:ln/>
        </p:spPr>
        <p:txBody>
          <a:bodyPr wrap="square" lIns="0" tIns="0" rIns="0" bIns="0" rtlCol="0" anchor="t"/>
          <a:lstStyle/>
          <a:p>
            <a:pPr algn="l" indent="0" marL="0">
              <a:buNone/>
            </a:pPr>
            <a:r>
              <a:rPr lang="en-US" sz="1200" b="1" dirty="0">
                <a:solidFill>
                  <a:schemeClr val="tx2"/>
                </a:solidFill>
              </a:rPr>
              <a:t>Outputs</a:t>
            </a:r>
            <a:endParaRPr lang="en-US" sz="1200" dirty="0"/>
          </a:p>
        </p:txBody>
      </p:sp>
      <p:sp>
        <p:nvSpPr>
          <p:cNvPr id="56" name="Card-170"/>
          <p:cNvSpPr/>
          <p:nvPr/>
        </p:nvSpPr>
        <p:spPr>
          <a:xfrm>
            <a:off x="9646920" y="2377440"/>
            <a:ext cx="2011680" cy="566928"/>
          </a:xfrm>
          <a:prstGeom prst="roundRect">
            <a:avLst>
              <a:gd name="adj" fmla="val 12903"/>
            </a:avLst>
          </a:prstGeom>
          <a:solidFill>
            <a:schemeClr val="bg2"/>
          </a:solidFill>
          <a:ln/>
        </p:spPr>
      </p:sp>
      <p:sp>
        <p:nvSpPr>
          <p:cNvPr id="57" name="Text-171"/>
          <p:cNvSpPr txBox="1"/>
          <p:nvPr/>
        </p:nvSpPr>
        <p:spPr>
          <a:xfrm>
            <a:off x="9738360" y="2432304"/>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Call + team radio</a:t>
            </a:r>
            <a:endParaRPr lang="en-US" sz="1200" dirty="0"/>
          </a:p>
        </p:txBody>
      </p:sp>
      <p:sp>
        <p:nvSpPr>
          <p:cNvPr id="58" name="Text-172"/>
          <p:cNvSpPr txBox="1"/>
          <p:nvPr/>
        </p:nvSpPr>
        <p:spPr>
          <a:xfrm>
            <a:off x="9738360" y="2706624"/>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risk, margin, explanation</a:t>
            </a:r>
            <a:endParaRPr lang="en-US" sz="1050" dirty="0"/>
          </a:p>
        </p:txBody>
      </p:sp>
      <p:sp>
        <p:nvSpPr>
          <p:cNvPr id="59" name="Connector-173"/>
          <p:cNvSpPr/>
          <p:nvPr/>
        </p:nvSpPr>
        <p:spPr>
          <a:xfrm>
            <a:off x="9390888" y="2660904"/>
            <a:ext cx="237744" cy="91"/>
          </a:xfrm>
          <a:prstGeom prst="line">
            <a:avLst/>
          </a:prstGeom>
          <a:noFill/>
          <a:ln w="22225">
            <a:solidFill>
              <a:schemeClr val="tx2"/>
            </a:solidFill>
            <a:prstDash val="solid"/>
            <a:tailEnd type="triangle"/>
          </a:ln>
        </p:spPr>
      </p:sp>
      <p:sp>
        <p:nvSpPr>
          <p:cNvPr id="60" name="Card-174"/>
          <p:cNvSpPr/>
          <p:nvPr/>
        </p:nvSpPr>
        <p:spPr>
          <a:xfrm>
            <a:off x="9646920" y="3154680"/>
            <a:ext cx="2011680" cy="566928"/>
          </a:xfrm>
          <a:prstGeom prst="roundRect">
            <a:avLst>
              <a:gd name="adj" fmla="val 12903"/>
            </a:avLst>
          </a:prstGeom>
          <a:solidFill>
            <a:schemeClr val="bg2"/>
          </a:solidFill>
          <a:ln/>
        </p:spPr>
      </p:sp>
      <p:sp>
        <p:nvSpPr>
          <p:cNvPr id="61" name="Text-175"/>
          <p:cNvSpPr txBox="1"/>
          <p:nvPr/>
        </p:nvSpPr>
        <p:spPr>
          <a:xfrm>
            <a:off x="9738360" y="3209544"/>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Decision record</a:t>
            </a:r>
            <a:endParaRPr lang="en-US" sz="1200" dirty="0"/>
          </a:p>
        </p:txBody>
      </p:sp>
      <p:sp>
        <p:nvSpPr>
          <p:cNvPr id="62" name="Text-176"/>
          <p:cNvSpPr txBox="1"/>
          <p:nvPr/>
        </p:nvSpPr>
        <p:spPr>
          <a:xfrm>
            <a:off x="9738360" y="3483864"/>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JSON Lines, JSON/CSV export</a:t>
            </a:r>
            <a:endParaRPr lang="en-US" sz="1050" dirty="0"/>
          </a:p>
        </p:txBody>
      </p:sp>
      <p:sp>
        <p:nvSpPr>
          <p:cNvPr id="63" name="Connector-177"/>
          <p:cNvSpPr/>
          <p:nvPr/>
        </p:nvSpPr>
        <p:spPr>
          <a:xfrm>
            <a:off x="9390888" y="3438144"/>
            <a:ext cx="237744" cy="91"/>
          </a:xfrm>
          <a:prstGeom prst="line">
            <a:avLst/>
          </a:prstGeom>
          <a:noFill/>
          <a:ln w="22225">
            <a:solidFill>
              <a:schemeClr val="tx2"/>
            </a:solidFill>
            <a:prstDash val="solid"/>
            <a:tailEnd type="triangle"/>
          </a:ln>
        </p:spPr>
      </p:sp>
      <p:sp>
        <p:nvSpPr>
          <p:cNvPr id="64" name="Card-178"/>
          <p:cNvSpPr/>
          <p:nvPr/>
        </p:nvSpPr>
        <p:spPr>
          <a:xfrm>
            <a:off x="9646920" y="3931920"/>
            <a:ext cx="2011680" cy="566928"/>
          </a:xfrm>
          <a:prstGeom prst="roundRect">
            <a:avLst>
              <a:gd name="adj" fmla="val 12903"/>
            </a:avLst>
          </a:prstGeom>
          <a:solidFill>
            <a:schemeClr val="bg2"/>
          </a:solidFill>
          <a:ln/>
        </p:spPr>
      </p:sp>
      <p:sp>
        <p:nvSpPr>
          <p:cNvPr id="65" name="Text-179"/>
          <p:cNvSpPr txBox="1"/>
          <p:nvPr/>
        </p:nvSpPr>
        <p:spPr>
          <a:xfrm>
            <a:off x="9738360" y="3986784"/>
            <a:ext cx="1828800" cy="274320"/>
          </a:xfrm>
          <a:prstGeom prst="rect">
            <a:avLst/>
          </a:prstGeom>
          <a:noFill/>
          <a:ln/>
        </p:spPr>
        <p:txBody>
          <a:bodyPr wrap="square" lIns="0" tIns="0" rIns="0" bIns="0" rtlCol="0" anchor="t"/>
          <a:lstStyle/>
          <a:p>
            <a:pPr algn="ctr" indent="0" marL="0">
              <a:buNone/>
            </a:pPr>
            <a:r>
              <a:rPr lang="en-US" sz="1200" b="1" dirty="0">
                <a:solidFill>
                  <a:schemeClr val="tx1"/>
                </a:solidFill>
              </a:rPr>
              <a:t>Reality check</a:t>
            </a:r>
            <a:endParaRPr lang="en-US" sz="1200" dirty="0"/>
          </a:p>
        </p:txBody>
      </p:sp>
      <p:sp>
        <p:nvSpPr>
          <p:cNvPr id="66" name="Text-180"/>
          <p:cNvSpPr txBox="1"/>
          <p:nvPr/>
        </p:nvSpPr>
        <p:spPr>
          <a:xfrm>
            <a:off x="9738360" y="4261104"/>
            <a:ext cx="1828800" cy="182880"/>
          </a:xfrm>
          <a:prstGeom prst="rect">
            <a:avLst/>
          </a:prstGeom>
          <a:noFill/>
          <a:ln/>
        </p:spPr>
        <p:txBody>
          <a:bodyPr wrap="square" lIns="0" tIns="0" rIns="0" bIns="0" rtlCol="0" anchor="t"/>
          <a:lstStyle/>
          <a:p>
            <a:pPr algn="ctr" indent="0" marL="0">
              <a:buNone/>
            </a:pPr>
            <a:r>
              <a:rPr lang="en-US" sz="1050" dirty="0">
                <a:solidFill>
                  <a:schemeClr val="tx1"/>
                </a:solidFill>
              </a:rPr>
              <a:t>vs the team's real strategy</a:t>
            </a:r>
            <a:endParaRPr lang="en-US" sz="1050" dirty="0"/>
          </a:p>
        </p:txBody>
      </p:sp>
      <p:sp>
        <p:nvSpPr>
          <p:cNvPr id="67" name="Connector-181"/>
          <p:cNvSpPr/>
          <p:nvPr/>
        </p:nvSpPr>
        <p:spPr>
          <a:xfrm>
            <a:off x="9390888" y="4215384"/>
            <a:ext cx="237744" cy="91"/>
          </a:xfrm>
          <a:prstGeom prst="line">
            <a:avLst/>
          </a:prstGeom>
          <a:noFill/>
          <a:ln w="22225">
            <a:solidFill>
              <a:schemeClr val="tx2"/>
            </a:solidFill>
            <a:prstDash val="solid"/>
            <a:tailEnd type="triangle"/>
          </a:ln>
        </p:spPr>
      </p:sp>
      <p:sp>
        <p:nvSpPr>
          <p:cNvPr id="68" name="Text-182"/>
          <p:cNvSpPr txBox="1"/>
          <p:nvPr/>
        </p:nvSpPr>
        <p:spPr>
          <a:xfrm>
            <a:off x="9646920" y="4937760"/>
            <a:ext cx="2011680" cy="548640"/>
          </a:xfrm>
          <a:prstGeom prst="rect">
            <a:avLst/>
          </a:prstGeom>
          <a:noFill/>
          <a:ln/>
        </p:spPr>
        <p:txBody>
          <a:bodyPr wrap="square" lIns="0" tIns="0" rIns="0" bIns="0" rtlCol="0" anchor="t"/>
          <a:lstStyle/>
          <a:p>
            <a:pPr algn="l" indent="0" marL="0">
              <a:buNone/>
            </a:pPr>
            <a:r>
              <a:rPr lang="en-US" sz="1100" i="1" dirty="0">
                <a:solidFill>
                  <a:schemeClr val="tx2"/>
                </a:solidFill>
              </a:rPr>
              <a:t>The Critic's rules never come from the AI.</a:t>
            </a:r>
            <a:endParaRPr lang="en-US" sz="1100" dirty="0"/>
          </a:p>
        </p:txBody>
      </p:sp>
      <p:sp>
        <p:nvSpPr>
          <p:cNvPr id="69" name="Card-183"/>
          <p:cNvSpPr/>
          <p:nvPr/>
        </p:nvSpPr>
        <p:spPr>
          <a:xfrm>
            <a:off x="4937760" y="4919472"/>
            <a:ext cx="1828800" cy="566928"/>
          </a:xfrm>
          <a:prstGeom prst="roundRect">
            <a:avLst>
              <a:gd name="adj" fmla="val 12903"/>
            </a:avLst>
          </a:prstGeom>
          <a:solidFill>
            <a:srgbClr val="FFF4CC"/>
          </a:solidFill>
          <a:ln/>
        </p:spPr>
      </p:sp>
      <p:sp>
        <p:nvSpPr>
          <p:cNvPr id="70" name="Text-184"/>
          <p:cNvSpPr txBox="1"/>
          <p:nvPr/>
        </p:nvSpPr>
        <p:spPr>
          <a:xfrm>
            <a:off x="5029200" y="4974336"/>
            <a:ext cx="1645920" cy="274320"/>
          </a:xfrm>
          <a:prstGeom prst="rect">
            <a:avLst/>
          </a:prstGeom>
          <a:noFill/>
          <a:ln/>
        </p:spPr>
        <p:txBody>
          <a:bodyPr wrap="square" lIns="0" tIns="0" rIns="0" bIns="0" rtlCol="0" anchor="t"/>
          <a:lstStyle/>
          <a:p>
            <a:pPr algn="ctr" indent="0" marL="0">
              <a:buNone/>
            </a:pPr>
            <a:r>
              <a:rPr lang="en-US" sz="1200" b="1" dirty="0">
                <a:solidFill>
                  <a:schemeClr val="tx1"/>
                </a:solidFill>
              </a:rPr>
              <a:t>ML tyre model</a:t>
            </a:r>
            <a:endParaRPr lang="en-US" sz="1200" dirty="0"/>
          </a:p>
        </p:txBody>
      </p:sp>
      <p:sp>
        <p:nvSpPr>
          <p:cNvPr id="71" name="Text-185"/>
          <p:cNvSpPr txBox="1"/>
          <p:nvPr/>
        </p:nvSpPr>
        <p:spPr>
          <a:xfrm>
            <a:off x="5029200" y="5248656"/>
            <a:ext cx="1645920" cy="182880"/>
          </a:xfrm>
          <a:prstGeom prst="rect">
            <a:avLst/>
          </a:prstGeom>
          <a:noFill/>
          <a:ln/>
        </p:spPr>
        <p:txBody>
          <a:bodyPr wrap="square" lIns="0" tIns="0" rIns="0" bIns="0" rtlCol="0" anchor="t"/>
          <a:lstStyle/>
          <a:p>
            <a:pPr algn="ctr" indent="0" marL="0">
              <a:buNone/>
            </a:pPr>
            <a:r>
              <a:rPr lang="en-US" sz="1050" dirty="0">
                <a:solidFill>
                  <a:schemeClr val="tx1"/>
                </a:solidFill>
              </a:rPr>
              <a:t>learned tyre-wear curves</a:t>
            </a:r>
            <a:endParaRPr lang="en-US" sz="1050" dirty="0"/>
          </a:p>
        </p:txBody>
      </p:sp>
      <p:sp>
        <p:nvSpPr>
          <p:cNvPr id="72" name="Uses-186"/>
          <p:cNvSpPr/>
          <p:nvPr/>
        </p:nvSpPr>
        <p:spPr>
          <a:xfrm flipV="1">
            <a:off x="6044184" y="3986784"/>
            <a:ext cx="91" cy="914400"/>
          </a:xfrm>
          <a:prstGeom prst="line">
            <a:avLst/>
          </a:prstGeom>
          <a:noFill/>
          <a:ln w="15875">
            <a:solidFill>
              <a:schemeClr val="accent6"/>
            </a:solidFill>
            <a:prstDash val="solid"/>
            <a:tailEnd type="triangle"/>
          </a:ln>
        </p:spPr>
      </p:sp>
      <p:sp>
        <p:nvSpPr>
          <p:cNvPr id="73" name="Card-187"/>
          <p:cNvSpPr/>
          <p:nvPr/>
        </p:nvSpPr>
        <p:spPr>
          <a:xfrm>
            <a:off x="6949440" y="4919472"/>
            <a:ext cx="1737360" cy="566928"/>
          </a:xfrm>
          <a:prstGeom prst="roundRect">
            <a:avLst>
              <a:gd name="adj" fmla="val 12903"/>
            </a:avLst>
          </a:prstGeom>
          <a:solidFill>
            <a:srgbClr val="FFF4CC"/>
          </a:solidFill>
          <a:ln/>
        </p:spPr>
      </p:sp>
      <p:sp>
        <p:nvSpPr>
          <p:cNvPr id="74" name="Text-188"/>
          <p:cNvSpPr txBox="1"/>
          <p:nvPr/>
        </p:nvSpPr>
        <p:spPr>
          <a:xfrm>
            <a:off x="7040880" y="4974336"/>
            <a:ext cx="1554480" cy="274320"/>
          </a:xfrm>
          <a:prstGeom prst="rect">
            <a:avLst/>
          </a:prstGeom>
          <a:noFill/>
          <a:ln/>
        </p:spPr>
        <p:txBody>
          <a:bodyPr wrap="square" lIns="0" tIns="0" rIns="0" bIns="0" rtlCol="0" anchor="t"/>
          <a:lstStyle/>
          <a:p>
            <a:pPr algn="ctr" indent="0" marL="0">
              <a:buNone/>
            </a:pPr>
            <a:r>
              <a:rPr lang="en-US" sz="1200" b="1" dirty="0">
                <a:solidFill>
                  <a:schemeClr val="tx1"/>
                </a:solidFill>
              </a:rPr>
              <a:t>Rules + parameters</a:t>
            </a:r>
            <a:endParaRPr lang="en-US" sz="1200" dirty="0"/>
          </a:p>
        </p:txBody>
      </p:sp>
      <p:sp>
        <p:nvSpPr>
          <p:cNvPr id="75" name="Text-189"/>
          <p:cNvSpPr txBox="1"/>
          <p:nvPr/>
        </p:nvSpPr>
        <p:spPr>
          <a:xfrm>
            <a:off x="7040880" y="5248656"/>
            <a:ext cx="1554480" cy="182880"/>
          </a:xfrm>
          <a:prstGeom prst="rect">
            <a:avLst/>
          </a:prstGeom>
          <a:noFill/>
          <a:ln/>
        </p:spPr>
        <p:txBody>
          <a:bodyPr wrap="square" lIns="0" tIns="0" rIns="0" bIns="0" rtlCol="0" anchor="t"/>
          <a:lstStyle/>
          <a:p>
            <a:pPr algn="ctr" indent="0" marL="0">
              <a:buNone/>
            </a:pPr>
            <a:r>
              <a:rPr lang="en-US" sz="1050" dirty="0">
                <a:solidFill>
                  <a:schemeClr val="tx1"/>
                </a:solidFill>
              </a:rPr>
              <a:t>pitwall/config.py</a:t>
            </a:r>
            <a:endParaRPr lang="en-US" sz="1050" dirty="0"/>
          </a:p>
        </p:txBody>
      </p:sp>
      <p:sp>
        <p:nvSpPr>
          <p:cNvPr id="76" name="Uses-190"/>
          <p:cNvSpPr/>
          <p:nvPr/>
        </p:nvSpPr>
        <p:spPr>
          <a:xfrm flipV="1">
            <a:off x="7498080" y="3986784"/>
            <a:ext cx="91" cy="914400"/>
          </a:xfrm>
          <a:prstGeom prst="line">
            <a:avLst/>
          </a:prstGeom>
          <a:noFill/>
          <a:ln w="15875">
            <a:solidFill>
              <a:schemeClr val="accent6"/>
            </a:solidFill>
            <a:prstDash val="solid"/>
            <a:tailEnd type="triangle"/>
          </a:ln>
        </p:spPr>
      </p:sp>
      <p:sp>
        <p:nvSpPr>
          <p:cNvPr id="77" name="Card-191"/>
          <p:cNvSpPr/>
          <p:nvPr/>
        </p:nvSpPr>
        <p:spPr>
          <a:xfrm>
            <a:off x="2788920" y="5650992"/>
            <a:ext cx="6583680" cy="475488"/>
          </a:xfrm>
          <a:prstGeom prst="roundRect">
            <a:avLst>
              <a:gd name="adj" fmla="val 15385"/>
            </a:avLst>
          </a:prstGeom>
          <a:solidFill>
            <a:srgbClr val="FFF4CC"/>
          </a:solidFill>
          <a:ln/>
        </p:spPr>
      </p:sp>
      <p:sp>
        <p:nvSpPr>
          <p:cNvPr id="78" name="Text-192"/>
          <p:cNvSpPr txBox="1"/>
          <p:nvPr/>
        </p:nvSpPr>
        <p:spPr>
          <a:xfrm>
            <a:off x="2880360" y="5650992"/>
            <a:ext cx="6400800" cy="475488"/>
          </a:xfrm>
          <a:prstGeom prst="rect">
            <a:avLst/>
          </a:prstGeom>
          <a:noFill/>
          <a:ln/>
        </p:spPr>
        <p:txBody>
          <a:bodyPr wrap="square" lIns="0" tIns="0" rIns="0" bIns="0" rtlCol="0" anchor="ctr"/>
          <a:lstStyle/>
          <a:p>
            <a:pPr algn="ctr" indent="0" marL="0">
              <a:buNone/>
            </a:pPr>
            <a:r>
              <a:rPr lang="en-US" sz="1150" b="1" dirty="0">
                <a:solidFill>
                  <a:schemeClr val="tx1"/>
                </a:solidFill>
              </a:rPr>
              <a:t>AI model client  </a:t>
            </a:r>
            <a:pPr algn="ctr" indent="0" marL="0">
              <a:buNone/>
            </a:pPr>
            <a:r>
              <a:rPr lang="en-US" sz="1150" dirty="0">
                <a:solidFill>
                  <a:schemeClr val="tx1"/>
                </a:solidFill>
              </a:rPr>
              <a:t>Groq · Gemini · Ollama through one OpenAI-style client; also powers the chat</a:t>
            </a:r>
            <a:endParaRPr lang="en-US" sz="1150" dirty="0"/>
          </a:p>
        </p:txBody>
      </p:sp>
      <p:sp>
        <p:nvSpPr>
          <p:cNvPr id="79" name="Uses-193"/>
          <p:cNvSpPr/>
          <p:nvPr/>
        </p:nvSpPr>
        <p:spPr>
          <a:xfrm flipV="1">
            <a:off x="3749040" y="3986784"/>
            <a:ext cx="91" cy="1645920"/>
          </a:xfrm>
          <a:prstGeom prst="line">
            <a:avLst/>
          </a:prstGeom>
          <a:noFill/>
          <a:ln w="15875">
            <a:solidFill>
              <a:schemeClr val="accent6"/>
            </a:solidFill>
            <a:prstDash val="solid"/>
            <a:tailEnd type="triangle"/>
          </a:ln>
        </p:spPr>
      </p:sp>
      <p:sp>
        <p:nvSpPr>
          <p:cNvPr id="80" name="Uses-194"/>
          <p:cNvSpPr/>
          <p:nvPr/>
        </p:nvSpPr>
        <p:spPr>
          <a:xfrm flipV="1">
            <a:off x="8915400" y="3986784"/>
            <a:ext cx="91" cy="1645920"/>
          </a:xfrm>
          <a:prstGeom prst="line">
            <a:avLst/>
          </a:prstGeom>
          <a:noFill/>
          <a:ln w="15875">
            <a:solidFill>
              <a:schemeClr val="accent6"/>
            </a:solidFill>
            <a:prstDash val="solid"/>
            <a:tailEnd type="triangle"/>
          </a:ln>
        </p:spPr>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FIVE AGENTS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One job each, one shared workspace</a:t>
            </a:r>
            <a:endParaRPr lang="en-US" sz="3200" dirty="0"/>
          </a:p>
        </p:txBody>
      </p:sp>
      <p:sp>
        <p:nvSpPr>
          <p:cNvPr id="4" name="Card-195"/>
          <p:cNvSpPr/>
          <p:nvPr/>
        </p:nvSpPr>
        <p:spPr>
          <a:xfrm>
            <a:off x="548640" y="1463040"/>
            <a:ext cx="2103120" cy="4526280"/>
          </a:xfrm>
          <a:prstGeom prst="roundRect">
            <a:avLst>
              <a:gd name="adj" fmla="val 5217"/>
            </a:avLst>
          </a:prstGeom>
          <a:solidFill>
            <a:schemeClr val="bg2"/>
          </a:solidFill>
          <a:ln/>
          <a:effectLst>
            <a:outerShdw sx="100000" sy="100000" kx="0" ky="0" algn="bl" rotWithShape="0" blurRad="101600" dist="38100" dir="5400000">
              <a:srgbClr val="000000">
                <a:alpha val="22000"/>
              </a:srgbClr>
            </a:outerShdw>
          </a:effectLst>
        </p:spPr>
      </p:sp>
      <p:pic>
        <p:nvPicPr>
          <p:cNvPr id="5" name="Badge planner-196" descr="planner icon">    </p:cNvPr>
          <p:cNvPicPr>
            <a:picLocks noChangeAspect="1"/>
          </p:cNvPicPr>
          <p:nvPr/>
        </p:nvPicPr>
        <p:blipFill>
          <a:blip r:embed="rId1"/>
          <a:stretch>
            <a:fillRect/>
          </a:stretch>
        </p:blipFill>
        <p:spPr>
          <a:xfrm>
            <a:off x="1234440" y="1691640"/>
            <a:ext cx="731520" cy="731520"/>
          </a:xfrm>
          <a:prstGeom prst="rect">
            <a:avLst/>
          </a:prstGeom>
        </p:spPr>
      </p:pic>
      <p:sp>
        <p:nvSpPr>
          <p:cNvPr id="6" name="Text-197"/>
          <p:cNvSpPr txBox="1"/>
          <p:nvPr/>
        </p:nvSpPr>
        <p:spPr>
          <a:xfrm>
            <a:off x="685800" y="2514600"/>
            <a:ext cx="1828800" cy="548640"/>
          </a:xfrm>
          <a:prstGeom prst="rect">
            <a:avLst/>
          </a:prstGeom>
          <a:noFill/>
          <a:ln/>
        </p:spPr>
        <p:txBody>
          <a:bodyPr wrap="square" lIns="0" tIns="0" rIns="0" bIns="0" rtlCol="0" anchor="ctr"/>
          <a:lstStyle/>
          <a:p>
            <a:pPr algn="ctr" indent="0" marL="0">
              <a:buNone/>
            </a:pPr>
            <a:r>
              <a:rPr lang="en-US" sz="1600" b="1" dirty="0">
                <a:solidFill>
                  <a:schemeClr val="tx1"/>
                </a:solidFill>
              </a:rPr>
              <a:t>Planner</a:t>
            </a:r>
            <a:endParaRPr lang="en-US" sz="1600" dirty="0"/>
          </a:p>
        </p:txBody>
      </p:sp>
      <p:sp>
        <p:nvSpPr>
          <p:cNvPr id="7" name="Chip-198"/>
          <p:cNvSpPr/>
          <p:nvPr/>
        </p:nvSpPr>
        <p:spPr>
          <a:xfrm>
            <a:off x="868680" y="3108960"/>
            <a:ext cx="1463040" cy="274320"/>
          </a:xfrm>
          <a:prstGeom prst="roundRect">
            <a:avLst>
              <a:gd name="adj" fmla="val 56667"/>
            </a:avLst>
          </a:prstGeom>
          <a:solidFill>
            <a:schemeClr val="accent5"/>
          </a:solidFill>
          <a:ln/>
        </p:spPr>
      </p:sp>
      <p:sp>
        <p:nvSpPr>
          <p:cNvPr id="8" name="Chip label-199"/>
          <p:cNvSpPr txBox="1"/>
          <p:nvPr/>
        </p:nvSpPr>
        <p:spPr>
          <a:xfrm>
            <a:off x="868680" y="3108960"/>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rPr>
              <a:t>AI model</a:t>
            </a:r>
            <a:endParaRPr lang="en-US" sz="1100" dirty="0"/>
          </a:p>
        </p:txBody>
      </p:sp>
      <p:sp>
        <p:nvSpPr>
          <p:cNvPr id="9" name="Text-200"/>
          <p:cNvSpPr txBox="1"/>
          <p:nvPr/>
        </p:nvSpPr>
        <p:spPr>
          <a:xfrm>
            <a:off x="713232" y="3566160"/>
            <a:ext cx="1773936" cy="1463040"/>
          </a:xfrm>
          <a:prstGeom prst="rect">
            <a:avLst/>
          </a:prstGeom>
          <a:noFill/>
          <a:ln/>
        </p:spPr>
        <p:txBody>
          <a:bodyPr wrap="square" lIns="0" tIns="0" rIns="0" bIns="0" rtlCol="0" anchor="t"/>
          <a:lstStyle/>
          <a:p>
            <a:pPr algn="l" indent="0" marL="0">
              <a:buNone/>
            </a:pPr>
            <a:r>
              <a:rPr lang="en-US" sz="1300" dirty="0">
                <a:solidFill>
                  <a:schemeClr val="tx1"/>
                </a:solidFill>
              </a:rPr>
              <a:t>Reads the race and decides what to analyse and which pit-stop plans to test, including its own custom plans.</a:t>
            </a:r>
            <a:endParaRPr lang="en-US" sz="1300" dirty="0"/>
          </a:p>
        </p:txBody>
      </p:sp>
      <p:sp>
        <p:nvSpPr>
          <p:cNvPr id="10" name="Text-201"/>
          <p:cNvSpPr txBox="1"/>
          <p:nvPr/>
        </p:nvSpPr>
        <p:spPr>
          <a:xfrm>
            <a:off x="713232" y="4983480"/>
            <a:ext cx="1773936" cy="868680"/>
          </a:xfrm>
          <a:prstGeom prst="rect">
            <a:avLst/>
          </a:prstGeom>
          <a:noFill/>
          <a:ln/>
        </p:spPr>
        <p:txBody>
          <a:bodyPr wrap="square" lIns="0" tIns="0" rIns="0" bIns="0" rtlCol="0" anchor="t"/>
          <a:lstStyle/>
          <a:p>
            <a:pPr algn="l" indent="0" marL="0">
              <a:buNone/>
            </a:pPr>
            <a:r>
              <a:rPr lang="en-US" sz="1150" b="1" dirty="0">
                <a:solidFill>
                  <a:schemeClr val="tx2"/>
                </a:solidFill>
              </a:rPr>
              <a:t>Guard rail: </a:t>
            </a:r>
            <a:pPr algn="l" indent="0" marL="0">
              <a:buNone/>
            </a:pPr>
            <a:r>
              <a:rPr lang="en-US" sz="1150" dirty="0">
                <a:solidFill>
                  <a:schemeClr val="tx2"/>
                </a:solidFill>
              </a:rPr>
              <a:t>Unknown tyres dropped; stay out and box now always kept</a:t>
            </a:r>
            <a:endParaRPr lang="en-US" sz="1150" dirty="0"/>
          </a:p>
        </p:txBody>
      </p:sp>
      <p:sp>
        <p:nvSpPr>
          <p:cNvPr id="11" name="Card-202"/>
          <p:cNvSpPr/>
          <p:nvPr/>
        </p:nvSpPr>
        <p:spPr>
          <a:xfrm>
            <a:off x="2802636" y="1463040"/>
            <a:ext cx="2103120" cy="4526280"/>
          </a:xfrm>
          <a:prstGeom prst="roundRect">
            <a:avLst>
              <a:gd name="adj" fmla="val 5217"/>
            </a:avLst>
          </a:prstGeom>
          <a:solidFill>
            <a:schemeClr val="bg2"/>
          </a:solidFill>
          <a:ln/>
          <a:effectLst>
            <a:outerShdw sx="100000" sy="100000" kx="0" ky="0" algn="bl" rotWithShape="0" blurRad="101600" dist="38100" dir="5400000">
              <a:srgbClr val="000000">
                <a:alpha val="22000"/>
              </a:srgbClr>
            </a:outerShdw>
          </a:effectLst>
        </p:spPr>
      </p:sp>
      <p:pic>
        <p:nvPicPr>
          <p:cNvPr id="12" name="Badge research-203" descr="research icon">    </p:cNvPr>
          <p:cNvPicPr>
            <a:picLocks noChangeAspect="1"/>
          </p:cNvPicPr>
          <p:nvPr/>
        </p:nvPicPr>
        <p:blipFill>
          <a:blip r:embed="rId2"/>
          <a:stretch>
            <a:fillRect/>
          </a:stretch>
        </p:blipFill>
        <p:spPr>
          <a:xfrm>
            <a:off x="3488436" y="1691640"/>
            <a:ext cx="731520" cy="731520"/>
          </a:xfrm>
          <a:prstGeom prst="rect">
            <a:avLst/>
          </a:prstGeom>
        </p:spPr>
      </p:pic>
      <p:sp>
        <p:nvSpPr>
          <p:cNvPr id="13" name="Text-204"/>
          <p:cNvSpPr txBox="1"/>
          <p:nvPr/>
        </p:nvSpPr>
        <p:spPr>
          <a:xfrm>
            <a:off x="2939796" y="2514600"/>
            <a:ext cx="1828800" cy="548640"/>
          </a:xfrm>
          <a:prstGeom prst="rect">
            <a:avLst/>
          </a:prstGeom>
          <a:noFill/>
          <a:ln/>
        </p:spPr>
        <p:txBody>
          <a:bodyPr wrap="square" lIns="0" tIns="0" rIns="0" bIns="0" rtlCol="0" anchor="ctr"/>
          <a:lstStyle/>
          <a:p>
            <a:pPr algn="ctr" indent="0" marL="0">
              <a:buNone/>
            </a:pPr>
            <a:r>
              <a:rPr lang="en-US" sz="1600" b="1" dirty="0">
                <a:solidFill>
                  <a:schemeClr val="tx1"/>
                </a:solidFill>
              </a:rPr>
              <a:t>Race Research</a:t>
            </a:r>
            <a:endParaRPr lang="en-US" sz="1600" dirty="0"/>
          </a:p>
        </p:txBody>
      </p:sp>
      <p:sp>
        <p:nvSpPr>
          <p:cNvPr id="14" name="Chip-205"/>
          <p:cNvSpPr/>
          <p:nvPr/>
        </p:nvSpPr>
        <p:spPr>
          <a:xfrm>
            <a:off x="3122676" y="3108960"/>
            <a:ext cx="1463040" cy="274320"/>
          </a:xfrm>
          <a:prstGeom prst="roundRect">
            <a:avLst>
              <a:gd name="adj" fmla="val 56667"/>
            </a:avLst>
          </a:prstGeom>
          <a:solidFill>
            <a:schemeClr val="accent3"/>
          </a:solidFill>
          <a:ln/>
        </p:spPr>
      </p:sp>
      <p:sp>
        <p:nvSpPr>
          <p:cNvPr id="15" name="Chip label-206"/>
          <p:cNvSpPr txBox="1"/>
          <p:nvPr/>
        </p:nvSpPr>
        <p:spPr>
          <a:xfrm>
            <a:off x="3122676" y="3108960"/>
            <a:ext cx="1463040" cy="274320"/>
          </a:xfrm>
          <a:prstGeom prst="rect">
            <a:avLst/>
          </a:prstGeom>
          <a:noFill/>
          <a:ln/>
        </p:spPr>
        <p:txBody>
          <a:bodyPr wrap="square" lIns="0" tIns="0" rIns="0" bIns="0" rtlCol="0" anchor="ctr"/>
          <a:lstStyle/>
          <a:p>
            <a:pPr algn="ctr" indent="0" marL="0">
              <a:buNone/>
            </a:pPr>
            <a:r>
              <a:rPr lang="en-US" sz="1100" b="1" dirty="0">
                <a:solidFill>
                  <a:schemeClr val="tx1"/>
                </a:solidFill>
              </a:rPr>
              <a:t>Python tools</a:t>
            </a:r>
            <a:endParaRPr lang="en-US" sz="1100" dirty="0"/>
          </a:p>
        </p:txBody>
      </p:sp>
      <p:sp>
        <p:nvSpPr>
          <p:cNvPr id="16" name="Text-207"/>
          <p:cNvSpPr txBox="1"/>
          <p:nvPr/>
        </p:nvSpPr>
        <p:spPr>
          <a:xfrm>
            <a:off x="2967228" y="3566160"/>
            <a:ext cx="1773936" cy="1463040"/>
          </a:xfrm>
          <a:prstGeom prst="rect">
            <a:avLst/>
          </a:prstGeom>
          <a:noFill/>
          <a:ln/>
        </p:spPr>
        <p:txBody>
          <a:bodyPr wrap="square" lIns="0" tIns="0" rIns="0" bIns="0" rtlCol="0" anchor="t"/>
          <a:lstStyle/>
          <a:p>
            <a:pPr algn="l" indent="0" marL="0">
              <a:buNone/>
            </a:pPr>
            <a:r>
              <a:rPr lang="en-US" sz="1300" dirty="0">
                <a:solidFill>
                  <a:schemeClr val="tx1"/>
                </a:solidFill>
              </a:rPr>
              <a:t>Measures track status, tyre age and safe life, gaps to other cars and the weather forecast.</a:t>
            </a:r>
            <a:endParaRPr lang="en-US" sz="1300" dirty="0"/>
          </a:p>
        </p:txBody>
      </p:sp>
      <p:sp>
        <p:nvSpPr>
          <p:cNvPr id="17" name="Text-208"/>
          <p:cNvSpPr txBox="1"/>
          <p:nvPr/>
        </p:nvSpPr>
        <p:spPr>
          <a:xfrm>
            <a:off x="2967228" y="4983480"/>
            <a:ext cx="1773936" cy="868680"/>
          </a:xfrm>
          <a:prstGeom prst="rect">
            <a:avLst/>
          </a:prstGeom>
          <a:noFill/>
          <a:ln/>
        </p:spPr>
        <p:txBody>
          <a:bodyPr wrap="square" lIns="0" tIns="0" rIns="0" bIns="0" rtlCol="0" anchor="t"/>
          <a:lstStyle/>
          <a:p>
            <a:pPr algn="l" indent="0" marL="0">
              <a:buNone/>
            </a:pPr>
            <a:r>
              <a:rPr lang="en-US" sz="1150" b="1" dirty="0">
                <a:solidFill>
                  <a:schemeClr val="tx2"/>
                </a:solidFill>
              </a:rPr>
              <a:t>Guard rail: </a:t>
            </a:r>
            <a:pPr algn="l" indent="0" marL="0">
              <a:buNone/>
            </a:pPr>
            <a:r>
              <a:rPr lang="en-US" sz="1150" dirty="0">
                <a:solidFill>
                  <a:schemeClr val="tx2"/>
                </a:solidFill>
              </a:rPr>
              <a:t>Only runs the analyses the plan asks for</a:t>
            </a:r>
            <a:endParaRPr lang="en-US" sz="1150" dirty="0"/>
          </a:p>
        </p:txBody>
      </p:sp>
      <p:sp>
        <p:nvSpPr>
          <p:cNvPr id="18" name="Card-209"/>
          <p:cNvSpPr/>
          <p:nvPr/>
        </p:nvSpPr>
        <p:spPr>
          <a:xfrm>
            <a:off x="5056632" y="1463040"/>
            <a:ext cx="2103120" cy="4526280"/>
          </a:xfrm>
          <a:prstGeom prst="roundRect">
            <a:avLst>
              <a:gd name="adj" fmla="val 5217"/>
            </a:avLst>
          </a:prstGeom>
          <a:solidFill>
            <a:schemeClr val="bg2"/>
          </a:solidFill>
          <a:ln/>
          <a:effectLst>
            <a:outerShdw sx="100000" sy="100000" kx="0" ky="0" algn="bl" rotWithShape="0" blurRad="101600" dist="38100" dir="5400000">
              <a:srgbClr val="000000">
                <a:alpha val="22000"/>
              </a:srgbClr>
            </a:outerShdw>
          </a:effectLst>
        </p:spPr>
      </p:sp>
      <p:pic>
        <p:nvPicPr>
          <p:cNvPr id="19" name="Badge executor-210" descr="executor icon">    </p:cNvPr>
          <p:cNvPicPr>
            <a:picLocks noChangeAspect="1"/>
          </p:cNvPicPr>
          <p:nvPr/>
        </p:nvPicPr>
        <p:blipFill>
          <a:blip r:embed="rId3"/>
          <a:stretch>
            <a:fillRect/>
          </a:stretch>
        </p:blipFill>
        <p:spPr>
          <a:xfrm>
            <a:off x="5742432" y="1691640"/>
            <a:ext cx="731520" cy="731520"/>
          </a:xfrm>
          <a:prstGeom prst="rect">
            <a:avLst/>
          </a:prstGeom>
        </p:spPr>
      </p:pic>
      <p:sp>
        <p:nvSpPr>
          <p:cNvPr id="20" name="Text-211"/>
          <p:cNvSpPr txBox="1"/>
          <p:nvPr/>
        </p:nvSpPr>
        <p:spPr>
          <a:xfrm>
            <a:off x="5193792" y="2514600"/>
            <a:ext cx="1828800" cy="548640"/>
          </a:xfrm>
          <a:prstGeom prst="rect">
            <a:avLst/>
          </a:prstGeom>
          <a:noFill/>
          <a:ln/>
        </p:spPr>
        <p:txBody>
          <a:bodyPr wrap="square" lIns="0" tIns="0" rIns="0" bIns="0" rtlCol="0" anchor="ctr"/>
          <a:lstStyle/>
          <a:p>
            <a:pPr algn="ctr" indent="0" marL="0">
              <a:buNone/>
            </a:pPr>
            <a:r>
              <a:rPr lang="en-US" sz="1600" b="1" dirty="0">
                <a:solidFill>
                  <a:schemeClr val="tx1"/>
                </a:solidFill>
              </a:rPr>
              <a:t>Strategy Executor</a:t>
            </a:r>
            <a:endParaRPr lang="en-US" sz="1600" dirty="0"/>
          </a:p>
        </p:txBody>
      </p:sp>
      <p:sp>
        <p:nvSpPr>
          <p:cNvPr id="21" name="Chip-212"/>
          <p:cNvSpPr/>
          <p:nvPr/>
        </p:nvSpPr>
        <p:spPr>
          <a:xfrm>
            <a:off x="5376672" y="3108960"/>
            <a:ext cx="1463040" cy="274320"/>
          </a:xfrm>
          <a:prstGeom prst="roundRect">
            <a:avLst>
              <a:gd name="adj" fmla="val 56667"/>
            </a:avLst>
          </a:prstGeom>
          <a:solidFill>
            <a:schemeClr val="accent3"/>
          </a:solidFill>
          <a:ln/>
        </p:spPr>
      </p:sp>
      <p:sp>
        <p:nvSpPr>
          <p:cNvPr id="22" name="Chip label-213"/>
          <p:cNvSpPr txBox="1"/>
          <p:nvPr/>
        </p:nvSpPr>
        <p:spPr>
          <a:xfrm>
            <a:off x="5376672" y="3108960"/>
            <a:ext cx="1463040" cy="274320"/>
          </a:xfrm>
          <a:prstGeom prst="rect">
            <a:avLst/>
          </a:prstGeom>
          <a:noFill/>
          <a:ln/>
        </p:spPr>
        <p:txBody>
          <a:bodyPr wrap="square" lIns="0" tIns="0" rIns="0" bIns="0" rtlCol="0" anchor="ctr"/>
          <a:lstStyle/>
          <a:p>
            <a:pPr algn="ctr" indent="0" marL="0">
              <a:buNone/>
            </a:pPr>
            <a:r>
              <a:rPr lang="en-US" sz="1100" b="1" dirty="0">
                <a:solidFill>
                  <a:schemeClr val="tx1"/>
                </a:solidFill>
              </a:rPr>
              <a:t>Python simulator</a:t>
            </a:r>
            <a:endParaRPr lang="en-US" sz="1100" dirty="0"/>
          </a:p>
        </p:txBody>
      </p:sp>
      <p:sp>
        <p:nvSpPr>
          <p:cNvPr id="23" name="Text-214"/>
          <p:cNvSpPr txBox="1"/>
          <p:nvPr/>
        </p:nvSpPr>
        <p:spPr>
          <a:xfrm>
            <a:off x="5221224" y="3566160"/>
            <a:ext cx="1773936" cy="1463040"/>
          </a:xfrm>
          <a:prstGeom prst="rect">
            <a:avLst/>
          </a:prstGeom>
          <a:noFill/>
          <a:ln/>
        </p:spPr>
        <p:txBody>
          <a:bodyPr wrap="square" lIns="0" tIns="0" rIns="0" bIns="0" rtlCol="0" anchor="t"/>
          <a:lstStyle/>
          <a:p>
            <a:pPr algn="l" indent="0" marL="0">
              <a:buNone/>
            </a:pPr>
            <a:r>
              <a:rPr lang="en-US" sz="1300" dirty="0">
                <a:solidFill>
                  <a:schemeClr val="tx1"/>
                </a:solidFill>
              </a:rPr>
              <a:t>Simulates every plan lap by lap to the flag, and projects rivals and finishing order.</a:t>
            </a:r>
            <a:endParaRPr lang="en-US" sz="1300" dirty="0"/>
          </a:p>
        </p:txBody>
      </p:sp>
      <p:sp>
        <p:nvSpPr>
          <p:cNvPr id="24" name="Text-215"/>
          <p:cNvSpPr txBox="1"/>
          <p:nvPr/>
        </p:nvSpPr>
        <p:spPr>
          <a:xfrm>
            <a:off x="5221224" y="4983480"/>
            <a:ext cx="1773936" cy="868680"/>
          </a:xfrm>
          <a:prstGeom prst="rect">
            <a:avLst/>
          </a:prstGeom>
          <a:noFill/>
          <a:ln/>
        </p:spPr>
        <p:txBody>
          <a:bodyPr wrap="square" lIns="0" tIns="0" rIns="0" bIns="0" rtlCol="0" anchor="t"/>
          <a:lstStyle/>
          <a:p>
            <a:pPr algn="l" indent="0" marL="0">
              <a:buNone/>
            </a:pPr>
            <a:r>
              <a:rPr lang="en-US" sz="1150" b="1" dirty="0">
                <a:solidFill>
                  <a:schemeClr val="tx2"/>
                </a:solidFill>
              </a:rPr>
              <a:t>Guard rail: </a:t>
            </a:r>
            <a:pPr algn="l" indent="0" marL="0">
              <a:buNone/>
            </a:pPr>
            <a:r>
              <a:rPr lang="en-US" sz="1150" dirty="0">
                <a:solidFill>
                  <a:schemeClr val="tx2"/>
                </a:solidFill>
              </a:rPr>
              <a:t>The AI never produces a lap time</a:t>
            </a:r>
            <a:endParaRPr lang="en-US" sz="1150" dirty="0"/>
          </a:p>
        </p:txBody>
      </p:sp>
      <p:sp>
        <p:nvSpPr>
          <p:cNvPr id="25" name="Card-216"/>
          <p:cNvSpPr/>
          <p:nvPr/>
        </p:nvSpPr>
        <p:spPr>
          <a:xfrm>
            <a:off x="7310628" y="1463040"/>
            <a:ext cx="2103120" cy="4526280"/>
          </a:xfrm>
          <a:prstGeom prst="roundRect">
            <a:avLst>
              <a:gd name="adj" fmla="val 5217"/>
            </a:avLst>
          </a:prstGeom>
          <a:solidFill>
            <a:schemeClr val="bg2"/>
          </a:solidFill>
          <a:ln/>
          <a:effectLst>
            <a:outerShdw sx="100000" sy="100000" kx="0" ky="0" algn="bl" rotWithShape="0" blurRad="101600" dist="38100" dir="5400000">
              <a:srgbClr val="000000">
                <a:alpha val="22000"/>
              </a:srgbClr>
            </a:outerShdw>
          </a:effectLst>
        </p:spPr>
      </p:sp>
      <p:pic>
        <p:nvPicPr>
          <p:cNvPr id="26" name="Badge critic-217" descr="critic icon">    </p:cNvPr>
          <p:cNvPicPr>
            <a:picLocks noChangeAspect="1"/>
          </p:cNvPicPr>
          <p:nvPr/>
        </p:nvPicPr>
        <p:blipFill>
          <a:blip r:embed="rId4"/>
          <a:stretch>
            <a:fillRect/>
          </a:stretch>
        </p:blipFill>
        <p:spPr>
          <a:xfrm>
            <a:off x="7996428" y="1691640"/>
            <a:ext cx="731520" cy="731520"/>
          </a:xfrm>
          <a:prstGeom prst="rect">
            <a:avLst/>
          </a:prstGeom>
        </p:spPr>
      </p:pic>
      <p:sp>
        <p:nvSpPr>
          <p:cNvPr id="27" name="Text-218"/>
          <p:cNvSpPr txBox="1"/>
          <p:nvPr/>
        </p:nvSpPr>
        <p:spPr>
          <a:xfrm>
            <a:off x="7447788" y="2514600"/>
            <a:ext cx="1828800" cy="548640"/>
          </a:xfrm>
          <a:prstGeom prst="rect">
            <a:avLst/>
          </a:prstGeom>
          <a:noFill/>
          <a:ln/>
        </p:spPr>
        <p:txBody>
          <a:bodyPr wrap="square" lIns="0" tIns="0" rIns="0" bIns="0" rtlCol="0" anchor="ctr"/>
          <a:lstStyle/>
          <a:p>
            <a:pPr algn="ctr" indent="0" marL="0">
              <a:buNone/>
            </a:pPr>
            <a:r>
              <a:rPr lang="en-US" sz="1600" b="1" dirty="0">
                <a:solidFill>
                  <a:schemeClr val="tx1"/>
                </a:solidFill>
              </a:rPr>
              <a:t>Strategy Critic</a:t>
            </a:r>
            <a:endParaRPr lang="en-US" sz="1600" dirty="0"/>
          </a:p>
        </p:txBody>
      </p:sp>
      <p:sp>
        <p:nvSpPr>
          <p:cNvPr id="28" name="Chip-219"/>
          <p:cNvSpPr/>
          <p:nvPr/>
        </p:nvSpPr>
        <p:spPr>
          <a:xfrm>
            <a:off x="7630668" y="3108960"/>
            <a:ext cx="1463040" cy="274320"/>
          </a:xfrm>
          <a:prstGeom prst="roundRect">
            <a:avLst>
              <a:gd name="adj" fmla="val 56667"/>
            </a:avLst>
          </a:prstGeom>
          <a:solidFill>
            <a:schemeClr val="accent1"/>
          </a:solidFill>
          <a:ln/>
        </p:spPr>
      </p:sp>
      <p:sp>
        <p:nvSpPr>
          <p:cNvPr id="29" name="Chip label-220"/>
          <p:cNvSpPr txBox="1"/>
          <p:nvPr/>
        </p:nvSpPr>
        <p:spPr>
          <a:xfrm>
            <a:off x="7630668" y="3108960"/>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rPr>
              <a:t>Rules</a:t>
            </a:r>
            <a:endParaRPr lang="en-US" sz="1100" dirty="0"/>
          </a:p>
        </p:txBody>
      </p:sp>
      <p:sp>
        <p:nvSpPr>
          <p:cNvPr id="30" name="Text-221"/>
          <p:cNvSpPr txBox="1"/>
          <p:nvPr/>
        </p:nvSpPr>
        <p:spPr>
          <a:xfrm>
            <a:off x="7475220" y="3566160"/>
            <a:ext cx="1773936" cy="1463040"/>
          </a:xfrm>
          <a:prstGeom prst="rect">
            <a:avLst/>
          </a:prstGeom>
          <a:noFill/>
          <a:ln/>
        </p:spPr>
        <p:txBody>
          <a:bodyPr wrap="square" lIns="0" tIns="0" rIns="0" bIns="0" rtlCol="0" anchor="t"/>
          <a:lstStyle/>
          <a:p>
            <a:pPr algn="l" indent="0" marL="0">
              <a:buNone/>
            </a:pPr>
            <a:r>
              <a:rPr lang="en-US" sz="1300" dirty="0">
                <a:solidFill>
                  <a:schemeClr val="tx1"/>
                </a:solidFill>
              </a:rPr>
              <a:t>Checks every plan against racing rules and every number; sends work back when needed.</a:t>
            </a:r>
            <a:endParaRPr lang="en-US" sz="1300" dirty="0"/>
          </a:p>
        </p:txBody>
      </p:sp>
      <p:sp>
        <p:nvSpPr>
          <p:cNvPr id="31" name="Text-222"/>
          <p:cNvSpPr txBox="1"/>
          <p:nvPr/>
        </p:nvSpPr>
        <p:spPr>
          <a:xfrm>
            <a:off x="7475220" y="4983480"/>
            <a:ext cx="1773936" cy="868680"/>
          </a:xfrm>
          <a:prstGeom prst="rect">
            <a:avLst/>
          </a:prstGeom>
          <a:noFill/>
          <a:ln/>
        </p:spPr>
        <p:txBody>
          <a:bodyPr wrap="square" lIns="0" tIns="0" rIns="0" bIns="0" rtlCol="0" anchor="t"/>
          <a:lstStyle/>
          <a:p>
            <a:pPr algn="l" indent="0" marL="0">
              <a:buNone/>
            </a:pPr>
            <a:r>
              <a:rPr lang="en-US" sz="1150" b="1" dirty="0">
                <a:solidFill>
                  <a:schemeClr val="tx2"/>
                </a:solidFill>
              </a:rPr>
              <a:t>Guard rail: </a:t>
            </a:r>
            <a:pPr algn="l" indent="0" marL="0">
              <a:buNone/>
            </a:pPr>
            <a:r>
              <a:rPr lang="en-US" sz="1150" dirty="0">
                <a:solidFill>
                  <a:schemeClr val="tx2"/>
                </a:solidFill>
              </a:rPr>
              <a:t>Max two revisions, then “review required”</a:t>
            </a:r>
            <a:endParaRPr lang="en-US" sz="1150" dirty="0"/>
          </a:p>
        </p:txBody>
      </p:sp>
      <p:sp>
        <p:nvSpPr>
          <p:cNvPr id="32" name="Card-223"/>
          <p:cNvSpPr/>
          <p:nvPr/>
        </p:nvSpPr>
        <p:spPr>
          <a:xfrm>
            <a:off x="9564624" y="1463040"/>
            <a:ext cx="2103120" cy="4526280"/>
          </a:xfrm>
          <a:prstGeom prst="roundRect">
            <a:avLst>
              <a:gd name="adj" fmla="val 5217"/>
            </a:avLst>
          </a:prstGeom>
          <a:solidFill>
            <a:schemeClr val="bg2"/>
          </a:solidFill>
          <a:ln/>
          <a:effectLst>
            <a:outerShdw sx="100000" sy="100000" kx="0" ky="0" algn="bl" rotWithShape="0" blurRad="101600" dist="38100" dir="5400000">
              <a:srgbClr val="000000">
                <a:alpha val="22000"/>
              </a:srgbClr>
            </a:outerShdw>
          </a:effectLst>
        </p:spPr>
      </p:sp>
      <p:pic>
        <p:nvPicPr>
          <p:cNvPr id="33" name="Badge ops-224" descr="ops icon">    </p:cNvPr>
          <p:cNvPicPr>
            <a:picLocks noChangeAspect="1"/>
          </p:cNvPicPr>
          <p:nvPr/>
        </p:nvPicPr>
        <p:blipFill>
          <a:blip r:embed="rId5"/>
          <a:stretch>
            <a:fillRect/>
          </a:stretch>
        </p:blipFill>
        <p:spPr>
          <a:xfrm>
            <a:off x="10250424" y="1691640"/>
            <a:ext cx="731520" cy="731520"/>
          </a:xfrm>
          <a:prstGeom prst="rect">
            <a:avLst/>
          </a:prstGeom>
        </p:spPr>
      </p:pic>
      <p:sp>
        <p:nvSpPr>
          <p:cNvPr id="34" name="Text-225"/>
          <p:cNvSpPr txBox="1"/>
          <p:nvPr/>
        </p:nvSpPr>
        <p:spPr>
          <a:xfrm>
            <a:off x="9701784" y="2514600"/>
            <a:ext cx="1828800" cy="548640"/>
          </a:xfrm>
          <a:prstGeom prst="rect">
            <a:avLst/>
          </a:prstGeom>
          <a:noFill/>
          <a:ln/>
        </p:spPr>
        <p:txBody>
          <a:bodyPr wrap="square" lIns="0" tIns="0" rIns="0" bIns="0" rtlCol="0" anchor="ctr"/>
          <a:lstStyle/>
          <a:p>
            <a:pPr algn="ctr" indent="0" marL="0">
              <a:buNone/>
            </a:pPr>
            <a:r>
              <a:rPr lang="en-US" sz="1600" b="1" dirty="0">
                <a:solidFill>
                  <a:schemeClr val="tx1"/>
                </a:solidFill>
              </a:rPr>
              <a:t>Pit Wall Operations</a:t>
            </a:r>
            <a:endParaRPr lang="en-US" sz="1600" dirty="0"/>
          </a:p>
        </p:txBody>
      </p:sp>
      <p:sp>
        <p:nvSpPr>
          <p:cNvPr id="35" name="Chip-226"/>
          <p:cNvSpPr/>
          <p:nvPr/>
        </p:nvSpPr>
        <p:spPr>
          <a:xfrm>
            <a:off x="9884664" y="3108960"/>
            <a:ext cx="1463040" cy="274320"/>
          </a:xfrm>
          <a:prstGeom prst="roundRect">
            <a:avLst>
              <a:gd name="adj" fmla="val 56667"/>
            </a:avLst>
          </a:prstGeom>
          <a:solidFill>
            <a:schemeClr val="accent5"/>
          </a:solidFill>
          <a:ln/>
        </p:spPr>
      </p:sp>
      <p:sp>
        <p:nvSpPr>
          <p:cNvPr id="36" name="Chip label-227"/>
          <p:cNvSpPr txBox="1"/>
          <p:nvPr/>
        </p:nvSpPr>
        <p:spPr>
          <a:xfrm>
            <a:off x="9884664" y="3108960"/>
            <a:ext cx="1463040" cy="274320"/>
          </a:xfrm>
          <a:prstGeom prst="rect">
            <a:avLst/>
          </a:prstGeom>
          <a:noFill/>
          <a:ln/>
        </p:spPr>
        <p:txBody>
          <a:bodyPr wrap="square" lIns="0" tIns="0" rIns="0" bIns="0" rtlCol="0" anchor="ctr"/>
          <a:lstStyle/>
          <a:p>
            <a:pPr algn="ctr" indent="0" marL="0">
              <a:buNone/>
            </a:pPr>
            <a:r>
              <a:rPr lang="en-US" sz="1100" b="1" dirty="0">
                <a:solidFill>
                  <a:schemeClr val="bg1"/>
                </a:solidFill>
              </a:rPr>
              <a:t>AI model</a:t>
            </a:r>
            <a:endParaRPr lang="en-US" sz="1100" dirty="0"/>
          </a:p>
        </p:txBody>
      </p:sp>
      <p:sp>
        <p:nvSpPr>
          <p:cNvPr id="37" name="Text-228"/>
          <p:cNvSpPr txBox="1"/>
          <p:nvPr/>
        </p:nvSpPr>
        <p:spPr>
          <a:xfrm>
            <a:off x="9729216" y="3566160"/>
            <a:ext cx="1773936" cy="1463040"/>
          </a:xfrm>
          <a:prstGeom prst="rect">
            <a:avLst/>
          </a:prstGeom>
          <a:noFill/>
          <a:ln/>
        </p:spPr>
        <p:txBody>
          <a:bodyPr wrap="square" lIns="0" tIns="0" rIns="0" bIns="0" rtlCol="0" anchor="t"/>
          <a:lstStyle/>
          <a:p>
            <a:pPr algn="l" indent="0" marL="0">
              <a:buNone/>
            </a:pPr>
            <a:r>
              <a:rPr lang="en-US" sz="1300" dirty="0">
                <a:solidFill>
                  <a:schemeClr val="tx1"/>
                </a:solidFill>
              </a:rPr>
              <a:t>Makes the call, explains it, writes the team radio and saves the decision record.</a:t>
            </a:r>
            <a:endParaRPr lang="en-US" sz="1300" dirty="0"/>
          </a:p>
        </p:txBody>
      </p:sp>
      <p:sp>
        <p:nvSpPr>
          <p:cNvPr id="38" name="Text-229"/>
          <p:cNvSpPr txBox="1"/>
          <p:nvPr/>
        </p:nvSpPr>
        <p:spPr>
          <a:xfrm>
            <a:off x="9729216" y="4983480"/>
            <a:ext cx="1773936" cy="868680"/>
          </a:xfrm>
          <a:prstGeom prst="rect">
            <a:avLst/>
          </a:prstGeom>
          <a:noFill/>
          <a:ln/>
        </p:spPr>
        <p:txBody>
          <a:bodyPr wrap="square" lIns="0" tIns="0" rIns="0" bIns="0" rtlCol="0" anchor="t"/>
          <a:lstStyle/>
          <a:p>
            <a:pPr algn="l" indent="0" marL="0">
              <a:buNone/>
            </a:pPr>
            <a:r>
              <a:rPr lang="en-US" sz="1150" b="1" dirty="0">
                <a:solidFill>
                  <a:schemeClr val="tx2"/>
                </a:solidFill>
              </a:rPr>
              <a:t>Guard rail: </a:t>
            </a:r>
            <a:pPr algn="l" indent="0" marL="0">
              <a:buNone/>
            </a:pPr>
            <a:r>
              <a:rPr lang="en-US" sz="1150" dirty="0">
                <a:solidFill>
                  <a:schemeClr val="tx2"/>
                </a:solidFill>
              </a:rPr>
              <a:t>Only Critic-approved options within 2 s of the fastest</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WORKING PROCESS · A REAL EXAMPLE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Leclerc, Monza 2024, after lap 10</a:t>
            </a:r>
            <a:endParaRPr lang="en-US" sz="3200" dirty="0"/>
          </a:p>
        </p:txBody>
      </p:sp>
      <p:sp>
        <p:nvSpPr>
          <p:cNvPr id="4" name="Text-230"/>
          <p:cNvSpPr txBox="1"/>
          <p:nvPr/>
        </p:nvSpPr>
        <p:spPr>
          <a:xfrm>
            <a:off x="548640" y="1371600"/>
            <a:ext cx="8595360" cy="411480"/>
          </a:xfrm>
          <a:prstGeom prst="rect">
            <a:avLst/>
          </a:prstGeom>
          <a:noFill/>
          <a:ln/>
        </p:spPr>
        <p:txBody>
          <a:bodyPr wrap="square" lIns="0" tIns="0" rIns="0" bIns="0" rtlCol="0" anchor="t"/>
          <a:lstStyle/>
          <a:p>
            <a:pPr algn="l" indent="0" marL="0">
              <a:buNone/>
            </a:pPr>
            <a:r>
              <a:rPr lang="en-US" sz="1500" dirty="0">
                <a:solidFill>
                  <a:schemeClr val="tx2"/>
                </a:solidFill>
              </a:rPr>
              <a:t>Real timing up to lap 10 only. Ferrari on 10-lap-old mediums, running P2 of the 5 simulated cars, 43 laps to go.</a:t>
            </a:r>
            <a:endParaRPr lang="en-US" sz="1500" dirty="0"/>
          </a:p>
        </p:txBody>
      </p:sp>
      <p:pic>
        <p:nvPicPr>
          <p:cNvPr id="5" name="Sticker-231" descr="Decorative radio sticker">    </p:cNvPr>
          <p:cNvPicPr>
            <a:picLocks noChangeAspect="1"/>
          </p:cNvPicPr>
          <p:nvPr/>
        </p:nvPicPr>
        <p:blipFill>
          <a:blip r:embed="rId1"/>
          <a:stretch>
            <a:fillRect/>
          </a:stretch>
        </p:blipFill>
        <p:spPr>
          <a:xfrm rot="240000">
            <a:off x="9692640" y="1143000"/>
            <a:ext cx="1691640" cy="945328"/>
          </a:xfrm>
          <a:prstGeom prst="rect">
            <a:avLst/>
          </a:prstGeom>
        </p:spPr>
      </p:pic>
      <p:sp>
        <p:nvSpPr>
          <p:cNvPr id="6" name="Card-232"/>
          <p:cNvSpPr/>
          <p:nvPr/>
        </p:nvSpPr>
        <p:spPr>
          <a:xfrm>
            <a:off x="548640"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7" name="Badge input-233" descr="input icon">    </p:cNvPr>
          <p:cNvPicPr>
            <a:picLocks noChangeAspect="1"/>
          </p:cNvPicPr>
          <p:nvPr/>
        </p:nvPicPr>
        <p:blipFill>
          <a:blip r:embed="rId2"/>
          <a:stretch>
            <a:fillRect/>
          </a:stretch>
        </p:blipFill>
        <p:spPr>
          <a:xfrm>
            <a:off x="1051560" y="2267712"/>
            <a:ext cx="713232" cy="713232"/>
          </a:xfrm>
          <a:prstGeom prst="rect">
            <a:avLst/>
          </a:prstGeom>
        </p:spPr>
      </p:pic>
      <p:sp>
        <p:nvSpPr>
          <p:cNvPr id="8" name="Text-234"/>
          <p:cNvSpPr txBox="1"/>
          <p:nvPr/>
        </p:nvSpPr>
        <p:spPr>
          <a:xfrm>
            <a:off x="658368"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1  Check inputs</a:t>
            </a:r>
            <a:endParaRPr lang="en-US" sz="1500" dirty="0"/>
          </a:p>
        </p:txBody>
      </p:sp>
      <p:sp>
        <p:nvSpPr>
          <p:cNvPr id="9" name="Text-235"/>
          <p:cNvSpPr txBox="1"/>
          <p:nvPr/>
        </p:nvSpPr>
        <p:spPr>
          <a:xfrm>
            <a:off x="676656"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All valid. Pit loss 22 s assumed (too few real stops before lap 10 to measure).</a:t>
            </a:r>
            <a:endParaRPr lang="en-US" sz="1200" dirty="0"/>
          </a:p>
        </p:txBody>
      </p:sp>
      <p:sp>
        <p:nvSpPr>
          <p:cNvPr id="10" name="Connector-236"/>
          <p:cNvSpPr/>
          <p:nvPr/>
        </p:nvSpPr>
        <p:spPr>
          <a:xfrm>
            <a:off x="2286000" y="3246120"/>
            <a:ext cx="128016" cy="91"/>
          </a:xfrm>
          <a:prstGeom prst="line">
            <a:avLst/>
          </a:prstGeom>
          <a:noFill/>
          <a:ln w="25400">
            <a:solidFill>
              <a:schemeClr val="tx2"/>
            </a:solidFill>
            <a:prstDash val="solid"/>
            <a:tailEnd type="triangle"/>
          </a:ln>
        </p:spPr>
      </p:sp>
      <p:sp>
        <p:nvSpPr>
          <p:cNvPr id="11" name="Card-237"/>
          <p:cNvSpPr/>
          <p:nvPr/>
        </p:nvSpPr>
        <p:spPr>
          <a:xfrm>
            <a:off x="2432304"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12" name="Badge planner-238" descr="planner icon">    </p:cNvPr>
          <p:cNvPicPr>
            <a:picLocks noChangeAspect="1"/>
          </p:cNvPicPr>
          <p:nvPr/>
        </p:nvPicPr>
        <p:blipFill>
          <a:blip r:embed="rId3"/>
          <a:stretch>
            <a:fillRect/>
          </a:stretch>
        </p:blipFill>
        <p:spPr>
          <a:xfrm>
            <a:off x="2935224" y="2267712"/>
            <a:ext cx="713232" cy="713232"/>
          </a:xfrm>
          <a:prstGeom prst="rect">
            <a:avLst/>
          </a:prstGeom>
        </p:spPr>
      </p:pic>
      <p:sp>
        <p:nvSpPr>
          <p:cNvPr id="13" name="Text-239"/>
          <p:cNvSpPr txBox="1"/>
          <p:nvPr/>
        </p:nvSpPr>
        <p:spPr>
          <a:xfrm>
            <a:off x="2542032"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2  Plan</a:t>
            </a:r>
            <a:endParaRPr lang="en-US" sz="1500" dirty="0"/>
          </a:p>
        </p:txBody>
      </p:sp>
      <p:sp>
        <p:nvSpPr>
          <p:cNvPr id="14" name="Text-240"/>
          <p:cNvSpPr txBox="1"/>
          <p:nvPr/>
        </p:nvSpPr>
        <p:spPr>
          <a:xfrm>
            <a:off x="2560320"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7 options: stay out, box lap 11 or 14, on soft, medium or hard.</a:t>
            </a:r>
            <a:endParaRPr lang="en-US" sz="1200" dirty="0"/>
          </a:p>
        </p:txBody>
      </p:sp>
      <p:sp>
        <p:nvSpPr>
          <p:cNvPr id="15" name="Connector-241"/>
          <p:cNvSpPr/>
          <p:nvPr/>
        </p:nvSpPr>
        <p:spPr>
          <a:xfrm>
            <a:off x="4169664" y="3246120"/>
            <a:ext cx="128016" cy="91"/>
          </a:xfrm>
          <a:prstGeom prst="line">
            <a:avLst/>
          </a:prstGeom>
          <a:noFill/>
          <a:ln w="25400">
            <a:solidFill>
              <a:schemeClr val="tx2"/>
            </a:solidFill>
            <a:prstDash val="solid"/>
            <a:tailEnd type="triangle"/>
          </a:ln>
        </p:spPr>
      </p:sp>
      <p:sp>
        <p:nvSpPr>
          <p:cNvPr id="16" name="Card-242"/>
          <p:cNvSpPr/>
          <p:nvPr/>
        </p:nvSpPr>
        <p:spPr>
          <a:xfrm>
            <a:off x="4315968"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17" name="Badge research-243" descr="research icon">    </p:cNvPr>
          <p:cNvPicPr>
            <a:picLocks noChangeAspect="1"/>
          </p:cNvPicPr>
          <p:nvPr/>
        </p:nvPicPr>
        <p:blipFill>
          <a:blip r:embed="rId4"/>
          <a:stretch>
            <a:fillRect/>
          </a:stretch>
        </p:blipFill>
        <p:spPr>
          <a:xfrm>
            <a:off x="4818888" y="2267712"/>
            <a:ext cx="713232" cy="713232"/>
          </a:xfrm>
          <a:prstGeom prst="rect">
            <a:avLst/>
          </a:prstGeom>
        </p:spPr>
      </p:pic>
      <p:sp>
        <p:nvSpPr>
          <p:cNvPr id="18" name="Text-244"/>
          <p:cNvSpPr txBox="1"/>
          <p:nvPr/>
        </p:nvSpPr>
        <p:spPr>
          <a:xfrm>
            <a:off x="4425696"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3  Research</a:t>
            </a:r>
            <a:endParaRPr lang="en-US" sz="1500" dirty="0"/>
          </a:p>
        </p:txBody>
      </p:sp>
      <p:sp>
        <p:nvSpPr>
          <p:cNvPr id="19" name="Text-245"/>
          <p:cNvSpPr txBox="1"/>
          <p:nvPr/>
        </p:nvSpPr>
        <p:spPr>
          <a:xfrm>
            <a:off x="4443984"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Track status, tyres, gaps: PIA 1.2 s ahead, NOR 1.8 s behind.</a:t>
            </a:r>
            <a:endParaRPr lang="en-US" sz="1200" dirty="0"/>
          </a:p>
        </p:txBody>
      </p:sp>
      <p:sp>
        <p:nvSpPr>
          <p:cNvPr id="20" name="Connector-246"/>
          <p:cNvSpPr/>
          <p:nvPr/>
        </p:nvSpPr>
        <p:spPr>
          <a:xfrm>
            <a:off x="6053328" y="3246120"/>
            <a:ext cx="128016" cy="91"/>
          </a:xfrm>
          <a:prstGeom prst="line">
            <a:avLst/>
          </a:prstGeom>
          <a:noFill/>
          <a:ln w="25400">
            <a:solidFill>
              <a:schemeClr val="tx2"/>
            </a:solidFill>
            <a:prstDash val="solid"/>
            <a:tailEnd type="triangle"/>
          </a:ln>
        </p:spPr>
      </p:sp>
      <p:sp>
        <p:nvSpPr>
          <p:cNvPr id="21" name="Card-247"/>
          <p:cNvSpPr/>
          <p:nvPr/>
        </p:nvSpPr>
        <p:spPr>
          <a:xfrm>
            <a:off x="6199632"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22" name="Badge executor-248" descr="executor icon">    </p:cNvPr>
          <p:cNvPicPr>
            <a:picLocks noChangeAspect="1"/>
          </p:cNvPicPr>
          <p:nvPr/>
        </p:nvPicPr>
        <p:blipFill>
          <a:blip r:embed="rId5"/>
          <a:stretch>
            <a:fillRect/>
          </a:stretch>
        </p:blipFill>
        <p:spPr>
          <a:xfrm>
            <a:off x="6702552" y="2267712"/>
            <a:ext cx="713232" cy="713232"/>
          </a:xfrm>
          <a:prstGeom prst="rect">
            <a:avLst/>
          </a:prstGeom>
        </p:spPr>
      </p:pic>
      <p:sp>
        <p:nvSpPr>
          <p:cNvPr id="23" name="Text-249"/>
          <p:cNvSpPr txBox="1"/>
          <p:nvPr/>
        </p:nvSpPr>
        <p:spPr>
          <a:xfrm>
            <a:off x="6309360"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4  Simulate</a:t>
            </a:r>
            <a:endParaRPr lang="en-US" sz="1500" dirty="0"/>
          </a:p>
        </p:txBody>
      </p:sp>
      <p:sp>
        <p:nvSpPr>
          <p:cNvPr id="24" name="Text-250"/>
          <p:cNvSpPr txBox="1"/>
          <p:nvPr/>
        </p:nvSpPr>
        <p:spPr>
          <a:xfrm>
            <a:off x="6327648"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7 lap-by-lap runs to the flag, with rivals' likely strategies.</a:t>
            </a:r>
            <a:endParaRPr lang="en-US" sz="1200" dirty="0"/>
          </a:p>
        </p:txBody>
      </p:sp>
      <p:sp>
        <p:nvSpPr>
          <p:cNvPr id="25" name="Connector-251"/>
          <p:cNvSpPr/>
          <p:nvPr/>
        </p:nvSpPr>
        <p:spPr>
          <a:xfrm>
            <a:off x="7936992" y="3246120"/>
            <a:ext cx="128016" cy="91"/>
          </a:xfrm>
          <a:prstGeom prst="line">
            <a:avLst/>
          </a:prstGeom>
          <a:noFill/>
          <a:ln w="25400">
            <a:solidFill>
              <a:schemeClr val="tx2"/>
            </a:solidFill>
            <a:prstDash val="solid"/>
            <a:tailEnd type="triangle"/>
          </a:ln>
        </p:spPr>
      </p:sp>
      <p:sp>
        <p:nvSpPr>
          <p:cNvPr id="26" name="Card-252"/>
          <p:cNvSpPr/>
          <p:nvPr/>
        </p:nvSpPr>
        <p:spPr>
          <a:xfrm>
            <a:off x="8083296"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27" name="Badge critic-253" descr="critic icon">    </p:cNvPr>
          <p:cNvPicPr>
            <a:picLocks noChangeAspect="1"/>
          </p:cNvPicPr>
          <p:nvPr/>
        </p:nvPicPr>
        <p:blipFill>
          <a:blip r:embed="rId6"/>
          <a:stretch>
            <a:fillRect/>
          </a:stretch>
        </p:blipFill>
        <p:spPr>
          <a:xfrm>
            <a:off x="8586216" y="2267712"/>
            <a:ext cx="713232" cy="713232"/>
          </a:xfrm>
          <a:prstGeom prst="rect">
            <a:avLst/>
          </a:prstGeom>
        </p:spPr>
      </p:pic>
      <p:sp>
        <p:nvSpPr>
          <p:cNvPr id="28" name="Text-254"/>
          <p:cNvSpPr txBox="1"/>
          <p:nvPr/>
        </p:nvSpPr>
        <p:spPr>
          <a:xfrm>
            <a:off x="8193024"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5  Check</a:t>
            </a:r>
            <a:endParaRPr lang="en-US" sz="1500" dirty="0"/>
          </a:p>
        </p:txBody>
      </p:sp>
      <p:sp>
        <p:nvSpPr>
          <p:cNvPr id="29" name="Text-255"/>
          <p:cNvSpPr txBox="1"/>
          <p:nvPr/>
        </p:nvSpPr>
        <p:spPr>
          <a:xfrm>
            <a:off x="8211312"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2 valid, 5 rejected, e.g. mediums would be 39 laps old (limit 38).</a:t>
            </a:r>
            <a:endParaRPr lang="en-US" sz="1200" dirty="0"/>
          </a:p>
        </p:txBody>
      </p:sp>
      <p:sp>
        <p:nvSpPr>
          <p:cNvPr id="30" name="Connector-256"/>
          <p:cNvSpPr/>
          <p:nvPr/>
        </p:nvSpPr>
        <p:spPr>
          <a:xfrm>
            <a:off x="9820656" y="3246120"/>
            <a:ext cx="128016" cy="91"/>
          </a:xfrm>
          <a:prstGeom prst="line">
            <a:avLst/>
          </a:prstGeom>
          <a:noFill/>
          <a:ln w="25400">
            <a:solidFill>
              <a:schemeClr val="tx2"/>
            </a:solidFill>
            <a:prstDash val="solid"/>
            <a:tailEnd type="triangle"/>
          </a:ln>
        </p:spPr>
      </p:sp>
      <p:sp>
        <p:nvSpPr>
          <p:cNvPr id="31" name="Card-257"/>
          <p:cNvSpPr/>
          <p:nvPr/>
        </p:nvSpPr>
        <p:spPr>
          <a:xfrm>
            <a:off x="9966960" y="2103120"/>
            <a:ext cx="1719072" cy="2697480"/>
          </a:xfrm>
          <a:prstGeom prst="roundRect">
            <a:avLst>
              <a:gd name="adj" fmla="val 6383"/>
            </a:avLst>
          </a:prstGeom>
          <a:solidFill>
            <a:schemeClr val="bg2"/>
          </a:solidFill>
          <a:ln/>
          <a:effectLst>
            <a:outerShdw sx="100000" sy="100000" kx="0" ky="0" algn="bl" rotWithShape="0" blurRad="101600" dist="38100" dir="5400000">
              <a:srgbClr val="000000">
                <a:alpha val="22000"/>
              </a:srgbClr>
            </a:outerShdw>
          </a:effectLst>
        </p:spPr>
      </p:sp>
      <p:pic>
        <p:nvPicPr>
          <p:cNvPr id="32" name="Badge ops-258" descr="ops icon">    </p:cNvPr>
          <p:cNvPicPr>
            <a:picLocks noChangeAspect="1"/>
          </p:cNvPicPr>
          <p:nvPr/>
        </p:nvPicPr>
        <p:blipFill>
          <a:blip r:embed="rId7"/>
          <a:stretch>
            <a:fillRect/>
          </a:stretch>
        </p:blipFill>
        <p:spPr>
          <a:xfrm>
            <a:off x="10469880" y="2267712"/>
            <a:ext cx="713232" cy="713232"/>
          </a:xfrm>
          <a:prstGeom prst="rect">
            <a:avLst/>
          </a:prstGeom>
        </p:spPr>
      </p:pic>
      <p:sp>
        <p:nvSpPr>
          <p:cNvPr id="33" name="Text-259"/>
          <p:cNvSpPr txBox="1"/>
          <p:nvPr/>
        </p:nvSpPr>
        <p:spPr>
          <a:xfrm>
            <a:off x="10076688" y="3063240"/>
            <a:ext cx="1499616" cy="365760"/>
          </a:xfrm>
          <a:prstGeom prst="rect">
            <a:avLst/>
          </a:prstGeom>
          <a:noFill/>
          <a:ln/>
        </p:spPr>
        <p:txBody>
          <a:bodyPr wrap="square" lIns="0" tIns="0" rIns="0" bIns="0" rtlCol="0" anchor="t"/>
          <a:lstStyle/>
          <a:p>
            <a:pPr algn="ctr" indent="0" marL="0">
              <a:buNone/>
            </a:pPr>
            <a:r>
              <a:rPr lang="en-US" sz="1500" b="1" dirty="0">
                <a:solidFill>
                  <a:schemeClr val="tx1"/>
                </a:solidFill>
              </a:rPr>
              <a:t>6  Call</a:t>
            </a:r>
            <a:endParaRPr lang="en-US" sz="1500" dirty="0"/>
          </a:p>
        </p:txBody>
      </p:sp>
      <p:sp>
        <p:nvSpPr>
          <p:cNvPr id="34" name="Text-260"/>
          <p:cNvSpPr txBox="1"/>
          <p:nvPr/>
        </p:nvSpPr>
        <p:spPr>
          <a:xfrm>
            <a:off x="10094976" y="3474720"/>
            <a:ext cx="1463040" cy="1280160"/>
          </a:xfrm>
          <a:prstGeom prst="rect">
            <a:avLst/>
          </a:prstGeom>
          <a:noFill/>
          <a:ln/>
        </p:spPr>
        <p:txBody>
          <a:bodyPr wrap="square" lIns="0" tIns="0" rIns="0" bIns="0" rtlCol="0" anchor="t"/>
          <a:lstStyle/>
          <a:p>
            <a:pPr algn="l" indent="0" marL="0">
              <a:buNone/>
            </a:pPr>
            <a:r>
              <a:rPr lang="en-US" sz="1200" dirty="0">
                <a:solidFill>
                  <a:schemeClr val="tx1"/>
                </a:solidFill>
              </a:rPr>
              <a:t>Stay out, then box lap 14 for Hard. 5.2 s better than the next option. Low risk.</a:t>
            </a:r>
            <a:endParaRPr lang="en-US" sz="1200" dirty="0"/>
          </a:p>
        </p:txBody>
      </p:sp>
      <p:sp>
        <p:nvSpPr>
          <p:cNvPr id="35" name="Card-261"/>
          <p:cNvSpPr/>
          <p:nvPr/>
        </p:nvSpPr>
        <p:spPr>
          <a:xfrm>
            <a:off x="548640" y="5074920"/>
            <a:ext cx="11082528" cy="960120"/>
          </a:xfrm>
          <a:prstGeom prst="roundRect">
            <a:avLst>
              <a:gd name="adj" fmla="val 11429"/>
            </a:avLst>
          </a:prstGeom>
          <a:solidFill>
            <a:srgbClr val="E8F7EC"/>
          </a:solidFill>
          <a:ln/>
        </p:spPr>
      </p:sp>
      <p:pic>
        <p:nvPicPr>
          <p:cNvPr id="36" name="Badge flag-262" descr="flag icon">    </p:cNvPr>
          <p:cNvPicPr>
            <a:picLocks noChangeAspect="1"/>
          </p:cNvPicPr>
          <p:nvPr/>
        </p:nvPicPr>
        <p:blipFill>
          <a:blip r:embed="rId8"/>
          <a:stretch>
            <a:fillRect/>
          </a:stretch>
        </p:blipFill>
        <p:spPr>
          <a:xfrm>
            <a:off x="731520" y="5184648"/>
            <a:ext cx="731520" cy="731520"/>
          </a:xfrm>
          <a:prstGeom prst="rect">
            <a:avLst/>
          </a:prstGeom>
        </p:spPr>
      </p:pic>
      <p:sp>
        <p:nvSpPr>
          <p:cNvPr id="37" name="Text-263"/>
          <p:cNvSpPr txBox="1"/>
          <p:nvPr/>
        </p:nvSpPr>
        <p:spPr>
          <a:xfrm>
            <a:off x="1645920" y="5138928"/>
            <a:ext cx="9784080" cy="822960"/>
          </a:xfrm>
          <a:prstGeom prst="rect">
            <a:avLst/>
          </a:prstGeom>
          <a:noFill/>
          <a:ln/>
        </p:spPr>
        <p:txBody>
          <a:bodyPr wrap="square" lIns="0" tIns="0" rIns="0" bIns="0" rtlCol="0" anchor="ctr"/>
          <a:lstStyle/>
          <a:p>
            <a:pPr algn="l" indent="0" marL="0">
              <a:buNone/>
            </a:pPr>
            <a:r>
              <a:rPr lang="en-US" sz="1500" b="1" dirty="0">
                <a:solidFill>
                  <a:schemeClr val="tx1"/>
                </a:solidFill>
              </a:rPr>
              <a:t>Reveal: </a:t>
            </a:r>
            <a:pPr algn="l" indent="0" marL="0">
              <a:buNone/>
            </a:pPr>
            <a:r>
              <a:rPr lang="en-US" sz="1500" dirty="0">
                <a:solidFill>
                  <a:schemeClr val="tx1"/>
                </a:solidFill>
              </a:rPr>
              <a:t>the team boxed on lap 15 for Hard → </a:t>
            </a:r>
            <a:pPr algn="l" indent="0" marL="0">
              <a:buNone/>
            </a:pPr>
            <a:r>
              <a:rPr lang="en-US" sz="1500" b="1" dirty="0">
                <a:solidFill>
                  <a:schemeClr val="accent3"/>
                </a:solidFill>
              </a:rPr>
              <a:t>Match.</a:t>
            </a:r>
            <a:pPr algn="l" indent="0" marL="0">
              <a:buNone/>
            </a:pPr>
            <a:r>
              <a:rPr lang="en-US" sz="1500" dirty="0">
                <a:solidFill>
                  <a:schemeClr val="tx1"/>
                </a:solidFill>
              </a:rPr>
              <a:t>  Leclerc won. The model's time to the flag for the team's strategy was 3.0 s off the real 60:30.1 (0.1%).</a:t>
            </a:r>
            <a:endParaRPr lang="en-US" sz="15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IMPLEMENTATION · THE SIMULATOR</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Every number comes from a lap-by-lap model</a:t>
            </a:r>
            <a:endParaRPr lang="en-US" sz="3200" dirty="0"/>
          </a:p>
        </p:txBody>
      </p:sp>
      <p:sp>
        <p:nvSpPr>
          <p:cNvPr id="4" name="Text-264"/>
          <p:cNvSpPr txBox="1"/>
          <p:nvPr/>
        </p:nvSpPr>
        <p:spPr>
          <a:xfrm>
            <a:off x="548640" y="1463040"/>
            <a:ext cx="1828800" cy="457200"/>
          </a:xfrm>
          <a:prstGeom prst="rect">
            <a:avLst/>
          </a:prstGeom>
          <a:noFill/>
          <a:ln/>
        </p:spPr>
        <p:txBody>
          <a:bodyPr wrap="square" lIns="0" tIns="0" rIns="0" bIns="0" rtlCol="0" anchor="t"/>
          <a:lstStyle/>
          <a:p>
            <a:pPr algn="l" indent="0" marL="0">
              <a:buNone/>
            </a:pPr>
            <a:r>
              <a:rPr lang="en-US" sz="2000" b="1" dirty="0">
                <a:solidFill>
                  <a:schemeClr val="tx1"/>
                </a:solidFill>
                <a:latin typeface="Bookman Old Style" pitchFamily="34" charset="0"/>
                <a:ea typeface="Bookman Old Style" pitchFamily="34" charset="-122"/>
                <a:cs typeface="Bookman Old Style" pitchFamily="34" charset="-120"/>
              </a:rPr>
              <a:t>Lap time =</a:t>
            </a:r>
            <a:endParaRPr lang="en-US" sz="2000" dirty="0"/>
          </a:p>
        </p:txBody>
      </p:sp>
      <p:sp>
        <p:nvSpPr>
          <p:cNvPr id="5" name="Chip-265"/>
          <p:cNvSpPr/>
          <p:nvPr/>
        </p:nvSpPr>
        <p:spPr>
          <a:xfrm>
            <a:off x="548640" y="2011680"/>
            <a:ext cx="1874520" cy="420624"/>
          </a:xfrm>
          <a:prstGeom prst="roundRect">
            <a:avLst>
              <a:gd name="adj" fmla="val 36957"/>
            </a:avLst>
          </a:prstGeom>
          <a:solidFill>
            <a:schemeClr val="tx2"/>
          </a:solidFill>
          <a:ln/>
        </p:spPr>
      </p:sp>
      <p:sp>
        <p:nvSpPr>
          <p:cNvPr id="6" name="Chip label-266"/>
          <p:cNvSpPr txBox="1"/>
          <p:nvPr/>
        </p:nvSpPr>
        <p:spPr>
          <a:xfrm>
            <a:off x="548640" y="2011680"/>
            <a:ext cx="1874520" cy="420624"/>
          </a:xfrm>
          <a:prstGeom prst="rect">
            <a:avLst/>
          </a:prstGeom>
          <a:noFill/>
          <a:ln/>
        </p:spPr>
        <p:txBody>
          <a:bodyPr wrap="square" lIns="0" tIns="0" rIns="0" bIns="0" rtlCol="0" anchor="ctr"/>
          <a:lstStyle/>
          <a:p>
            <a:pPr algn="ctr" indent="0" marL="0">
              <a:buNone/>
            </a:pPr>
            <a:r>
              <a:rPr lang="en-US" sz="1400" b="1" dirty="0">
                <a:solidFill>
                  <a:schemeClr val="bg1"/>
                </a:solidFill>
              </a:rPr>
              <a:t>base pace</a:t>
            </a:r>
            <a:endParaRPr lang="en-US" sz="1400" dirty="0"/>
          </a:p>
        </p:txBody>
      </p:sp>
      <p:sp>
        <p:nvSpPr>
          <p:cNvPr id="7" name="Chip-267"/>
          <p:cNvSpPr/>
          <p:nvPr/>
        </p:nvSpPr>
        <p:spPr>
          <a:xfrm>
            <a:off x="2560320" y="2011680"/>
            <a:ext cx="1874520" cy="420624"/>
          </a:xfrm>
          <a:prstGeom prst="roundRect">
            <a:avLst>
              <a:gd name="adj" fmla="val 36957"/>
            </a:avLst>
          </a:prstGeom>
          <a:solidFill>
            <a:schemeClr val="accent1"/>
          </a:solidFill>
          <a:ln/>
        </p:spPr>
      </p:sp>
      <p:sp>
        <p:nvSpPr>
          <p:cNvPr id="8" name="Chip label-268"/>
          <p:cNvSpPr txBox="1"/>
          <p:nvPr/>
        </p:nvSpPr>
        <p:spPr>
          <a:xfrm>
            <a:off x="2560320" y="2011680"/>
            <a:ext cx="1874520" cy="420624"/>
          </a:xfrm>
          <a:prstGeom prst="rect">
            <a:avLst/>
          </a:prstGeom>
          <a:noFill/>
          <a:ln/>
        </p:spPr>
        <p:txBody>
          <a:bodyPr wrap="square" lIns="0" tIns="0" rIns="0" bIns="0" rtlCol="0" anchor="ctr"/>
          <a:lstStyle/>
          <a:p>
            <a:pPr algn="ctr" indent="0" marL="0">
              <a:buNone/>
            </a:pPr>
            <a:r>
              <a:rPr lang="en-US" sz="1400" b="1" dirty="0">
                <a:solidFill>
                  <a:schemeClr val="bg1"/>
                </a:solidFill>
              </a:rPr>
              <a:t>+ tyre effect</a:t>
            </a:r>
            <a:endParaRPr lang="en-US" sz="1400" dirty="0"/>
          </a:p>
        </p:txBody>
      </p:sp>
      <p:sp>
        <p:nvSpPr>
          <p:cNvPr id="9" name="Chip-269"/>
          <p:cNvSpPr/>
          <p:nvPr/>
        </p:nvSpPr>
        <p:spPr>
          <a:xfrm>
            <a:off x="4572000" y="2011680"/>
            <a:ext cx="1874520" cy="420624"/>
          </a:xfrm>
          <a:prstGeom prst="roundRect">
            <a:avLst>
              <a:gd name="adj" fmla="val 36957"/>
            </a:avLst>
          </a:prstGeom>
          <a:solidFill>
            <a:schemeClr val="accent4"/>
          </a:solidFill>
          <a:ln/>
        </p:spPr>
      </p:sp>
      <p:sp>
        <p:nvSpPr>
          <p:cNvPr id="10" name="Chip label-270"/>
          <p:cNvSpPr txBox="1"/>
          <p:nvPr/>
        </p:nvSpPr>
        <p:spPr>
          <a:xfrm>
            <a:off x="4572000" y="2011680"/>
            <a:ext cx="1874520" cy="420624"/>
          </a:xfrm>
          <a:prstGeom prst="rect">
            <a:avLst/>
          </a:prstGeom>
          <a:noFill/>
          <a:ln/>
        </p:spPr>
        <p:txBody>
          <a:bodyPr wrap="square" lIns="0" tIns="0" rIns="0" bIns="0" rtlCol="0" anchor="ctr"/>
          <a:lstStyle/>
          <a:p>
            <a:pPr algn="ctr" indent="0" marL="0">
              <a:buNone/>
            </a:pPr>
            <a:r>
              <a:rPr lang="en-US" sz="1400" b="1" dirty="0">
                <a:solidFill>
                  <a:schemeClr val="bg1"/>
                </a:solidFill>
              </a:rPr>
              <a:t>+ weather</a:t>
            </a:r>
            <a:endParaRPr lang="en-US" sz="1400" dirty="0"/>
          </a:p>
        </p:txBody>
      </p:sp>
      <p:sp>
        <p:nvSpPr>
          <p:cNvPr id="11" name="Chip-271"/>
          <p:cNvSpPr/>
          <p:nvPr/>
        </p:nvSpPr>
        <p:spPr>
          <a:xfrm>
            <a:off x="548640" y="2578608"/>
            <a:ext cx="1874520" cy="420624"/>
          </a:xfrm>
          <a:prstGeom prst="roundRect">
            <a:avLst>
              <a:gd name="adj" fmla="val 36957"/>
            </a:avLst>
          </a:prstGeom>
          <a:solidFill>
            <a:schemeClr val="accent6"/>
          </a:solidFill>
          <a:ln/>
        </p:spPr>
      </p:sp>
      <p:sp>
        <p:nvSpPr>
          <p:cNvPr id="12" name="Chip label-272"/>
          <p:cNvSpPr txBox="1"/>
          <p:nvPr/>
        </p:nvSpPr>
        <p:spPr>
          <a:xfrm>
            <a:off x="548640" y="2578608"/>
            <a:ext cx="1874520" cy="420624"/>
          </a:xfrm>
          <a:prstGeom prst="rect">
            <a:avLst/>
          </a:prstGeom>
          <a:noFill/>
          <a:ln/>
        </p:spPr>
        <p:txBody>
          <a:bodyPr wrap="square" lIns="0" tIns="0" rIns="0" bIns="0" rtlCol="0" anchor="ctr"/>
          <a:lstStyle/>
          <a:p>
            <a:pPr algn="ctr" indent="0" marL="0">
              <a:buNone/>
            </a:pPr>
            <a:r>
              <a:rPr lang="en-US" sz="1400" b="1" dirty="0">
                <a:solidFill>
                  <a:schemeClr val="bg1"/>
                </a:solidFill>
              </a:rPr>
              <a:t>+ traffic</a:t>
            </a:r>
            <a:endParaRPr lang="en-US" sz="1400" dirty="0"/>
          </a:p>
        </p:txBody>
      </p:sp>
      <p:sp>
        <p:nvSpPr>
          <p:cNvPr id="13" name="Chip-273"/>
          <p:cNvSpPr/>
          <p:nvPr/>
        </p:nvSpPr>
        <p:spPr>
          <a:xfrm>
            <a:off x="2560320" y="2578608"/>
            <a:ext cx="1874520" cy="420624"/>
          </a:xfrm>
          <a:prstGeom prst="roundRect">
            <a:avLst>
              <a:gd name="adj" fmla="val 36957"/>
            </a:avLst>
          </a:prstGeom>
          <a:solidFill>
            <a:schemeClr val="accent3"/>
          </a:solidFill>
          <a:ln/>
        </p:spPr>
      </p:sp>
      <p:sp>
        <p:nvSpPr>
          <p:cNvPr id="14" name="Chip label-274"/>
          <p:cNvSpPr txBox="1"/>
          <p:nvPr/>
        </p:nvSpPr>
        <p:spPr>
          <a:xfrm>
            <a:off x="2560320" y="2578608"/>
            <a:ext cx="1874520" cy="420624"/>
          </a:xfrm>
          <a:prstGeom prst="rect">
            <a:avLst/>
          </a:prstGeom>
          <a:noFill/>
          <a:ln/>
        </p:spPr>
        <p:txBody>
          <a:bodyPr wrap="square" lIns="0" tIns="0" rIns="0" bIns="0" rtlCol="0" anchor="ctr"/>
          <a:lstStyle/>
          <a:p>
            <a:pPr algn="ctr" indent="0" marL="0">
              <a:buNone/>
            </a:pPr>
            <a:r>
              <a:rPr lang="en-US" sz="1400" b="1" dirty="0">
                <a:solidFill>
                  <a:schemeClr val="bg1"/>
                </a:solidFill>
              </a:rPr>
              <a:t>+ fuel + track</a:t>
            </a:r>
            <a:endParaRPr lang="en-US" sz="1400" dirty="0"/>
          </a:p>
        </p:txBody>
      </p:sp>
      <p:sp>
        <p:nvSpPr>
          <p:cNvPr id="15" name="Chip-275"/>
          <p:cNvSpPr/>
          <p:nvPr/>
        </p:nvSpPr>
        <p:spPr>
          <a:xfrm>
            <a:off x="4572000" y="2578608"/>
            <a:ext cx="1874520" cy="420624"/>
          </a:xfrm>
          <a:prstGeom prst="roundRect">
            <a:avLst>
              <a:gd name="adj" fmla="val 36957"/>
            </a:avLst>
          </a:prstGeom>
          <a:solidFill>
            <a:schemeClr val="accent2"/>
          </a:solidFill>
          <a:ln/>
        </p:spPr>
      </p:sp>
      <p:sp>
        <p:nvSpPr>
          <p:cNvPr id="16" name="Chip label-276"/>
          <p:cNvSpPr txBox="1"/>
          <p:nvPr/>
        </p:nvSpPr>
        <p:spPr>
          <a:xfrm>
            <a:off x="4572000" y="2578608"/>
            <a:ext cx="1874520" cy="420624"/>
          </a:xfrm>
          <a:prstGeom prst="rect">
            <a:avLst/>
          </a:prstGeom>
          <a:noFill/>
          <a:ln/>
        </p:spPr>
        <p:txBody>
          <a:bodyPr wrap="square" lIns="0" tIns="0" rIns="0" bIns="0" rtlCol="0" anchor="ctr"/>
          <a:lstStyle/>
          <a:p>
            <a:pPr algn="ctr" indent="0" marL="0">
              <a:buNone/>
            </a:pPr>
            <a:r>
              <a:rPr lang="en-US" sz="1400" b="1" dirty="0">
                <a:solidFill>
                  <a:schemeClr val="tx1"/>
                </a:solidFill>
              </a:rPr>
              <a:t>+ SC / VSC</a:t>
            </a:r>
            <a:endParaRPr lang="en-US" sz="1400" dirty="0"/>
          </a:p>
        </p:txBody>
      </p:sp>
      <p:sp>
        <p:nvSpPr>
          <p:cNvPr id="17" name="Simulation notes"/>
          <p:cNvSpPr txBox="1"/>
          <p:nvPr/>
        </p:nvSpPr>
        <p:spPr>
          <a:xfrm>
            <a:off x="548640" y="3291840"/>
            <a:ext cx="5852160" cy="146304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tx1"/>
                </a:solidFill>
              </a:rPr>
              <a:t>Time to the flag </a:t>
            </a:r>
            <a:pPr indent="0" marL="0">
              <a:spcAft>
                <a:spcPts val="800"/>
              </a:spcAft>
              <a:buNone/>
            </a:pPr>
            <a:r>
              <a:rPr lang="en-US" sz="1400" dirty="0">
                <a:solidFill>
                  <a:schemeClr val="tx1"/>
                </a:solidFill>
              </a:rPr>
              <a:t>= every remaining lap + each stop's pit loss</a:t>
            </a:r>
            <a:endParaRPr lang="en-US" sz="1400" dirty="0"/>
          </a:p>
          <a:p>
            <a:pPr marL="203200" indent="-203200">
              <a:spcAft>
                <a:spcPts val="800"/>
              </a:spcAft>
              <a:buSzPct val="100000"/>
              <a:buChar char="•"/>
            </a:pPr>
            <a:r>
              <a:rPr lang="en-US" sz="1400" b="1" dirty="0">
                <a:solidFill>
                  <a:schemeClr val="tx1"/>
                </a:solidFill>
              </a:rPr>
              <a:t>Safety Car / VSC: </a:t>
            </a:r>
            <a:pPr indent="0" marL="0">
              <a:spcAft>
                <a:spcPts val="800"/>
              </a:spcAft>
              <a:buNone/>
            </a:pPr>
            <a:r>
              <a:rPr lang="en-US" sz="1400" dirty="0">
                <a:solidFill>
                  <a:schemeClr val="tx1"/>
                </a:solidFill>
              </a:rPr>
              <a:t>laps 1.40× / 1.30× slower, stops cost 50% / 60%</a:t>
            </a:r>
            <a:endParaRPr lang="en-US" sz="1400" dirty="0"/>
          </a:p>
          <a:p>
            <a:pPr marL="203200" indent="-203200">
              <a:spcAft>
                <a:spcPts val="800"/>
              </a:spcAft>
              <a:buSzPct val="100000"/>
              <a:buChar char="•"/>
            </a:pPr>
            <a:r>
              <a:rPr lang="en-US" sz="1400" b="1" dirty="0">
                <a:solidFill>
                  <a:schemeClr val="tx1"/>
                </a:solidFill>
              </a:rPr>
              <a:t>Tyre effect: </a:t>
            </a:r>
            <a:pPr indent="0" marL="0">
              <a:spcAft>
                <a:spcPts val="800"/>
              </a:spcAft>
              <a:buNone/>
            </a:pPr>
            <a:r>
              <a:rPr lang="en-US" sz="1400" dirty="0">
                <a:solidFill>
                  <a:schemeClr val="tx1"/>
                </a:solidFill>
              </a:rPr>
              <a:t>hand-written formula, or the ML model's learned curve for that circuit</a:t>
            </a:r>
            <a:endParaRPr lang="en-US" sz="1400" dirty="0"/>
          </a:p>
        </p:txBody>
      </p:sp>
      <p:sp>
        <p:nvSpPr>
          <p:cNvPr id="18" name="Card-277"/>
          <p:cNvSpPr/>
          <p:nvPr/>
        </p:nvSpPr>
        <p:spPr>
          <a:xfrm>
            <a:off x="6720840" y="1417320"/>
            <a:ext cx="4937760" cy="3337560"/>
          </a:xfrm>
          <a:prstGeom prst="roundRect">
            <a:avLst>
              <a:gd name="adj" fmla="val 3288"/>
            </a:avLst>
          </a:prstGeom>
          <a:solidFill>
            <a:schemeClr val="bg2"/>
          </a:solidFill>
          <a:ln/>
          <a:effectLst>
            <a:outerShdw sx="100000" sy="100000" kx="0" ky="0" algn="bl" rotWithShape="0" blurRad="101600" dist="38100" dir="5400000">
              <a:srgbClr val="000000">
                <a:alpha val="22000"/>
              </a:srgbClr>
            </a:outerShdw>
          </a:effectLst>
        </p:spPr>
      </p:sp>
      <p:pic>
        <p:nvPicPr>
          <p:cNvPr id="19" name="Badge critic-278" descr="critic icon">    </p:cNvPr>
          <p:cNvPicPr>
            <a:picLocks noChangeAspect="1"/>
          </p:cNvPicPr>
          <p:nvPr/>
        </p:nvPicPr>
        <p:blipFill>
          <a:blip r:embed="rId1"/>
          <a:stretch>
            <a:fillRect/>
          </a:stretch>
        </p:blipFill>
        <p:spPr>
          <a:xfrm>
            <a:off x="6949440" y="1627632"/>
            <a:ext cx="685800" cy="685800"/>
          </a:xfrm>
          <a:prstGeom prst="rect">
            <a:avLst/>
          </a:prstGeom>
        </p:spPr>
      </p:pic>
      <p:sp>
        <p:nvSpPr>
          <p:cNvPr id="20" name="Text-279"/>
          <p:cNvSpPr txBox="1"/>
          <p:nvPr/>
        </p:nvSpPr>
        <p:spPr>
          <a:xfrm>
            <a:off x="7772400" y="1737360"/>
            <a:ext cx="3657600" cy="457200"/>
          </a:xfrm>
          <a:prstGeom prst="rect">
            <a:avLst/>
          </a:prstGeom>
          <a:noFill/>
          <a:ln/>
        </p:spPr>
        <p:txBody>
          <a:bodyPr wrap="square" lIns="0" tIns="0" rIns="0" bIns="0" rtlCol="0" anchor="t"/>
          <a:lstStyle/>
          <a:p>
            <a:pPr algn="l" indent="0" marL="0">
              <a:buNone/>
            </a:pPr>
            <a:r>
              <a:rPr lang="en-US" sz="1800" b="1" dirty="0">
                <a:solidFill>
                  <a:schemeClr val="tx1"/>
                </a:solidFill>
              </a:rPr>
              <a:t>The Critic's rules</a:t>
            </a:r>
            <a:endParaRPr lang="en-US" sz="1800" dirty="0"/>
          </a:p>
        </p:txBody>
      </p:sp>
      <p:sp>
        <p:nvSpPr>
          <p:cNvPr id="21" name="Critic rules"/>
          <p:cNvSpPr txBox="1"/>
          <p:nvPr/>
        </p:nvSpPr>
        <p:spPr>
          <a:xfrm>
            <a:off x="6995160" y="2423160"/>
            <a:ext cx="4434840" cy="16002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Stops inside the remaining race, never on a closed pit lane</a:t>
            </a:r>
            <a:endParaRPr lang="en-US" sz="1300" dirty="0"/>
          </a:p>
          <a:p>
            <a:pPr marL="203200" indent="-203200">
              <a:spcAft>
                <a:spcPts val="500"/>
              </a:spcAft>
              <a:buSzPct val="100000"/>
              <a:buChar char="•"/>
            </a:pPr>
            <a:r>
              <a:rPr lang="en-US" sz="1300" dirty="0">
                <a:solidFill>
                  <a:schemeClr val="tx1"/>
                </a:solidFill>
              </a:rPr>
              <a:t>A new tyre set must be available</a:t>
            </a:r>
            <a:endParaRPr lang="en-US" sz="1300" dirty="0"/>
          </a:p>
          <a:p>
            <a:pPr marL="203200" indent="-203200">
              <a:spcAft>
                <a:spcPts val="500"/>
              </a:spcAft>
              <a:buSzPct val="100000"/>
              <a:buChar char="•"/>
            </a:pPr>
            <a:r>
              <a:rPr lang="en-US" sz="1300" dirty="0">
                <a:solidFill>
                  <a:schemeClr val="tx1"/>
                </a:solidFill>
              </a:rPr>
              <a:t>No tyre past its safe life (shorter with high wear)</a:t>
            </a:r>
            <a:endParaRPr lang="en-US" sz="1300" dirty="0"/>
          </a:p>
          <a:p>
            <a:pPr marL="203200" indent="-203200">
              <a:spcAft>
                <a:spcPts val="500"/>
              </a:spcAft>
              <a:buSzPct val="100000"/>
              <a:buChar char="•"/>
            </a:pPr>
            <a:r>
              <a:rPr lang="en-US" sz="1300" dirty="0">
                <a:solidFill>
                  <a:schemeClr val="tx1"/>
                </a:solidFill>
              </a:rPr>
              <a:t>Two different dry compounds, unless wet tyres are used</a:t>
            </a:r>
            <a:endParaRPr lang="en-US" sz="1300" dirty="0"/>
          </a:p>
          <a:p>
            <a:pPr marL="203200" indent="-203200">
              <a:spcAft>
                <a:spcPts val="500"/>
              </a:spcAft>
              <a:buSzPct val="100000"/>
              <a:buChar char="•"/>
            </a:pPr>
            <a:r>
              <a:rPr lang="en-US" sz="1300" dirty="0">
                <a:solidFill>
                  <a:schemeClr val="tx1"/>
                </a:solidFill>
              </a:rPr>
              <a:t>At most 2 laps on slicks on a wet track</a:t>
            </a:r>
            <a:endParaRPr lang="en-US" sz="1300" dirty="0"/>
          </a:p>
          <a:p>
            <a:pPr marL="203200" indent="-203200">
              <a:spcAft>
                <a:spcPts val="500"/>
              </a:spcAft>
              <a:buSzPct val="100000"/>
              <a:buChar char="•"/>
            </a:pPr>
            <a:r>
              <a:rPr lang="en-US" sz="1300" dirty="0">
                <a:solidFill>
                  <a:schemeClr val="tx1"/>
                </a:solidFill>
              </a:rPr>
              <a:t>Every number finite, adding up exactly, each stop counted once</a:t>
            </a:r>
            <a:endParaRPr lang="en-US" sz="1300" dirty="0"/>
          </a:p>
        </p:txBody>
      </p:sp>
      <p:sp>
        <p:nvSpPr>
          <p:cNvPr id="22" name="Text-280"/>
          <p:cNvSpPr txBox="1"/>
          <p:nvPr/>
        </p:nvSpPr>
        <p:spPr>
          <a:xfrm>
            <a:off x="6995160" y="4069080"/>
            <a:ext cx="4434840" cy="548640"/>
          </a:xfrm>
          <a:prstGeom prst="rect">
            <a:avLst/>
          </a:prstGeom>
          <a:noFill/>
          <a:ln/>
        </p:spPr>
        <p:txBody>
          <a:bodyPr wrap="square" lIns="0" tIns="0" rIns="0" bIns="0" rtlCol="0" anchor="t"/>
          <a:lstStyle/>
          <a:p>
            <a:pPr algn="l" indent="0" marL="0">
              <a:buNone/>
            </a:pPr>
            <a:r>
              <a:rPr lang="en-US" sz="1300" dirty="0">
                <a:solidFill>
                  <a:schemeClr val="tx2"/>
                </a:solidFill>
              </a:rPr>
              <a:t>Without AI, the call is </a:t>
            </a:r>
            <a:pPr algn="l" indent="0" marL="0">
              <a:buNone/>
            </a:pPr>
            <a:r>
              <a:rPr lang="en-US" sz="1300" b="1" dirty="0">
                <a:solidFill>
                  <a:schemeClr val="tx2"/>
                </a:solidFill>
              </a:rPr>
              <a:t>the fastest valid option</a:t>
            </a:r>
            <a:pPr algn="l" indent="0" marL="0">
              <a:buNone/>
            </a:pPr>
            <a:r>
              <a:rPr lang="en-US" sz="1300" dirty="0">
                <a:solidFill>
                  <a:schemeClr val="tx2"/>
                </a:solidFill>
              </a:rPr>
              <a:t> (ties: fewer stops, then the later stop).</a:t>
            </a:r>
            <a:endParaRPr lang="en-US" sz="1300" dirty="0"/>
          </a:p>
        </p:txBody>
      </p:sp>
      <p:sp>
        <p:nvSpPr>
          <p:cNvPr id="23" name="Text-281"/>
          <p:cNvSpPr txBox="1"/>
          <p:nvPr/>
        </p:nvSpPr>
        <p:spPr>
          <a:xfrm>
            <a:off x="548640" y="5029200"/>
            <a:ext cx="1828800" cy="274320"/>
          </a:xfrm>
          <a:prstGeom prst="rect">
            <a:avLst/>
          </a:prstGeom>
          <a:noFill/>
          <a:ln/>
        </p:spPr>
        <p:txBody>
          <a:bodyPr wrap="square" lIns="0" tIns="0" rIns="0" bIns="0" rtlCol="0" anchor="t"/>
          <a:lstStyle/>
          <a:p>
            <a:pPr algn="l" indent="0" marL="0">
              <a:buNone/>
            </a:pPr>
            <a:r>
              <a:rPr lang="en-US" sz="1400" b="1" dirty="0">
                <a:solidFill>
                  <a:schemeClr val="tx1"/>
                </a:solidFill>
              </a:rPr>
              <a:t>A stop on lap P</a:t>
            </a:r>
            <a:endParaRPr lang="en-US" sz="1400" dirty="0"/>
          </a:p>
        </p:txBody>
      </p:sp>
      <p:sp>
        <p:nvSpPr>
          <p:cNvPr id="24" name="Text-282"/>
          <p:cNvSpPr txBox="1"/>
          <p:nvPr/>
        </p:nvSpPr>
        <p:spPr>
          <a:xfrm>
            <a:off x="548640" y="5321808"/>
            <a:ext cx="1691640" cy="731520"/>
          </a:xfrm>
          <a:prstGeom prst="rect">
            <a:avLst/>
          </a:prstGeom>
          <a:noFill/>
          <a:ln/>
        </p:spPr>
        <p:txBody>
          <a:bodyPr wrap="square" lIns="0" tIns="0" rIns="0" bIns="0" rtlCol="0" anchor="t"/>
          <a:lstStyle/>
          <a:p>
            <a:pPr algn="l" indent="0" marL="0">
              <a:buNone/>
            </a:pPr>
            <a:r>
              <a:rPr lang="en-US" sz="1200" dirty="0">
                <a:solidFill>
                  <a:schemeClr val="tx2"/>
                </a:solidFill>
              </a:rPr>
              <a:t>the convention every agent and test uses</a:t>
            </a:r>
            <a:endParaRPr lang="en-US" sz="1200" dirty="0"/>
          </a:p>
        </p:txBody>
      </p:sp>
      <p:sp>
        <p:nvSpPr>
          <p:cNvPr id="25" name="Card-283"/>
          <p:cNvSpPr/>
          <p:nvPr/>
        </p:nvSpPr>
        <p:spPr>
          <a:xfrm>
            <a:off x="2377440" y="5029200"/>
            <a:ext cx="1664208" cy="914400"/>
          </a:xfrm>
          <a:prstGeom prst="roundRect">
            <a:avLst>
              <a:gd name="adj" fmla="val 10000"/>
            </a:avLst>
          </a:prstGeom>
          <a:solidFill>
            <a:schemeClr val="bg2"/>
          </a:solidFill>
          <a:ln w="12700">
            <a:solidFill>
              <a:srgbClr val="D9DBE3"/>
            </a:solidFill>
            <a:prstDash val="solid"/>
          </a:ln>
        </p:spPr>
      </p:sp>
      <p:sp>
        <p:nvSpPr>
          <p:cNvPr id="26" name="Text-284"/>
          <p:cNvSpPr txBox="1"/>
          <p:nvPr/>
        </p:nvSpPr>
        <p:spPr>
          <a:xfrm>
            <a:off x="2468880" y="5102352"/>
            <a:ext cx="1481328" cy="329184"/>
          </a:xfrm>
          <a:prstGeom prst="rect">
            <a:avLst/>
          </a:prstGeom>
          <a:noFill/>
          <a:ln/>
        </p:spPr>
        <p:txBody>
          <a:bodyPr wrap="square" lIns="0" tIns="0" rIns="0" bIns="0" rtlCol="0" anchor="t"/>
          <a:lstStyle/>
          <a:p>
            <a:pPr algn="ctr" indent="0" marL="0">
              <a:buNone/>
            </a:pPr>
            <a:r>
              <a:rPr lang="en-US" sz="1500" b="1" dirty="0">
                <a:solidFill>
                  <a:schemeClr val="tx1"/>
                </a:solidFill>
                <a:latin typeface="Bookman Old Style" pitchFamily="34" charset="0"/>
                <a:ea typeface="Bookman Old Style" pitchFamily="34" charset="-122"/>
                <a:cs typeface="Bookman Old Style" pitchFamily="34" charset="-120"/>
              </a:rPr>
              <a:t>Lap P−1</a:t>
            </a:r>
            <a:endParaRPr lang="en-US" sz="1500" dirty="0"/>
          </a:p>
        </p:txBody>
      </p:sp>
      <p:sp>
        <p:nvSpPr>
          <p:cNvPr id="27" name="Text-285"/>
          <p:cNvSpPr txBox="1"/>
          <p:nvPr/>
        </p:nvSpPr>
        <p:spPr>
          <a:xfrm>
            <a:off x="2468880" y="5458968"/>
            <a:ext cx="1481328" cy="411480"/>
          </a:xfrm>
          <a:prstGeom prst="rect">
            <a:avLst/>
          </a:prstGeom>
          <a:noFill/>
          <a:ln/>
        </p:spPr>
        <p:txBody>
          <a:bodyPr wrap="square" lIns="0" tIns="0" rIns="0" bIns="0" rtlCol="0" anchor="t"/>
          <a:lstStyle/>
          <a:p>
            <a:pPr algn="ctr" indent="0" marL="0">
              <a:buNone/>
            </a:pPr>
            <a:r>
              <a:rPr lang="en-US" sz="1200" dirty="0">
                <a:solidFill>
                  <a:schemeClr val="tx1"/>
                </a:solidFill>
              </a:rPr>
              <a:t>old tyres</a:t>
            </a:r>
            <a:endParaRPr lang="en-US" sz="1200" dirty="0"/>
          </a:p>
        </p:txBody>
      </p:sp>
      <p:sp>
        <p:nvSpPr>
          <p:cNvPr id="28" name="Connector-286"/>
          <p:cNvSpPr/>
          <p:nvPr/>
        </p:nvSpPr>
        <p:spPr>
          <a:xfrm>
            <a:off x="4059936" y="5486400"/>
            <a:ext cx="164592" cy="91"/>
          </a:xfrm>
          <a:prstGeom prst="line">
            <a:avLst/>
          </a:prstGeom>
          <a:noFill/>
          <a:ln w="25400">
            <a:solidFill>
              <a:schemeClr val="tx2"/>
            </a:solidFill>
            <a:prstDash val="solid"/>
            <a:tailEnd type="triangle"/>
          </a:ln>
        </p:spPr>
      </p:sp>
      <p:sp>
        <p:nvSpPr>
          <p:cNvPr id="29" name="Card-287"/>
          <p:cNvSpPr/>
          <p:nvPr/>
        </p:nvSpPr>
        <p:spPr>
          <a:xfrm>
            <a:off x="4242816" y="5029200"/>
            <a:ext cx="1664208" cy="914400"/>
          </a:xfrm>
          <a:prstGeom prst="roundRect">
            <a:avLst>
              <a:gd name="adj" fmla="val 10000"/>
            </a:avLst>
          </a:prstGeom>
          <a:solidFill>
            <a:schemeClr val="bg2"/>
          </a:solidFill>
          <a:ln w="12700">
            <a:solidFill>
              <a:srgbClr val="D9DBE3"/>
            </a:solidFill>
            <a:prstDash val="solid"/>
          </a:ln>
        </p:spPr>
      </p:sp>
      <p:sp>
        <p:nvSpPr>
          <p:cNvPr id="30" name="Text-288"/>
          <p:cNvSpPr txBox="1"/>
          <p:nvPr/>
        </p:nvSpPr>
        <p:spPr>
          <a:xfrm>
            <a:off x="4334256" y="5102352"/>
            <a:ext cx="1481328" cy="329184"/>
          </a:xfrm>
          <a:prstGeom prst="rect">
            <a:avLst/>
          </a:prstGeom>
          <a:noFill/>
          <a:ln/>
        </p:spPr>
        <p:txBody>
          <a:bodyPr wrap="square" lIns="0" tIns="0" rIns="0" bIns="0" rtlCol="0" anchor="t"/>
          <a:lstStyle/>
          <a:p>
            <a:pPr algn="ctr" indent="0" marL="0">
              <a:buNone/>
            </a:pPr>
            <a:r>
              <a:rPr lang="en-US" sz="1500" b="1" dirty="0">
                <a:solidFill>
                  <a:schemeClr val="tx1"/>
                </a:solidFill>
                <a:latin typeface="Bookman Old Style" pitchFamily="34" charset="0"/>
                <a:ea typeface="Bookman Old Style" pitchFamily="34" charset="-122"/>
                <a:cs typeface="Bookman Old Style" pitchFamily="34" charset="-120"/>
              </a:rPr>
              <a:t>Lap P</a:t>
            </a:r>
            <a:endParaRPr lang="en-US" sz="1500" dirty="0"/>
          </a:p>
        </p:txBody>
      </p:sp>
      <p:sp>
        <p:nvSpPr>
          <p:cNvPr id="31" name="Text-289"/>
          <p:cNvSpPr txBox="1"/>
          <p:nvPr/>
        </p:nvSpPr>
        <p:spPr>
          <a:xfrm>
            <a:off x="4334256" y="5458968"/>
            <a:ext cx="1481328" cy="411480"/>
          </a:xfrm>
          <a:prstGeom prst="rect">
            <a:avLst/>
          </a:prstGeom>
          <a:noFill/>
          <a:ln/>
        </p:spPr>
        <p:txBody>
          <a:bodyPr wrap="square" lIns="0" tIns="0" rIns="0" bIns="0" rtlCol="0" anchor="t"/>
          <a:lstStyle/>
          <a:p>
            <a:pPr algn="ctr" indent="0" marL="0">
              <a:buNone/>
            </a:pPr>
            <a:r>
              <a:rPr lang="en-US" sz="1200" dirty="0">
                <a:solidFill>
                  <a:schemeClr val="tx1"/>
                </a:solidFill>
              </a:rPr>
              <a:t>in-lap, still old tyres</a:t>
            </a:r>
            <a:endParaRPr lang="en-US" sz="1200" dirty="0"/>
          </a:p>
        </p:txBody>
      </p:sp>
      <p:sp>
        <p:nvSpPr>
          <p:cNvPr id="32" name="Connector-290"/>
          <p:cNvSpPr/>
          <p:nvPr/>
        </p:nvSpPr>
        <p:spPr>
          <a:xfrm>
            <a:off x="5925312" y="5486400"/>
            <a:ext cx="164592" cy="91"/>
          </a:xfrm>
          <a:prstGeom prst="line">
            <a:avLst/>
          </a:prstGeom>
          <a:noFill/>
          <a:ln w="25400">
            <a:solidFill>
              <a:schemeClr val="tx2"/>
            </a:solidFill>
            <a:prstDash val="solid"/>
            <a:tailEnd type="triangle"/>
          </a:ln>
        </p:spPr>
      </p:sp>
      <p:sp>
        <p:nvSpPr>
          <p:cNvPr id="33" name="Card-291"/>
          <p:cNvSpPr/>
          <p:nvPr/>
        </p:nvSpPr>
        <p:spPr>
          <a:xfrm>
            <a:off x="6108192" y="5029200"/>
            <a:ext cx="1664208" cy="914400"/>
          </a:xfrm>
          <a:prstGeom prst="roundRect">
            <a:avLst>
              <a:gd name="adj" fmla="val 10000"/>
            </a:avLst>
          </a:prstGeom>
          <a:solidFill>
            <a:schemeClr val="accent2"/>
          </a:solidFill>
          <a:ln/>
        </p:spPr>
      </p:sp>
      <p:sp>
        <p:nvSpPr>
          <p:cNvPr id="34" name="Text-292"/>
          <p:cNvSpPr txBox="1"/>
          <p:nvPr/>
        </p:nvSpPr>
        <p:spPr>
          <a:xfrm>
            <a:off x="6199632" y="5102352"/>
            <a:ext cx="1481328" cy="329184"/>
          </a:xfrm>
          <a:prstGeom prst="rect">
            <a:avLst/>
          </a:prstGeom>
          <a:noFill/>
          <a:ln/>
        </p:spPr>
        <p:txBody>
          <a:bodyPr wrap="square" lIns="0" tIns="0" rIns="0" bIns="0" rtlCol="0" anchor="t"/>
          <a:lstStyle/>
          <a:p>
            <a:pPr algn="ctr" indent="0" marL="0">
              <a:buNone/>
            </a:pPr>
            <a:r>
              <a:rPr lang="en-US" sz="1500" b="1" dirty="0">
                <a:solidFill>
                  <a:schemeClr val="tx1"/>
                </a:solidFill>
                <a:latin typeface="Bookman Old Style" pitchFamily="34" charset="0"/>
                <a:ea typeface="Bookman Old Style" pitchFamily="34" charset="-122"/>
                <a:cs typeface="Bookman Old Style" pitchFamily="34" charset="-120"/>
              </a:rPr>
              <a:t>Pit stop</a:t>
            </a:r>
            <a:endParaRPr lang="en-US" sz="1500" dirty="0"/>
          </a:p>
        </p:txBody>
      </p:sp>
      <p:sp>
        <p:nvSpPr>
          <p:cNvPr id="35" name="Text-293"/>
          <p:cNvSpPr txBox="1"/>
          <p:nvPr/>
        </p:nvSpPr>
        <p:spPr>
          <a:xfrm>
            <a:off x="6199632" y="5458968"/>
            <a:ext cx="1481328" cy="411480"/>
          </a:xfrm>
          <a:prstGeom prst="rect">
            <a:avLst/>
          </a:prstGeom>
          <a:noFill/>
          <a:ln/>
        </p:spPr>
        <p:txBody>
          <a:bodyPr wrap="square" lIns="0" tIns="0" rIns="0" bIns="0" rtlCol="0" anchor="t"/>
          <a:lstStyle/>
          <a:p>
            <a:pPr algn="ctr" indent="0" marL="0">
              <a:buNone/>
            </a:pPr>
            <a:r>
              <a:rPr lang="en-US" sz="1200" dirty="0">
                <a:solidFill>
                  <a:schemeClr val="tx1"/>
                </a:solidFill>
              </a:rPr>
              <a:t>pit loss added once</a:t>
            </a:r>
            <a:endParaRPr lang="en-US" sz="1200" dirty="0"/>
          </a:p>
        </p:txBody>
      </p:sp>
      <p:sp>
        <p:nvSpPr>
          <p:cNvPr id="36" name="Connector-294"/>
          <p:cNvSpPr/>
          <p:nvPr/>
        </p:nvSpPr>
        <p:spPr>
          <a:xfrm>
            <a:off x="7790688" y="5486400"/>
            <a:ext cx="164592" cy="91"/>
          </a:xfrm>
          <a:prstGeom prst="line">
            <a:avLst/>
          </a:prstGeom>
          <a:noFill/>
          <a:ln w="25400">
            <a:solidFill>
              <a:schemeClr val="tx2"/>
            </a:solidFill>
            <a:prstDash val="solid"/>
            <a:tailEnd type="triangle"/>
          </a:ln>
        </p:spPr>
      </p:sp>
      <p:sp>
        <p:nvSpPr>
          <p:cNvPr id="37" name="Card-295"/>
          <p:cNvSpPr/>
          <p:nvPr/>
        </p:nvSpPr>
        <p:spPr>
          <a:xfrm>
            <a:off x="7973568" y="5029200"/>
            <a:ext cx="1664208" cy="914400"/>
          </a:xfrm>
          <a:prstGeom prst="roundRect">
            <a:avLst>
              <a:gd name="adj" fmla="val 10000"/>
            </a:avLst>
          </a:prstGeom>
          <a:solidFill>
            <a:schemeClr val="accent3"/>
          </a:solidFill>
          <a:ln/>
        </p:spPr>
      </p:sp>
      <p:sp>
        <p:nvSpPr>
          <p:cNvPr id="38" name="Text-296"/>
          <p:cNvSpPr txBox="1"/>
          <p:nvPr/>
        </p:nvSpPr>
        <p:spPr>
          <a:xfrm>
            <a:off x="8065008" y="5102352"/>
            <a:ext cx="1481328" cy="329184"/>
          </a:xfrm>
          <a:prstGeom prst="rect">
            <a:avLst/>
          </a:prstGeom>
          <a:noFill/>
          <a:ln/>
        </p:spPr>
        <p:txBody>
          <a:bodyPr wrap="square" lIns="0" tIns="0" rIns="0" bIns="0" rtlCol="0" anchor="t"/>
          <a:lstStyle/>
          <a:p>
            <a:pPr algn="ctr" indent="0" marL="0">
              <a:buNone/>
            </a:pPr>
            <a:r>
              <a:rPr lang="en-US" sz="1500" b="1" dirty="0">
                <a:solidFill>
                  <a:schemeClr val="tx1"/>
                </a:solidFill>
                <a:latin typeface="Bookman Old Style" pitchFamily="34" charset="0"/>
                <a:ea typeface="Bookman Old Style" pitchFamily="34" charset="-122"/>
                <a:cs typeface="Bookman Old Style" pitchFamily="34" charset="-120"/>
              </a:rPr>
              <a:t>Lap P+1</a:t>
            </a:r>
            <a:endParaRPr lang="en-US" sz="1500" dirty="0"/>
          </a:p>
        </p:txBody>
      </p:sp>
      <p:sp>
        <p:nvSpPr>
          <p:cNvPr id="39" name="Text-297"/>
          <p:cNvSpPr txBox="1"/>
          <p:nvPr/>
        </p:nvSpPr>
        <p:spPr>
          <a:xfrm>
            <a:off x="8065008" y="5458968"/>
            <a:ext cx="1481328" cy="411480"/>
          </a:xfrm>
          <a:prstGeom prst="rect">
            <a:avLst/>
          </a:prstGeom>
          <a:noFill/>
          <a:ln/>
        </p:spPr>
        <p:txBody>
          <a:bodyPr wrap="square" lIns="0" tIns="0" rIns="0" bIns="0" rtlCol="0" anchor="t"/>
          <a:lstStyle/>
          <a:p>
            <a:pPr algn="ctr" indent="0" marL="0">
              <a:buNone/>
            </a:pPr>
            <a:r>
              <a:rPr lang="en-US" sz="1200" dirty="0">
                <a:solidFill>
                  <a:schemeClr val="tx1"/>
                </a:solidFill>
              </a:rPr>
              <a:t>new tyres, age 0</a:t>
            </a:r>
            <a:endParaRPr lang="en-US" sz="1200" dirty="0"/>
          </a:p>
        </p:txBody>
      </p:sp>
      <p:sp>
        <p:nvSpPr>
          <p:cNvPr id="40" name="Connector-298"/>
          <p:cNvSpPr/>
          <p:nvPr/>
        </p:nvSpPr>
        <p:spPr>
          <a:xfrm>
            <a:off x="9656064" y="5486400"/>
            <a:ext cx="164592" cy="91"/>
          </a:xfrm>
          <a:prstGeom prst="line">
            <a:avLst/>
          </a:prstGeom>
          <a:noFill/>
          <a:ln w="25400">
            <a:solidFill>
              <a:schemeClr val="tx2"/>
            </a:solidFill>
            <a:prstDash val="solid"/>
            <a:tailEnd type="triangle"/>
          </a:ln>
        </p:spPr>
      </p:sp>
      <p:sp>
        <p:nvSpPr>
          <p:cNvPr id="41" name="Card-299"/>
          <p:cNvSpPr/>
          <p:nvPr/>
        </p:nvSpPr>
        <p:spPr>
          <a:xfrm>
            <a:off x="9838944" y="5029200"/>
            <a:ext cx="1664208" cy="914400"/>
          </a:xfrm>
          <a:prstGeom prst="roundRect">
            <a:avLst>
              <a:gd name="adj" fmla="val 10000"/>
            </a:avLst>
          </a:prstGeom>
          <a:solidFill>
            <a:schemeClr val="accent3"/>
          </a:solidFill>
          <a:ln/>
        </p:spPr>
      </p:sp>
      <p:sp>
        <p:nvSpPr>
          <p:cNvPr id="42" name="Text-300"/>
          <p:cNvSpPr txBox="1"/>
          <p:nvPr/>
        </p:nvSpPr>
        <p:spPr>
          <a:xfrm>
            <a:off x="9930384" y="5102352"/>
            <a:ext cx="1481328" cy="329184"/>
          </a:xfrm>
          <a:prstGeom prst="rect">
            <a:avLst/>
          </a:prstGeom>
          <a:noFill/>
          <a:ln/>
        </p:spPr>
        <p:txBody>
          <a:bodyPr wrap="square" lIns="0" tIns="0" rIns="0" bIns="0" rtlCol="0" anchor="t"/>
          <a:lstStyle/>
          <a:p>
            <a:pPr algn="ctr" indent="0" marL="0">
              <a:buNone/>
            </a:pPr>
            <a:r>
              <a:rPr lang="en-US" sz="1500" b="1" dirty="0">
                <a:solidFill>
                  <a:schemeClr val="tx1"/>
                </a:solidFill>
                <a:latin typeface="Bookman Old Style" pitchFamily="34" charset="0"/>
                <a:ea typeface="Bookman Old Style" pitchFamily="34" charset="-122"/>
                <a:cs typeface="Bookman Old Style" pitchFamily="34" charset="-120"/>
              </a:rPr>
              <a:t>Lap P+2</a:t>
            </a:r>
            <a:endParaRPr lang="en-US" sz="1500" dirty="0"/>
          </a:p>
        </p:txBody>
      </p:sp>
      <p:sp>
        <p:nvSpPr>
          <p:cNvPr id="43" name="Text-301"/>
          <p:cNvSpPr txBox="1"/>
          <p:nvPr/>
        </p:nvSpPr>
        <p:spPr>
          <a:xfrm>
            <a:off x="9930384" y="5458968"/>
            <a:ext cx="1481328" cy="411480"/>
          </a:xfrm>
          <a:prstGeom prst="rect">
            <a:avLst/>
          </a:prstGeom>
          <a:noFill/>
          <a:ln/>
        </p:spPr>
        <p:txBody>
          <a:bodyPr wrap="square" lIns="0" tIns="0" rIns="0" bIns="0" rtlCol="0" anchor="t"/>
          <a:lstStyle/>
          <a:p>
            <a:pPr algn="ctr" indent="0" marL="0">
              <a:buNone/>
            </a:pPr>
            <a:r>
              <a:rPr lang="en-US" sz="1200" dirty="0">
                <a:solidFill>
                  <a:schemeClr val="tx1"/>
                </a:solidFill>
              </a:rPr>
              <a:t>new tyres, age 1</a:t>
            </a:r>
            <a:endParaRPr lang="en-US" sz="12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IMPLEMENTATION · THE AI MODEL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Using an AI model without trusting it blindly</a:t>
            </a:r>
            <a:endParaRPr lang="en-US" sz="3200" dirty="0"/>
          </a:p>
        </p:txBody>
      </p:sp>
      <p:sp>
        <p:nvSpPr>
          <p:cNvPr id="4" name="Card-302"/>
          <p:cNvSpPr/>
          <p:nvPr/>
        </p:nvSpPr>
        <p:spPr>
          <a:xfrm>
            <a:off x="548640" y="1463040"/>
            <a:ext cx="2011680" cy="2148840"/>
          </a:xfrm>
          <a:prstGeom prst="roundRect">
            <a:avLst>
              <a:gd name="adj" fmla="val 5455"/>
            </a:avLst>
          </a:prstGeom>
          <a:solidFill>
            <a:schemeClr val="bg2"/>
          </a:solidFill>
          <a:ln/>
          <a:effectLst>
            <a:outerShdw sx="100000" sy="100000" kx="0" ky="0" algn="bl" rotWithShape="0" blurRad="101600" dist="38100" dir="5400000">
              <a:srgbClr val="000000">
                <a:alpha val="22000"/>
              </a:srgbClr>
            </a:outerShdw>
          </a:effectLst>
        </p:spPr>
      </p:sp>
      <p:pic>
        <p:nvPicPr>
          <p:cNvPr id="5" name="Badge db-303" descr="db icon">    </p:cNvPr>
          <p:cNvPicPr>
            <a:picLocks noChangeAspect="1"/>
          </p:cNvPicPr>
          <p:nvPr/>
        </p:nvPicPr>
        <p:blipFill>
          <a:blip r:embed="rId1"/>
          <a:stretch>
            <a:fillRect/>
          </a:stretch>
        </p:blipFill>
        <p:spPr>
          <a:xfrm>
            <a:off x="1207008" y="1627632"/>
            <a:ext cx="685800" cy="685800"/>
          </a:xfrm>
          <a:prstGeom prst="rect">
            <a:avLst/>
          </a:prstGeom>
        </p:spPr>
      </p:pic>
      <p:sp>
        <p:nvSpPr>
          <p:cNvPr id="6" name="Text-304"/>
          <p:cNvSpPr txBox="1"/>
          <p:nvPr/>
        </p:nvSpPr>
        <p:spPr>
          <a:xfrm>
            <a:off x="658368" y="2377440"/>
            <a:ext cx="1792224" cy="365760"/>
          </a:xfrm>
          <a:prstGeom prst="rect">
            <a:avLst/>
          </a:prstGeom>
          <a:noFill/>
          <a:ln/>
        </p:spPr>
        <p:txBody>
          <a:bodyPr wrap="square" lIns="0" tIns="0" rIns="0" bIns="0" rtlCol="0" anchor="t"/>
          <a:lstStyle/>
          <a:p>
            <a:pPr algn="ctr" indent="0" marL="0">
              <a:buNone/>
            </a:pPr>
            <a:r>
              <a:rPr lang="en-US" sz="1500" b="1" dirty="0">
                <a:solidFill>
                  <a:schemeClr val="tx1"/>
                </a:solidFill>
              </a:rPr>
              <a:t>Race brief</a:t>
            </a:r>
            <a:endParaRPr lang="en-US" sz="1500" dirty="0"/>
          </a:p>
        </p:txBody>
      </p:sp>
      <p:sp>
        <p:nvSpPr>
          <p:cNvPr id="7" name="Text-305"/>
          <p:cNvSpPr txBox="1"/>
          <p:nvPr/>
        </p:nvSpPr>
        <p:spPr>
          <a:xfrm>
            <a:off x="676656" y="2761488"/>
            <a:ext cx="1755648" cy="822960"/>
          </a:xfrm>
          <a:prstGeom prst="rect">
            <a:avLst/>
          </a:prstGeom>
          <a:noFill/>
          <a:ln/>
        </p:spPr>
        <p:txBody>
          <a:bodyPr wrap="square" lIns="0" tIns="0" rIns="0" bIns="0" rtlCol="0" anchor="t"/>
          <a:lstStyle/>
          <a:p>
            <a:pPr algn="ctr" indent="0" marL="0">
              <a:buNone/>
            </a:pPr>
            <a:r>
              <a:rPr lang="en-US" sz="1150" dirty="0">
                <a:solidFill>
                  <a:schemeClr val="tx2"/>
                </a:solidFill>
              </a:rPr>
              <a:t>short JSON of the facts: lap, tyres, safe life, pit loss, SC, rain, gaps</a:t>
            </a:r>
            <a:endParaRPr lang="en-US" sz="1150" dirty="0"/>
          </a:p>
        </p:txBody>
      </p:sp>
      <p:sp>
        <p:nvSpPr>
          <p:cNvPr id="8" name="Connector-306"/>
          <p:cNvSpPr/>
          <p:nvPr/>
        </p:nvSpPr>
        <p:spPr>
          <a:xfrm>
            <a:off x="2578608" y="2532888"/>
            <a:ext cx="219456" cy="91"/>
          </a:xfrm>
          <a:prstGeom prst="line">
            <a:avLst/>
          </a:prstGeom>
          <a:noFill/>
          <a:ln w="25400">
            <a:solidFill>
              <a:schemeClr val="tx2"/>
            </a:solidFill>
            <a:prstDash val="solid"/>
            <a:tailEnd type="triangle"/>
          </a:ln>
        </p:spPr>
      </p:sp>
      <p:sp>
        <p:nvSpPr>
          <p:cNvPr id="9" name="Card-307"/>
          <p:cNvSpPr/>
          <p:nvPr/>
        </p:nvSpPr>
        <p:spPr>
          <a:xfrm>
            <a:off x="2816352" y="1463040"/>
            <a:ext cx="2011680" cy="2148840"/>
          </a:xfrm>
          <a:prstGeom prst="roundRect">
            <a:avLst>
              <a:gd name="adj" fmla="val 5455"/>
            </a:avLst>
          </a:prstGeom>
          <a:solidFill>
            <a:schemeClr val="bg2"/>
          </a:solidFill>
          <a:ln/>
          <a:effectLst>
            <a:outerShdw sx="100000" sy="100000" kx="0" ky="0" algn="bl" rotWithShape="0" blurRad="101600" dist="38100" dir="5400000">
              <a:srgbClr val="000000">
                <a:alpha val="22000"/>
              </a:srgbClr>
            </a:outerShdw>
          </a:effectLst>
        </p:spPr>
      </p:sp>
      <p:pic>
        <p:nvPicPr>
          <p:cNvPr id="10" name="Badge brain-308" descr="brain icon">    </p:cNvPr>
          <p:cNvPicPr>
            <a:picLocks noChangeAspect="1"/>
          </p:cNvPicPr>
          <p:nvPr/>
        </p:nvPicPr>
        <p:blipFill>
          <a:blip r:embed="rId2"/>
          <a:stretch>
            <a:fillRect/>
          </a:stretch>
        </p:blipFill>
        <p:spPr>
          <a:xfrm>
            <a:off x="3474720" y="1627632"/>
            <a:ext cx="685800" cy="685800"/>
          </a:xfrm>
          <a:prstGeom prst="rect">
            <a:avLst/>
          </a:prstGeom>
        </p:spPr>
      </p:pic>
      <p:sp>
        <p:nvSpPr>
          <p:cNvPr id="11" name="Text-309"/>
          <p:cNvSpPr txBox="1"/>
          <p:nvPr/>
        </p:nvSpPr>
        <p:spPr>
          <a:xfrm>
            <a:off x="2926080" y="2377440"/>
            <a:ext cx="1792224" cy="365760"/>
          </a:xfrm>
          <a:prstGeom prst="rect">
            <a:avLst/>
          </a:prstGeom>
          <a:noFill/>
          <a:ln/>
        </p:spPr>
        <p:txBody>
          <a:bodyPr wrap="square" lIns="0" tIns="0" rIns="0" bIns="0" rtlCol="0" anchor="t"/>
          <a:lstStyle/>
          <a:p>
            <a:pPr algn="ctr" indent="0" marL="0">
              <a:buNone/>
            </a:pPr>
            <a:r>
              <a:rPr lang="en-US" sz="1500" b="1" dirty="0">
                <a:solidFill>
                  <a:schemeClr val="tx1"/>
                </a:solidFill>
              </a:rPr>
              <a:t>AI model</a:t>
            </a:r>
            <a:endParaRPr lang="en-US" sz="1500" dirty="0"/>
          </a:p>
        </p:txBody>
      </p:sp>
      <p:sp>
        <p:nvSpPr>
          <p:cNvPr id="12" name="Text-310"/>
          <p:cNvSpPr txBox="1"/>
          <p:nvPr/>
        </p:nvSpPr>
        <p:spPr>
          <a:xfrm>
            <a:off x="2944368" y="2761488"/>
            <a:ext cx="1755648" cy="822960"/>
          </a:xfrm>
          <a:prstGeom prst="rect">
            <a:avLst/>
          </a:prstGeom>
          <a:noFill/>
          <a:ln/>
        </p:spPr>
        <p:txBody>
          <a:bodyPr wrap="square" lIns="0" tIns="0" rIns="0" bIns="0" rtlCol="0" anchor="t"/>
          <a:lstStyle/>
          <a:p>
            <a:pPr algn="ctr" indent="0" marL="0">
              <a:buNone/>
            </a:pPr>
            <a:r>
              <a:rPr lang="en-US" sz="1150" dirty="0">
                <a:solidFill>
                  <a:schemeClr val="tx2"/>
                </a:solidFill>
              </a:rPr>
              <a:t>Groq · OpenAI gpt-oss-120b (free plan); Gemini or Ollama</a:t>
            </a:r>
            <a:endParaRPr lang="en-US" sz="1150" dirty="0"/>
          </a:p>
        </p:txBody>
      </p:sp>
      <p:sp>
        <p:nvSpPr>
          <p:cNvPr id="13" name="Connector-311"/>
          <p:cNvSpPr/>
          <p:nvPr/>
        </p:nvSpPr>
        <p:spPr>
          <a:xfrm>
            <a:off x="4846320" y="2532888"/>
            <a:ext cx="219456" cy="91"/>
          </a:xfrm>
          <a:prstGeom prst="line">
            <a:avLst/>
          </a:prstGeom>
          <a:noFill/>
          <a:ln w="25400">
            <a:solidFill>
              <a:schemeClr val="tx2"/>
            </a:solidFill>
            <a:prstDash val="solid"/>
            <a:tailEnd type="triangle"/>
          </a:ln>
        </p:spPr>
      </p:sp>
      <p:sp>
        <p:nvSpPr>
          <p:cNvPr id="14" name="Card-312"/>
          <p:cNvSpPr/>
          <p:nvPr/>
        </p:nvSpPr>
        <p:spPr>
          <a:xfrm>
            <a:off x="5084064" y="1463040"/>
            <a:ext cx="2011680" cy="2148840"/>
          </a:xfrm>
          <a:prstGeom prst="roundRect">
            <a:avLst>
              <a:gd name="adj" fmla="val 5455"/>
            </a:avLst>
          </a:prstGeom>
          <a:solidFill>
            <a:schemeClr val="bg2"/>
          </a:solidFill>
          <a:ln/>
          <a:effectLst>
            <a:outerShdw sx="100000" sy="100000" kx="0" ky="0" algn="bl" rotWithShape="0" blurRad="101600" dist="38100" dir="5400000">
              <a:srgbClr val="000000">
                <a:alpha val="22000"/>
              </a:srgbClr>
            </a:outerShdw>
          </a:effectLst>
        </p:spPr>
      </p:sp>
      <p:pic>
        <p:nvPicPr>
          <p:cNvPr id="15" name="Badge code-313" descr="code icon">    </p:cNvPr>
          <p:cNvPicPr>
            <a:picLocks noChangeAspect="1"/>
          </p:cNvPicPr>
          <p:nvPr/>
        </p:nvPicPr>
        <p:blipFill>
          <a:blip r:embed="rId3"/>
          <a:stretch>
            <a:fillRect/>
          </a:stretch>
        </p:blipFill>
        <p:spPr>
          <a:xfrm>
            <a:off x="5742432" y="1627632"/>
            <a:ext cx="685800" cy="685800"/>
          </a:xfrm>
          <a:prstGeom prst="rect">
            <a:avLst/>
          </a:prstGeom>
        </p:spPr>
      </p:pic>
      <p:sp>
        <p:nvSpPr>
          <p:cNvPr id="16" name="Text-314"/>
          <p:cNvSpPr txBox="1"/>
          <p:nvPr/>
        </p:nvSpPr>
        <p:spPr>
          <a:xfrm>
            <a:off x="5193792" y="2377440"/>
            <a:ext cx="1792224" cy="365760"/>
          </a:xfrm>
          <a:prstGeom prst="rect">
            <a:avLst/>
          </a:prstGeom>
          <a:noFill/>
          <a:ln/>
        </p:spPr>
        <p:txBody>
          <a:bodyPr wrap="square" lIns="0" tIns="0" rIns="0" bIns="0" rtlCol="0" anchor="t"/>
          <a:lstStyle/>
          <a:p>
            <a:pPr algn="ctr" indent="0" marL="0">
              <a:buNone/>
            </a:pPr>
            <a:r>
              <a:rPr lang="en-US" sz="1500" b="1" dirty="0">
                <a:solidFill>
                  <a:schemeClr val="tx1"/>
                </a:solidFill>
              </a:rPr>
              <a:t>JSON reply</a:t>
            </a:r>
            <a:endParaRPr lang="en-US" sz="1500" dirty="0"/>
          </a:p>
        </p:txBody>
      </p:sp>
      <p:sp>
        <p:nvSpPr>
          <p:cNvPr id="17" name="Text-315"/>
          <p:cNvSpPr txBox="1"/>
          <p:nvPr/>
        </p:nvSpPr>
        <p:spPr>
          <a:xfrm>
            <a:off x="5212080" y="2761488"/>
            <a:ext cx="1755648" cy="822960"/>
          </a:xfrm>
          <a:prstGeom prst="rect">
            <a:avLst/>
          </a:prstGeom>
          <a:noFill/>
          <a:ln/>
        </p:spPr>
        <p:txBody>
          <a:bodyPr wrap="square" lIns="0" tIns="0" rIns="0" bIns="0" rtlCol="0" anchor="t"/>
          <a:lstStyle/>
          <a:p>
            <a:pPr algn="ctr" indent="0" marL="0">
              <a:buNone/>
            </a:pPr>
            <a:r>
              <a:rPr lang="en-US" sz="1150" dirty="0">
                <a:solidFill>
                  <a:schemeClr val="tx2"/>
                </a:solidFill>
              </a:rPr>
              <a:t>plan to test, or the chosen option + why + radio</a:t>
            </a:r>
            <a:endParaRPr lang="en-US" sz="1150" dirty="0"/>
          </a:p>
        </p:txBody>
      </p:sp>
      <p:sp>
        <p:nvSpPr>
          <p:cNvPr id="18" name="Connector-316"/>
          <p:cNvSpPr/>
          <p:nvPr/>
        </p:nvSpPr>
        <p:spPr>
          <a:xfrm>
            <a:off x="7114032" y="2532888"/>
            <a:ext cx="219456" cy="91"/>
          </a:xfrm>
          <a:prstGeom prst="line">
            <a:avLst/>
          </a:prstGeom>
          <a:noFill/>
          <a:ln w="25400">
            <a:solidFill>
              <a:schemeClr val="tx2"/>
            </a:solidFill>
            <a:prstDash val="solid"/>
            <a:tailEnd type="triangle"/>
          </a:ln>
        </p:spPr>
      </p:sp>
      <p:sp>
        <p:nvSpPr>
          <p:cNvPr id="19" name="Card-317"/>
          <p:cNvSpPr/>
          <p:nvPr/>
        </p:nvSpPr>
        <p:spPr>
          <a:xfrm>
            <a:off x="7351776" y="1463040"/>
            <a:ext cx="2011680" cy="2148840"/>
          </a:xfrm>
          <a:prstGeom prst="roundRect">
            <a:avLst>
              <a:gd name="adj" fmla="val 5455"/>
            </a:avLst>
          </a:prstGeom>
          <a:solidFill>
            <a:schemeClr val="bg2"/>
          </a:solidFill>
          <a:ln/>
          <a:effectLst>
            <a:outerShdw sx="100000" sy="100000" kx="0" ky="0" algn="bl" rotWithShape="0" blurRad="101600" dist="38100" dir="5400000">
              <a:srgbClr val="000000">
                <a:alpha val="22000"/>
              </a:srgbClr>
            </a:outerShdw>
          </a:effectLst>
        </p:spPr>
      </p:sp>
      <p:pic>
        <p:nvPicPr>
          <p:cNvPr id="20" name="Badge critic-318" descr="critic icon">    </p:cNvPr>
          <p:cNvPicPr>
            <a:picLocks noChangeAspect="1"/>
          </p:cNvPicPr>
          <p:nvPr/>
        </p:nvPicPr>
        <p:blipFill>
          <a:blip r:embed="rId4"/>
          <a:stretch>
            <a:fillRect/>
          </a:stretch>
        </p:blipFill>
        <p:spPr>
          <a:xfrm>
            <a:off x="8010144" y="1627632"/>
            <a:ext cx="685800" cy="685800"/>
          </a:xfrm>
          <a:prstGeom prst="rect">
            <a:avLst/>
          </a:prstGeom>
        </p:spPr>
      </p:pic>
      <p:sp>
        <p:nvSpPr>
          <p:cNvPr id="21" name="Text-319"/>
          <p:cNvSpPr txBox="1"/>
          <p:nvPr/>
        </p:nvSpPr>
        <p:spPr>
          <a:xfrm>
            <a:off x="7461504" y="2377440"/>
            <a:ext cx="1792224" cy="365760"/>
          </a:xfrm>
          <a:prstGeom prst="rect">
            <a:avLst/>
          </a:prstGeom>
          <a:noFill/>
          <a:ln/>
        </p:spPr>
        <p:txBody>
          <a:bodyPr wrap="square" lIns="0" tIns="0" rIns="0" bIns="0" rtlCol="0" anchor="t"/>
          <a:lstStyle/>
          <a:p>
            <a:pPr algn="ctr" indent="0" marL="0">
              <a:buNone/>
            </a:pPr>
            <a:r>
              <a:rPr lang="en-US" sz="1500" b="1" dirty="0">
                <a:solidFill>
                  <a:schemeClr val="tx1"/>
                </a:solidFill>
              </a:rPr>
              <a:t>Validator</a:t>
            </a:r>
            <a:endParaRPr lang="en-US" sz="1500" dirty="0"/>
          </a:p>
        </p:txBody>
      </p:sp>
      <p:sp>
        <p:nvSpPr>
          <p:cNvPr id="22" name="Text-320"/>
          <p:cNvSpPr txBox="1"/>
          <p:nvPr/>
        </p:nvSpPr>
        <p:spPr>
          <a:xfrm>
            <a:off x="7479792" y="2761488"/>
            <a:ext cx="1755648" cy="822960"/>
          </a:xfrm>
          <a:prstGeom prst="rect">
            <a:avLst/>
          </a:prstGeom>
          <a:noFill/>
          <a:ln/>
        </p:spPr>
        <p:txBody>
          <a:bodyPr wrap="square" lIns="0" tIns="0" rIns="0" bIns="0" rtlCol="0" anchor="t"/>
          <a:lstStyle/>
          <a:p>
            <a:pPr algn="ctr" indent="0" marL="0">
              <a:buNone/>
            </a:pPr>
            <a:r>
              <a:rPr lang="en-US" sz="1150" dirty="0">
                <a:solidFill>
                  <a:schemeClr val="tx2"/>
                </a:solidFill>
              </a:rPr>
              <a:t>checks every field before anything is used</a:t>
            </a:r>
            <a:endParaRPr lang="en-US" sz="1150" dirty="0"/>
          </a:p>
        </p:txBody>
      </p:sp>
      <p:sp>
        <p:nvSpPr>
          <p:cNvPr id="23" name="Connector-321"/>
          <p:cNvSpPr/>
          <p:nvPr/>
        </p:nvSpPr>
        <p:spPr>
          <a:xfrm>
            <a:off x="9381744" y="2532888"/>
            <a:ext cx="219456" cy="91"/>
          </a:xfrm>
          <a:prstGeom prst="line">
            <a:avLst/>
          </a:prstGeom>
          <a:noFill/>
          <a:ln w="25400">
            <a:solidFill>
              <a:schemeClr val="tx2"/>
            </a:solidFill>
            <a:prstDash val="solid"/>
            <a:tailEnd type="triangle"/>
          </a:ln>
        </p:spPr>
      </p:sp>
      <p:sp>
        <p:nvSpPr>
          <p:cNvPr id="24" name="Card-322"/>
          <p:cNvSpPr/>
          <p:nvPr/>
        </p:nvSpPr>
        <p:spPr>
          <a:xfrm>
            <a:off x="9619488" y="1463040"/>
            <a:ext cx="2011680" cy="2148840"/>
          </a:xfrm>
          <a:prstGeom prst="roundRect">
            <a:avLst>
              <a:gd name="adj" fmla="val 5455"/>
            </a:avLst>
          </a:prstGeom>
          <a:solidFill>
            <a:schemeClr val="bg2"/>
          </a:solidFill>
          <a:ln/>
          <a:effectLst>
            <a:outerShdw sx="100000" sy="100000" kx="0" ky="0" algn="bl" rotWithShape="0" blurRad="101600" dist="38100" dir="5400000">
              <a:srgbClr val="000000">
                <a:alpha val="22000"/>
              </a:srgbClr>
            </a:outerShdw>
          </a:effectLst>
        </p:spPr>
      </p:sp>
      <p:pic>
        <p:nvPicPr>
          <p:cNvPr id="25" name="Badge route-323" descr="route icon">    </p:cNvPr>
          <p:cNvPicPr>
            <a:picLocks noChangeAspect="1"/>
          </p:cNvPicPr>
          <p:nvPr/>
        </p:nvPicPr>
        <p:blipFill>
          <a:blip r:embed="rId5"/>
          <a:stretch>
            <a:fillRect/>
          </a:stretch>
        </p:blipFill>
        <p:spPr>
          <a:xfrm>
            <a:off x="10277856" y="1627632"/>
            <a:ext cx="685800" cy="685800"/>
          </a:xfrm>
          <a:prstGeom prst="rect">
            <a:avLst/>
          </a:prstGeom>
        </p:spPr>
      </p:pic>
      <p:sp>
        <p:nvSpPr>
          <p:cNvPr id="26" name="Text-324"/>
          <p:cNvSpPr txBox="1"/>
          <p:nvPr/>
        </p:nvSpPr>
        <p:spPr>
          <a:xfrm>
            <a:off x="9729216" y="2377440"/>
            <a:ext cx="1792224" cy="365760"/>
          </a:xfrm>
          <a:prstGeom prst="rect">
            <a:avLst/>
          </a:prstGeom>
          <a:noFill/>
          <a:ln/>
        </p:spPr>
        <p:txBody>
          <a:bodyPr wrap="square" lIns="0" tIns="0" rIns="0" bIns="0" rtlCol="0" anchor="t"/>
          <a:lstStyle/>
          <a:p>
            <a:pPr algn="ctr" indent="0" marL="0">
              <a:buNone/>
            </a:pPr>
            <a:r>
              <a:rPr lang="en-US" sz="1500" b="1" dirty="0">
                <a:solidFill>
                  <a:schemeClr val="tx1"/>
                </a:solidFill>
              </a:rPr>
              <a:t>Agents act</a:t>
            </a:r>
            <a:endParaRPr lang="en-US" sz="1500" dirty="0"/>
          </a:p>
        </p:txBody>
      </p:sp>
      <p:sp>
        <p:nvSpPr>
          <p:cNvPr id="27" name="Text-325"/>
          <p:cNvSpPr txBox="1"/>
          <p:nvPr/>
        </p:nvSpPr>
        <p:spPr>
          <a:xfrm>
            <a:off x="9747504" y="2761488"/>
            <a:ext cx="1755648" cy="822960"/>
          </a:xfrm>
          <a:prstGeom prst="rect">
            <a:avLst/>
          </a:prstGeom>
          <a:noFill/>
          <a:ln/>
        </p:spPr>
        <p:txBody>
          <a:bodyPr wrap="square" lIns="0" tIns="0" rIns="0" bIns="0" rtlCol="0" anchor="t"/>
          <a:lstStyle/>
          <a:p>
            <a:pPr algn="ctr" indent="0" marL="0">
              <a:buNone/>
            </a:pPr>
            <a:r>
              <a:rPr lang="en-US" sz="1150" dirty="0">
                <a:solidFill>
                  <a:schemeClr val="tx2"/>
                </a:solidFill>
              </a:rPr>
              <a:t>plan becomes options; choice becomes the call</a:t>
            </a:r>
            <a:endParaRPr lang="en-US" sz="1150" dirty="0"/>
          </a:p>
        </p:txBody>
      </p:sp>
      <p:sp>
        <p:nvSpPr>
          <p:cNvPr id="28" name="Card-326"/>
          <p:cNvSpPr/>
          <p:nvPr/>
        </p:nvSpPr>
        <p:spPr>
          <a:xfrm>
            <a:off x="548640" y="3840480"/>
            <a:ext cx="11082528" cy="566928"/>
          </a:xfrm>
          <a:prstGeom prst="roundRect">
            <a:avLst>
              <a:gd name="adj" fmla="val 19355"/>
            </a:avLst>
          </a:prstGeom>
          <a:solidFill>
            <a:srgbClr val="FFF4CC"/>
          </a:solidFill>
          <a:ln/>
        </p:spPr>
      </p:sp>
      <p:sp>
        <p:nvSpPr>
          <p:cNvPr id="29" name="Text-327"/>
          <p:cNvSpPr txBox="1"/>
          <p:nvPr/>
        </p:nvSpPr>
        <p:spPr>
          <a:xfrm>
            <a:off x="731520" y="3840480"/>
            <a:ext cx="10789920" cy="566928"/>
          </a:xfrm>
          <a:prstGeom prst="rect">
            <a:avLst/>
          </a:prstGeom>
          <a:noFill/>
          <a:ln/>
        </p:spPr>
        <p:txBody>
          <a:bodyPr wrap="square" lIns="0" tIns="0" rIns="0" bIns="0" rtlCol="0" anchor="ctr"/>
          <a:lstStyle/>
          <a:p>
            <a:pPr algn="l" indent="0" marL="0">
              <a:buNone/>
            </a:pPr>
            <a:r>
              <a:rPr lang="en-US" sz="1400" b="1" dirty="0">
                <a:solidFill>
                  <a:schemeClr val="tx1"/>
                </a:solidFill>
              </a:rPr>
              <a:t>If the AI is missing, slow, rate-limited or gives an unusable answer → </a:t>
            </a:r>
            <a:pPr algn="l" indent="0" marL="0">
              <a:buNone/>
            </a:pPr>
            <a:r>
              <a:rPr lang="en-US" sz="1400" dirty="0">
                <a:solidFill>
                  <a:schemeClr val="tx1"/>
                </a:solidFill>
              </a:rPr>
              <a:t>the agent's rules take over, and the activity log says so. The demo never depends on the AI.</a:t>
            </a:r>
            <a:endParaRPr lang="en-US" sz="1400" dirty="0"/>
          </a:p>
        </p:txBody>
      </p:sp>
      <p:sp>
        <p:nvSpPr>
          <p:cNvPr id="30" name="Text-328"/>
          <p:cNvSpPr txBox="1"/>
          <p:nvPr/>
        </p:nvSpPr>
        <p:spPr>
          <a:xfrm>
            <a:off x="548640" y="4617720"/>
            <a:ext cx="5440680" cy="685800"/>
          </a:xfrm>
          <a:prstGeom prst="rect">
            <a:avLst/>
          </a:prstGeom>
          <a:noFill/>
          <a:ln/>
        </p:spPr>
        <p:txBody>
          <a:bodyPr wrap="square" lIns="0" tIns="0" rIns="0" bIns="0" rtlCol="0" anchor="t"/>
          <a:lstStyle/>
          <a:p>
            <a:pPr algn="l" indent="0" marL="0">
              <a:buNone/>
            </a:pPr>
            <a:r>
              <a:rPr lang="en-US" sz="1300" b="1" dirty="0">
                <a:solidFill>
                  <a:schemeClr val="accent5"/>
                </a:solidFill>
              </a:rPr>
              <a:t>Planner: </a:t>
            </a:r>
            <a:pPr algn="l" indent="0" marL="0">
              <a:buNone/>
            </a:pPr>
            <a:r>
              <a:rPr lang="en-US" sz="1300" dirty="0">
                <a:solidFill>
                  <a:schemeClr val="tx1"/>
                </a:solidFill>
              </a:rPr>
              <a:t>Unknown tyres or unreadable laps dropped; illegal plans kept so the Critic visibly rejects them</a:t>
            </a:r>
            <a:endParaRPr lang="en-US" sz="1300" dirty="0"/>
          </a:p>
        </p:txBody>
      </p:sp>
      <p:sp>
        <p:nvSpPr>
          <p:cNvPr id="31" name="Text-329"/>
          <p:cNvSpPr txBox="1"/>
          <p:nvPr/>
        </p:nvSpPr>
        <p:spPr>
          <a:xfrm>
            <a:off x="6181344" y="4617720"/>
            <a:ext cx="5440680" cy="685800"/>
          </a:xfrm>
          <a:prstGeom prst="rect">
            <a:avLst/>
          </a:prstGeom>
          <a:noFill/>
          <a:ln/>
        </p:spPr>
        <p:txBody>
          <a:bodyPr wrap="square" lIns="0" tIns="0" rIns="0" bIns="0" rtlCol="0" anchor="t"/>
          <a:lstStyle/>
          <a:p>
            <a:pPr algn="l" indent="0" marL="0">
              <a:buNone/>
            </a:pPr>
            <a:r>
              <a:rPr lang="en-US" sz="1300" b="1" dirty="0">
                <a:solidFill>
                  <a:schemeClr val="accent5"/>
                </a:solidFill>
              </a:rPr>
              <a:t>Operations: </a:t>
            </a:r>
            <a:pPr algn="l" indent="0" marL="0">
              <a:buNone/>
            </a:pPr>
            <a:r>
              <a:rPr lang="en-US" sz="1300" dirty="0">
                <a:solidFill>
                  <a:schemeClr val="tx1"/>
                </a:solidFill>
              </a:rPr>
              <a:t>May only pick a Critic-approved option within 2 s of the fastest; anything else is refused</a:t>
            </a:r>
            <a:endParaRPr lang="en-US" sz="1300" dirty="0"/>
          </a:p>
        </p:txBody>
      </p:sp>
      <p:sp>
        <p:nvSpPr>
          <p:cNvPr id="32" name="Text-330"/>
          <p:cNvSpPr txBox="1"/>
          <p:nvPr/>
        </p:nvSpPr>
        <p:spPr>
          <a:xfrm>
            <a:off x="548640" y="5367528"/>
            <a:ext cx="5440680" cy="685800"/>
          </a:xfrm>
          <a:prstGeom prst="rect">
            <a:avLst/>
          </a:prstGeom>
          <a:noFill/>
          <a:ln/>
        </p:spPr>
        <p:txBody>
          <a:bodyPr wrap="square" lIns="0" tIns="0" rIns="0" bIns="0" rtlCol="0" anchor="t"/>
          <a:lstStyle/>
          <a:p>
            <a:pPr algn="l" indent="0" marL="0">
              <a:buNone/>
            </a:pPr>
            <a:r>
              <a:rPr lang="en-US" sz="1300" b="1" dirty="0">
                <a:solidFill>
                  <a:schemeClr val="accent5"/>
                </a:solidFill>
              </a:rPr>
              <a:t>Team radio: </a:t>
            </a:r>
            <a:pPr algn="l" indent="0" marL="0">
              <a:buNone/>
            </a:pPr>
            <a:r>
              <a:rPr lang="en-US" sz="1300" dirty="0">
                <a:solidFill>
                  <a:schemeClr val="tx1"/>
                </a:solidFill>
              </a:rPr>
              <a:t>An AI message that contradicts the plan (wrong lap, tyre or “box now”) is replaced</a:t>
            </a:r>
            <a:endParaRPr lang="en-US" sz="1300" dirty="0"/>
          </a:p>
        </p:txBody>
      </p:sp>
      <p:sp>
        <p:nvSpPr>
          <p:cNvPr id="33" name="Text-331"/>
          <p:cNvSpPr txBox="1"/>
          <p:nvPr/>
        </p:nvSpPr>
        <p:spPr>
          <a:xfrm>
            <a:off x="6181344" y="5367528"/>
            <a:ext cx="5440680" cy="685800"/>
          </a:xfrm>
          <a:prstGeom prst="rect">
            <a:avLst/>
          </a:prstGeom>
          <a:noFill/>
          <a:ln/>
        </p:spPr>
        <p:txBody>
          <a:bodyPr wrap="square" lIns="0" tIns="0" rIns="0" bIns="0" rtlCol="0" anchor="t"/>
          <a:lstStyle/>
          <a:p>
            <a:pPr algn="l" indent="0" marL="0">
              <a:buNone/>
            </a:pPr>
            <a:r>
              <a:rPr lang="en-US" sz="1300" b="1" dirty="0">
                <a:solidFill>
                  <a:schemeClr val="accent5"/>
                </a:solidFill>
              </a:rPr>
              <a:t>Free plan: </a:t>
            </a:r>
            <a:pPr algn="l" indent="0" marL="0">
              <a:buNone/>
            </a:pPr>
            <a:r>
              <a:rPr lang="en-US" sz="1300" dirty="0">
                <a:solidFill>
                  <a:schemeClr val="tx1"/>
                </a:solidFill>
              </a:rPr>
              <a:t>~30 requests/min, 1,000/day, 8,000 tokens/min [1]: short briefs, low reasoning effort, one retry</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IMPLEMENTATION · ML TYRE MODEL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Learning tyre wear from 139,025 real laps</a:t>
            </a:r>
            <a:endParaRPr lang="en-US" sz="3200" dirty="0"/>
          </a:p>
        </p:txBody>
      </p:sp>
      <p:sp>
        <p:nvSpPr>
          <p:cNvPr id="4" name="Card-332"/>
          <p:cNvSpPr/>
          <p:nvPr/>
        </p:nvSpPr>
        <p:spPr>
          <a:xfrm>
            <a:off x="548640" y="1417320"/>
            <a:ext cx="2011680" cy="1828800"/>
          </a:xfrm>
          <a:prstGeom prst="roundRect">
            <a:avLst>
              <a:gd name="adj" fmla="val 6000"/>
            </a:avLst>
          </a:prstGeom>
          <a:solidFill>
            <a:schemeClr val="bg2"/>
          </a:solidFill>
          <a:ln/>
          <a:effectLst>
            <a:outerShdw sx="100000" sy="100000" kx="0" ky="0" algn="bl" rotWithShape="0" blurRad="101600" dist="38100" dir="5400000">
              <a:srgbClr val="000000">
                <a:alpha val="22000"/>
              </a:srgbClr>
            </a:outerShdw>
          </a:effectLst>
        </p:spPr>
      </p:sp>
      <p:pic>
        <p:nvPicPr>
          <p:cNvPr id="5" name="Badge db-333" descr="db icon">    </p:cNvPr>
          <p:cNvPicPr>
            <a:picLocks noChangeAspect="1"/>
          </p:cNvPicPr>
          <p:nvPr/>
        </p:nvPicPr>
        <p:blipFill>
          <a:blip r:embed="rId1"/>
          <a:stretch>
            <a:fillRect/>
          </a:stretch>
        </p:blipFill>
        <p:spPr>
          <a:xfrm>
            <a:off x="1234440" y="1536192"/>
            <a:ext cx="640080" cy="640080"/>
          </a:xfrm>
          <a:prstGeom prst="rect">
            <a:avLst/>
          </a:prstGeom>
        </p:spPr>
      </p:pic>
      <p:sp>
        <p:nvSpPr>
          <p:cNvPr id="6" name="Text-334"/>
          <p:cNvSpPr txBox="1"/>
          <p:nvPr/>
        </p:nvSpPr>
        <p:spPr>
          <a:xfrm>
            <a:off x="640080" y="224028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162 real races</a:t>
            </a:r>
            <a:endParaRPr lang="en-US" sz="1400" dirty="0"/>
          </a:p>
        </p:txBody>
      </p:sp>
      <p:sp>
        <p:nvSpPr>
          <p:cNvPr id="7" name="Text-335"/>
          <p:cNvSpPr txBox="1"/>
          <p:nvPr/>
        </p:nvSpPr>
        <p:spPr>
          <a:xfrm>
            <a:off x="658368" y="2606040"/>
            <a:ext cx="1792224" cy="566928"/>
          </a:xfrm>
          <a:prstGeom prst="rect">
            <a:avLst/>
          </a:prstGeom>
          <a:noFill/>
          <a:ln/>
        </p:spPr>
        <p:txBody>
          <a:bodyPr wrap="square" lIns="0" tIns="0" rIns="0" bIns="0" rtlCol="0" anchor="t"/>
          <a:lstStyle/>
          <a:p>
            <a:pPr algn="ctr" indent="0" marL="0">
              <a:buNone/>
            </a:pPr>
            <a:r>
              <a:rPr lang="en-US" sz="1150" dirty="0">
                <a:solidFill>
                  <a:schemeClr val="tx2"/>
                </a:solidFill>
              </a:rPr>
              <a:t>timing data 2019–2026, built in</a:t>
            </a:r>
            <a:endParaRPr lang="en-US" sz="1150" dirty="0"/>
          </a:p>
        </p:txBody>
      </p:sp>
      <p:sp>
        <p:nvSpPr>
          <p:cNvPr id="8" name="Connector-336"/>
          <p:cNvSpPr/>
          <p:nvPr/>
        </p:nvSpPr>
        <p:spPr>
          <a:xfrm>
            <a:off x="2578608" y="2331720"/>
            <a:ext cx="219456" cy="91"/>
          </a:xfrm>
          <a:prstGeom prst="line">
            <a:avLst/>
          </a:prstGeom>
          <a:noFill/>
          <a:ln w="25400">
            <a:solidFill>
              <a:schemeClr val="tx2"/>
            </a:solidFill>
            <a:prstDash val="solid"/>
            <a:tailEnd type="triangle"/>
          </a:ln>
        </p:spPr>
      </p:sp>
      <p:sp>
        <p:nvSpPr>
          <p:cNvPr id="9" name="Card-337"/>
          <p:cNvSpPr/>
          <p:nvPr/>
        </p:nvSpPr>
        <p:spPr>
          <a:xfrm>
            <a:off x="2816352" y="1417320"/>
            <a:ext cx="2011680" cy="1828800"/>
          </a:xfrm>
          <a:prstGeom prst="roundRect">
            <a:avLst>
              <a:gd name="adj" fmla="val 6000"/>
            </a:avLst>
          </a:prstGeom>
          <a:solidFill>
            <a:schemeClr val="bg2"/>
          </a:solidFill>
          <a:ln/>
          <a:effectLst>
            <a:outerShdw sx="100000" sy="100000" kx="0" ky="0" algn="bl" rotWithShape="0" blurRad="101600" dist="38100" dir="5400000">
              <a:srgbClr val="000000">
                <a:alpha val="22000"/>
              </a:srgbClr>
            </a:outerShdw>
          </a:effectLst>
        </p:spPr>
      </p:sp>
      <p:pic>
        <p:nvPicPr>
          <p:cNvPr id="10" name="Badge vial-338" descr="vial icon">    </p:cNvPr>
          <p:cNvPicPr>
            <a:picLocks noChangeAspect="1"/>
          </p:cNvPicPr>
          <p:nvPr/>
        </p:nvPicPr>
        <p:blipFill>
          <a:blip r:embed="rId2"/>
          <a:stretch>
            <a:fillRect/>
          </a:stretch>
        </p:blipFill>
        <p:spPr>
          <a:xfrm>
            <a:off x="3502152" y="1536192"/>
            <a:ext cx="640080" cy="640080"/>
          </a:xfrm>
          <a:prstGeom prst="rect">
            <a:avLst/>
          </a:prstGeom>
        </p:spPr>
      </p:pic>
      <p:sp>
        <p:nvSpPr>
          <p:cNvPr id="11" name="Text-339"/>
          <p:cNvSpPr txBox="1"/>
          <p:nvPr/>
        </p:nvSpPr>
        <p:spPr>
          <a:xfrm>
            <a:off x="2907792" y="224028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Clean laps only</a:t>
            </a:r>
            <a:endParaRPr lang="en-US" sz="1400" dirty="0"/>
          </a:p>
        </p:txBody>
      </p:sp>
      <p:sp>
        <p:nvSpPr>
          <p:cNvPr id="12" name="Text-340"/>
          <p:cNvSpPr txBox="1"/>
          <p:nvPr/>
        </p:nvSpPr>
        <p:spPr>
          <a:xfrm>
            <a:off x="2926080" y="2606040"/>
            <a:ext cx="1792224" cy="566928"/>
          </a:xfrm>
          <a:prstGeom prst="rect">
            <a:avLst/>
          </a:prstGeom>
          <a:noFill/>
          <a:ln/>
        </p:spPr>
        <p:txBody>
          <a:bodyPr wrap="square" lIns="0" tIns="0" rIns="0" bIns="0" rtlCol="0" anchor="t"/>
          <a:lstStyle/>
          <a:p>
            <a:pPr algn="ctr" indent="0" marL="0">
              <a:buNone/>
            </a:pPr>
            <a:r>
              <a:rPr lang="en-US" sz="1150" dirty="0">
                <a:solidFill>
                  <a:schemeClr val="tx2"/>
                </a:solidFill>
              </a:rPr>
              <a:t>dry tyres, green flag, no pit laps, no rain</a:t>
            </a:r>
            <a:endParaRPr lang="en-US" sz="1150" dirty="0"/>
          </a:p>
        </p:txBody>
      </p:sp>
      <p:sp>
        <p:nvSpPr>
          <p:cNvPr id="13" name="Connector-341"/>
          <p:cNvSpPr/>
          <p:nvPr/>
        </p:nvSpPr>
        <p:spPr>
          <a:xfrm>
            <a:off x="4846320" y="2331720"/>
            <a:ext cx="219456" cy="91"/>
          </a:xfrm>
          <a:prstGeom prst="line">
            <a:avLst/>
          </a:prstGeom>
          <a:noFill/>
          <a:ln w="25400">
            <a:solidFill>
              <a:schemeClr val="tx2"/>
            </a:solidFill>
            <a:prstDash val="solid"/>
            <a:tailEnd type="triangle"/>
          </a:ln>
        </p:spPr>
      </p:sp>
      <p:sp>
        <p:nvSpPr>
          <p:cNvPr id="14" name="Card-342"/>
          <p:cNvSpPr/>
          <p:nvPr/>
        </p:nvSpPr>
        <p:spPr>
          <a:xfrm>
            <a:off x="5084064" y="1417320"/>
            <a:ext cx="2011680" cy="1828800"/>
          </a:xfrm>
          <a:prstGeom prst="roundRect">
            <a:avLst>
              <a:gd name="adj" fmla="val 6000"/>
            </a:avLst>
          </a:prstGeom>
          <a:solidFill>
            <a:schemeClr val="bg2"/>
          </a:solidFill>
          <a:ln/>
          <a:effectLst>
            <a:outerShdw sx="100000" sy="100000" kx="0" ky="0" algn="bl" rotWithShape="0" blurRad="101600" dist="38100" dir="5400000">
              <a:srgbClr val="000000">
                <a:alpha val="22000"/>
              </a:srgbClr>
            </a:outerShdw>
          </a:effectLst>
        </p:spPr>
      </p:sp>
      <p:pic>
        <p:nvPicPr>
          <p:cNvPr id="15" name="Badge table-343" descr="table icon">    </p:cNvPr>
          <p:cNvPicPr>
            <a:picLocks noChangeAspect="1"/>
          </p:cNvPicPr>
          <p:nvPr/>
        </p:nvPicPr>
        <p:blipFill>
          <a:blip r:embed="rId3"/>
          <a:stretch>
            <a:fillRect/>
          </a:stretch>
        </p:blipFill>
        <p:spPr>
          <a:xfrm>
            <a:off x="5769864" y="1536192"/>
            <a:ext cx="640080" cy="640080"/>
          </a:xfrm>
          <a:prstGeom prst="rect">
            <a:avLst/>
          </a:prstGeom>
        </p:spPr>
      </p:pic>
      <p:sp>
        <p:nvSpPr>
          <p:cNvPr id="16" name="Text-344"/>
          <p:cNvSpPr txBox="1"/>
          <p:nvPr/>
        </p:nvSpPr>
        <p:spPr>
          <a:xfrm>
            <a:off x="5175504" y="224028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139,025 laps</a:t>
            </a:r>
            <a:endParaRPr lang="en-US" sz="1400" dirty="0"/>
          </a:p>
        </p:txBody>
      </p:sp>
      <p:sp>
        <p:nvSpPr>
          <p:cNvPr id="17" name="Text-345"/>
          <p:cNvSpPr txBox="1"/>
          <p:nvPr/>
        </p:nvSpPr>
        <p:spPr>
          <a:xfrm>
            <a:off x="5193792" y="2606040"/>
            <a:ext cx="1792224" cy="566928"/>
          </a:xfrm>
          <a:prstGeom prst="rect">
            <a:avLst/>
          </a:prstGeom>
          <a:noFill/>
          <a:ln/>
        </p:spPr>
        <p:txBody>
          <a:bodyPr wrap="square" lIns="0" tIns="0" rIns="0" bIns="0" rtlCol="0" anchor="t"/>
          <a:lstStyle/>
          <a:p>
            <a:pPr algn="ctr" indent="0" marL="0">
              <a:buNone/>
            </a:pPr>
            <a:r>
              <a:rPr lang="en-US" sz="1150" dirty="0">
                <a:solidFill>
                  <a:schemeClr val="tx2"/>
                </a:solidFill>
              </a:rPr>
              <a:t>each vs the driver's typical lap</a:t>
            </a:r>
            <a:endParaRPr lang="en-US" sz="1150" dirty="0"/>
          </a:p>
        </p:txBody>
      </p:sp>
      <p:sp>
        <p:nvSpPr>
          <p:cNvPr id="18" name="Connector-346"/>
          <p:cNvSpPr/>
          <p:nvPr/>
        </p:nvSpPr>
        <p:spPr>
          <a:xfrm>
            <a:off x="7114032" y="2331720"/>
            <a:ext cx="219456" cy="91"/>
          </a:xfrm>
          <a:prstGeom prst="line">
            <a:avLst/>
          </a:prstGeom>
          <a:noFill/>
          <a:ln w="25400">
            <a:solidFill>
              <a:schemeClr val="tx2"/>
            </a:solidFill>
            <a:prstDash val="solid"/>
            <a:tailEnd type="triangle"/>
          </a:ln>
        </p:spPr>
      </p:sp>
      <p:sp>
        <p:nvSpPr>
          <p:cNvPr id="19" name="Card-347"/>
          <p:cNvSpPr/>
          <p:nvPr/>
        </p:nvSpPr>
        <p:spPr>
          <a:xfrm>
            <a:off x="7351776" y="1417320"/>
            <a:ext cx="2011680" cy="1828800"/>
          </a:xfrm>
          <a:prstGeom prst="roundRect">
            <a:avLst>
              <a:gd name="adj" fmla="val 6000"/>
            </a:avLst>
          </a:prstGeom>
          <a:solidFill>
            <a:schemeClr val="bg2"/>
          </a:solidFill>
          <a:ln/>
          <a:effectLst>
            <a:outerShdw sx="100000" sy="100000" kx="0" ky="0" algn="bl" rotWithShape="0" blurRad="101600" dist="38100" dir="5400000">
              <a:srgbClr val="000000">
                <a:alpha val="22000"/>
              </a:srgbClr>
            </a:outerShdw>
          </a:effectLst>
        </p:spPr>
      </p:sp>
      <p:pic>
        <p:nvPicPr>
          <p:cNvPr id="20" name="Badge chart-348" descr="chart icon">    </p:cNvPr>
          <p:cNvPicPr>
            <a:picLocks noChangeAspect="1"/>
          </p:cNvPicPr>
          <p:nvPr/>
        </p:nvPicPr>
        <p:blipFill>
          <a:blip r:embed="rId4"/>
          <a:stretch>
            <a:fillRect/>
          </a:stretch>
        </p:blipFill>
        <p:spPr>
          <a:xfrm>
            <a:off x="8037576" y="1536192"/>
            <a:ext cx="640080" cy="640080"/>
          </a:xfrm>
          <a:prstGeom prst="rect">
            <a:avLst/>
          </a:prstGeom>
        </p:spPr>
      </p:pic>
      <p:sp>
        <p:nvSpPr>
          <p:cNvPr id="21" name="Text-349"/>
          <p:cNvSpPr txBox="1"/>
          <p:nvPr/>
        </p:nvSpPr>
        <p:spPr>
          <a:xfrm>
            <a:off x="7443216" y="224028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Gradient-boosted trees</a:t>
            </a:r>
            <a:endParaRPr lang="en-US" sz="1400" dirty="0"/>
          </a:p>
        </p:txBody>
      </p:sp>
      <p:sp>
        <p:nvSpPr>
          <p:cNvPr id="22" name="Text-350"/>
          <p:cNvSpPr txBox="1"/>
          <p:nvPr/>
        </p:nvSpPr>
        <p:spPr>
          <a:xfrm>
            <a:off x="7461504" y="2606040"/>
            <a:ext cx="1792224" cy="566928"/>
          </a:xfrm>
          <a:prstGeom prst="rect">
            <a:avLst/>
          </a:prstGeom>
          <a:noFill/>
          <a:ln/>
        </p:spPr>
        <p:txBody>
          <a:bodyPr wrap="square" lIns="0" tIns="0" rIns="0" bIns="0" rtlCol="0" anchor="t"/>
          <a:lstStyle/>
          <a:p>
            <a:pPr algn="ctr" indent="0" marL="0">
              <a:buNone/>
            </a:pPr>
            <a:r>
              <a:rPr lang="en-US" sz="1150" dirty="0">
                <a:solidFill>
                  <a:schemeClr val="tx2"/>
                </a:solidFill>
              </a:rPr>
              <a:t>scikit-learn, monotonic</a:t>
            </a:r>
            <a:endParaRPr lang="en-US" sz="1150" dirty="0"/>
          </a:p>
        </p:txBody>
      </p:sp>
      <p:sp>
        <p:nvSpPr>
          <p:cNvPr id="23" name="Connector-351"/>
          <p:cNvSpPr/>
          <p:nvPr/>
        </p:nvSpPr>
        <p:spPr>
          <a:xfrm>
            <a:off x="9381744" y="2331720"/>
            <a:ext cx="219456" cy="91"/>
          </a:xfrm>
          <a:prstGeom prst="line">
            <a:avLst/>
          </a:prstGeom>
          <a:noFill/>
          <a:ln w="25400">
            <a:solidFill>
              <a:schemeClr val="tx2"/>
            </a:solidFill>
            <a:prstDash val="solid"/>
            <a:tailEnd type="triangle"/>
          </a:ln>
        </p:spPr>
      </p:sp>
      <p:sp>
        <p:nvSpPr>
          <p:cNvPr id="24" name="Card-352"/>
          <p:cNvSpPr/>
          <p:nvPr/>
        </p:nvSpPr>
        <p:spPr>
          <a:xfrm>
            <a:off x="9619488" y="1417320"/>
            <a:ext cx="2011680" cy="1828800"/>
          </a:xfrm>
          <a:prstGeom prst="roundRect">
            <a:avLst>
              <a:gd name="adj" fmla="val 6000"/>
            </a:avLst>
          </a:prstGeom>
          <a:solidFill>
            <a:schemeClr val="bg2"/>
          </a:solidFill>
          <a:ln/>
          <a:effectLst>
            <a:outerShdw sx="100000" sy="100000" kx="0" ky="0" algn="bl" rotWithShape="0" blurRad="101600" dist="38100" dir="5400000">
              <a:srgbClr val="000000">
                <a:alpha val="22000"/>
              </a:srgbClr>
            </a:outerShdw>
          </a:effectLst>
        </p:spPr>
      </p:sp>
      <p:pic>
        <p:nvPicPr>
          <p:cNvPr id="25" name="Badge executor-353" descr="executor icon">    </p:cNvPr>
          <p:cNvPicPr>
            <a:picLocks noChangeAspect="1"/>
          </p:cNvPicPr>
          <p:nvPr/>
        </p:nvPicPr>
        <p:blipFill>
          <a:blip r:embed="rId5"/>
          <a:stretch>
            <a:fillRect/>
          </a:stretch>
        </p:blipFill>
        <p:spPr>
          <a:xfrm>
            <a:off x="10305288" y="1536192"/>
            <a:ext cx="640080" cy="640080"/>
          </a:xfrm>
          <a:prstGeom prst="rect">
            <a:avLst/>
          </a:prstGeom>
        </p:spPr>
      </p:pic>
      <p:sp>
        <p:nvSpPr>
          <p:cNvPr id="26" name="Text-354"/>
          <p:cNvSpPr txBox="1"/>
          <p:nvPr/>
        </p:nvSpPr>
        <p:spPr>
          <a:xfrm>
            <a:off x="9710928" y="2240280"/>
            <a:ext cx="1828800" cy="365760"/>
          </a:xfrm>
          <a:prstGeom prst="rect">
            <a:avLst/>
          </a:prstGeom>
          <a:noFill/>
          <a:ln/>
        </p:spPr>
        <p:txBody>
          <a:bodyPr wrap="square" lIns="0" tIns="0" rIns="0" bIns="0" rtlCol="0" anchor="t"/>
          <a:lstStyle/>
          <a:p>
            <a:pPr algn="ctr" indent="0" marL="0">
              <a:buNone/>
            </a:pPr>
            <a:r>
              <a:rPr lang="en-US" sz="1400" b="1" dirty="0">
                <a:solidFill>
                  <a:schemeClr val="tx1"/>
                </a:solidFill>
              </a:rPr>
              <a:t>Curves for the simulator</a:t>
            </a:r>
            <a:endParaRPr lang="en-US" sz="1400" dirty="0"/>
          </a:p>
        </p:txBody>
      </p:sp>
      <p:sp>
        <p:nvSpPr>
          <p:cNvPr id="27" name="Text-355"/>
          <p:cNvSpPr txBox="1"/>
          <p:nvPr/>
        </p:nvSpPr>
        <p:spPr>
          <a:xfrm>
            <a:off x="9729216" y="2606040"/>
            <a:ext cx="1792224" cy="566928"/>
          </a:xfrm>
          <a:prstGeom prst="rect">
            <a:avLst/>
          </a:prstGeom>
          <a:noFill/>
          <a:ln/>
        </p:spPr>
        <p:txBody>
          <a:bodyPr wrap="square" lIns="0" tIns="0" rIns="0" bIns="0" rtlCol="0" anchor="t"/>
          <a:lstStyle/>
          <a:p>
            <a:pPr algn="ctr" indent="0" marL="0">
              <a:buNone/>
            </a:pPr>
            <a:r>
              <a:rPr lang="en-US" sz="1150" dirty="0">
                <a:solidFill>
                  <a:schemeClr val="tx2"/>
                </a:solidFill>
              </a:rPr>
              <a:t>wear + race progress per circuit</a:t>
            </a:r>
            <a:endParaRPr lang="en-US" sz="1150" dirty="0"/>
          </a:p>
        </p:txBody>
      </p:sp>
      <p:sp>
        <p:nvSpPr>
          <p:cNvPr id="28" name="Text-356"/>
          <p:cNvSpPr txBox="1"/>
          <p:nvPr/>
        </p:nvSpPr>
        <p:spPr>
          <a:xfrm>
            <a:off x="548640" y="3429000"/>
            <a:ext cx="11064240" cy="320040"/>
          </a:xfrm>
          <a:prstGeom prst="rect">
            <a:avLst/>
          </a:prstGeom>
          <a:noFill/>
          <a:ln/>
        </p:spPr>
        <p:txBody>
          <a:bodyPr wrap="square" lIns="0" tIns="0" rIns="0" bIns="0" rtlCol="0" anchor="t"/>
          <a:lstStyle/>
          <a:p>
            <a:pPr algn="l" indent="0" marL="0">
              <a:buNone/>
            </a:pPr>
            <a:r>
              <a:rPr lang="en-US" sz="1300" b="1" dirty="0">
                <a:solidFill>
                  <a:schemeClr val="tx1"/>
                </a:solidFill>
              </a:rPr>
              <a:t>Inputs: compound · tyre age · race progress · circuit · season · gap to the car ahead · stint number</a:t>
            </a:r>
            <a:endParaRPr lang="en-US" sz="1300" dirty="0"/>
          </a:p>
        </p:txBody>
      </p:sp>
      <p:sp>
        <p:nvSpPr>
          <p:cNvPr id="29" name="Text-357"/>
          <p:cNvSpPr txBox="1"/>
          <p:nvPr/>
        </p:nvSpPr>
        <p:spPr>
          <a:xfrm>
            <a:off x="548640" y="3749040"/>
            <a:ext cx="11064240" cy="320040"/>
          </a:xfrm>
          <a:prstGeom prst="rect">
            <a:avLst/>
          </a:prstGeom>
          <a:noFill/>
          <a:ln/>
        </p:spPr>
        <p:txBody>
          <a:bodyPr wrap="square" lIns="0" tIns="0" rIns="0" bIns="0" rtlCol="0" anchor="t"/>
          <a:lstStyle/>
          <a:p>
            <a:pPr algn="l" indent="0" marL="0">
              <a:buNone/>
            </a:pPr>
            <a:r>
              <a:rPr lang="en-US" sz="1300" dirty="0">
                <a:solidFill>
                  <a:schemeClr val="tx2"/>
                </a:solidFill>
              </a:rPr>
              <a:t>Constraints: older tyres can only be slower; later in the race and more space ahead can only be faster.</a:t>
            </a:r>
            <a:endParaRPr lang="en-US" sz="1300" dirty="0"/>
          </a:p>
        </p:txBody>
      </p:sp>
      <p:sp>
        <p:nvSpPr>
          <p:cNvPr id="30" name="Card-358"/>
          <p:cNvSpPr/>
          <p:nvPr/>
        </p:nvSpPr>
        <p:spPr>
          <a:xfrm>
            <a:off x="576072" y="4434840"/>
            <a:ext cx="1316736" cy="566928"/>
          </a:xfrm>
          <a:prstGeom prst="roundRect">
            <a:avLst>
              <a:gd name="adj" fmla="val 9677"/>
            </a:avLst>
          </a:prstGeom>
          <a:solidFill>
            <a:schemeClr val="accent4"/>
          </a:solidFill>
          <a:ln/>
        </p:spPr>
      </p:sp>
      <p:sp>
        <p:nvSpPr>
          <p:cNvPr id="31" name="Text-359"/>
          <p:cNvSpPr txBox="1"/>
          <p:nvPr/>
        </p:nvSpPr>
        <p:spPr>
          <a:xfrm>
            <a:off x="5486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2019</a:t>
            </a:r>
            <a:endParaRPr lang="en-US" sz="1500" dirty="0"/>
          </a:p>
        </p:txBody>
      </p:sp>
      <p:sp>
        <p:nvSpPr>
          <p:cNvPr id="32" name="Card-360"/>
          <p:cNvSpPr/>
          <p:nvPr/>
        </p:nvSpPr>
        <p:spPr>
          <a:xfrm>
            <a:off x="1947672" y="4434840"/>
            <a:ext cx="1316736" cy="566928"/>
          </a:xfrm>
          <a:prstGeom prst="roundRect">
            <a:avLst>
              <a:gd name="adj" fmla="val 9677"/>
            </a:avLst>
          </a:prstGeom>
          <a:solidFill>
            <a:schemeClr val="accent4"/>
          </a:solidFill>
          <a:ln/>
        </p:spPr>
      </p:sp>
      <p:sp>
        <p:nvSpPr>
          <p:cNvPr id="33" name="Text-361"/>
          <p:cNvSpPr txBox="1"/>
          <p:nvPr/>
        </p:nvSpPr>
        <p:spPr>
          <a:xfrm>
            <a:off x="19202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2020</a:t>
            </a:r>
            <a:endParaRPr lang="en-US" sz="1500" dirty="0"/>
          </a:p>
        </p:txBody>
      </p:sp>
      <p:sp>
        <p:nvSpPr>
          <p:cNvPr id="34" name="Card-362"/>
          <p:cNvSpPr/>
          <p:nvPr/>
        </p:nvSpPr>
        <p:spPr>
          <a:xfrm>
            <a:off x="3319272" y="4434840"/>
            <a:ext cx="1316736" cy="566928"/>
          </a:xfrm>
          <a:prstGeom prst="roundRect">
            <a:avLst>
              <a:gd name="adj" fmla="val 9677"/>
            </a:avLst>
          </a:prstGeom>
          <a:solidFill>
            <a:schemeClr val="accent4"/>
          </a:solidFill>
          <a:ln/>
        </p:spPr>
      </p:sp>
      <p:sp>
        <p:nvSpPr>
          <p:cNvPr id="35" name="Text-363"/>
          <p:cNvSpPr txBox="1"/>
          <p:nvPr/>
        </p:nvSpPr>
        <p:spPr>
          <a:xfrm>
            <a:off x="32918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2021</a:t>
            </a:r>
            <a:endParaRPr lang="en-US" sz="1500" dirty="0"/>
          </a:p>
        </p:txBody>
      </p:sp>
      <p:sp>
        <p:nvSpPr>
          <p:cNvPr id="36" name="Card-364"/>
          <p:cNvSpPr/>
          <p:nvPr/>
        </p:nvSpPr>
        <p:spPr>
          <a:xfrm>
            <a:off x="4690872" y="4434840"/>
            <a:ext cx="1316736" cy="566928"/>
          </a:xfrm>
          <a:prstGeom prst="roundRect">
            <a:avLst>
              <a:gd name="adj" fmla="val 9677"/>
            </a:avLst>
          </a:prstGeom>
          <a:solidFill>
            <a:schemeClr val="accent4"/>
          </a:solidFill>
          <a:ln/>
        </p:spPr>
      </p:sp>
      <p:sp>
        <p:nvSpPr>
          <p:cNvPr id="37" name="Text-365"/>
          <p:cNvSpPr txBox="1"/>
          <p:nvPr/>
        </p:nvSpPr>
        <p:spPr>
          <a:xfrm>
            <a:off x="46634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2022</a:t>
            </a:r>
            <a:endParaRPr lang="en-US" sz="1500" dirty="0"/>
          </a:p>
        </p:txBody>
      </p:sp>
      <p:sp>
        <p:nvSpPr>
          <p:cNvPr id="38" name="Card-366"/>
          <p:cNvSpPr/>
          <p:nvPr/>
        </p:nvSpPr>
        <p:spPr>
          <a:xfrm>
            <a:off x="6062472" y="4434840"/>
            <a:ext cx="1316736" cy="566928"/>
          </a:xfrm>
          <a:prstGeom prst="roundRect">
            <a:avLst>
              <a:gd name="adj" fmla="val 9677"/>
            </a:avLst>
          </a:prstGeom>
          <a:solidFill>
            <a:schemeClr val="accent4"/>
          </a:solidFill>
          <a:ln/>
        </p:spPr>
      </p:sp>
      <p:sp>
        <p:nvSpPr>
          <p:cNvPr id="39" name="Text-367"/>
          <p:cNvSpPr txBox="1"/>
          <p:nvPr/>
        </p:nvSpPr>
        <p:spPr>
          <a:xfrm>
            <a:off x="60350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2023</a:t>
            </a:r>
            <a:endParaRPr lang="en-US" sz="1500" dirty="0"/>
          </a:p>
        </p:txBody>
      </p:sp>
      <p:sp>
        <p:nvSpPr>
          <p:cNvPr id="40" name="Card-368"/>
          <p:cNvSpPr/>
          <p:nvPr/>
        </p:nvSpPr>
        <p:spPr>
          <a:xfrm>
            <a:off x="7434072" y="4434840"/>
            <a:ext cx="1316736" cy="566928"/>
          </a:xfrm>
          <a:prstGeom prst="roundRect">
            <a:avLst>
              <a:gd name="adj" fmla="val 9677"/>
            </a:avLst>
          </a:prstGeom>
          <a:solidFill>
            <a:schemeClr val="accent2"/>
          </a:solidFill>
          <a:ln/>
        </p:spPr>
      </p:sp>
      <p:sp>
        <p:nvSpPr>
          <p:cNvPr id="41" name="Text-369"/>
          <p:cNvSpPr txBox="1"/>
          <p:nvPr/>
        </p:nvSpPr>
        <p:spPr>
          <a:xfrm>
            <a:off x="7406640" y="4434840"/>
            <a:ext cx="1371600" cy="566928"/>
          </a:xfrm>
          <a:prstGeom prst="rect">
            <a:avLst/>
          </a:prstGeom>
          <a:noFill/>
          <a:ln/>
        </p:spPr>
        <p:txBody>
          <a:bodyPr wrap="square" lIns="0" tIns="0" rIns="0" bIns="0" rtlCol="0" anchor="ctr"/>
          <a:lstStyle/>
          <a:p>
            <a:pPr algn="ctr" indent="0" marL="0">
              <a:buNone/>
            </a:pPr>
            <a:r>
              <a:rPr lang="en-US" sz="1500" b="1" dirty="0">
                <a:solidFill>
                  <a:schemeClr val="tx1"/>
                </a:solidFill>
              </a:rPr>
              <a:t>2024</a:t>
            </a:r>
            <a:endParaRPr lang="en-US" sz="1500" dirty="0"/>
          </a:p>
        </p:txBody>
      </p:sp>
      <p:sp>
        <p:nvSpPr>
          <p:cNvPr id="42" name="Card-370"/>
          <p:cNvSpPr/>
          <p:nvPr/>
        </p:nvSpPr>
        <p:spPr>
          <a:xfrm>
            <a:off x="8805672" y="4434840"/>
            <a:ext cx="1316736" cy="566928"/>
          </a:xfrm>
          <a:prstGeom prst="roundRect">
            <a:avLst>
              <a:gd name="adj" fmla="val 9677"/>
            </a:avLst>
          </a:prstGeom>
          <a:solidFill>
            <a:schemeClr val="accent1"/>
          </a:solidFill>
          <a:ln/>
        </p:spPr>
      </p:sp>
      <p:sp>
        <p:nvSpPr>
          <p:cNvPr id="43" name="Text-371"/>
          <p:cNvSpPr txBox="1"/>
          <p:nvPr/>
        </p:nvSpPr>
        <p:spPr>
          <a:xfrm>
            <a:off x="87782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2025</a:t>
            </a:r>
            <a:endParaRPr lang="en-US" sz="1500" dirty="0"/>
          </a:p>
        </p:txBody>
      </p:sp>
      <p:sp>
        <p:nvSpPr>
          <p:cNvPr id="44" name="Card-372"/>
          <p:cNvSpPr/>
          <p:nvPr/>
        </p:nvSpPr>
        <p:spPr>
          <a:xfrm>
            <a:off x="10177272" y="4434840"/>
            <a:ext cx="1316736" cy="566928"/>
          </a:xfrm>
          <a:prstGeom prst="roundRect">
            <a:avLst>
              <a:gd name="adj" fmla="val 9677"/>
            </a:avLst>
          </a:prstGeom>
          <a:solidFill>
            <a:schemeClr val="accent1"/>
          </a:solidFill>
          <a:ln/>
        </p:spPr>
      </p:sp>
      <p:sp>
        <p:nvSpPr>
          <p:cNvPr id="45" name="Text-373"/>
          <p:cNvSpPr txBox="1"/>
          <p:nvPr/>
        </p:nvSpPr>
        <p:spPr>
          <a:xfrm>
            <a:off x="10149840" y="4434840"/>
            <a:ext cx="1371600" cy="566928"/>
          </a:xfrm>
          <a:prstGeom prst="rect">
            <a:avLst/>
          </a:prstGeom>
          <a:noFill/>
          <a:ln/>
        </p:spPr>
        <p:txBody>
          <a:bodyPr wrap="square" lIns="0" tIns="0" rIns="0" bIns="0" rtlCol="0" anchor="ctr"/>
          <a:lstStyle/>
          <a:p>
            <a:pPr algn="ctr" indent="0" marL="0">
              <a:buNone/>
            </a:pPr>
            <a:r>
              <a:rPr lang="en-US" sz="1500" b="1" dirty="0">
                <a:solidFill>
                  <a:schemeClr val="bg1"/>
                </a:solidFill>
              </a:rPr>
              <a:t>2026</a:t>
            </a:r>
            <a:endParaRPr lang="en-US" sz="1500" dirty="0"/>
          </a:p>
        </p:txBody>
      </p:sp>
      <p:sp>
        <p:nvSpPr>
          <p:cNvPr id="46" name="Text-374"/>
          <p:cNvSpPr txBox="1"/>
          <p:nvPr/>
        </p:nvSpPr>
        <p:spPr>
          <a:xfrm>
            <a:off x="548640" y="5138928"/>
            <a:ext cx="8229600" cy="292608"/>
          </a:xfrm>
          <a:prstGeom prst="rect">
            <a:avLst/>
          </a:prstGeom>
          <a:noFill/>
          <a:ln/>
        </p:spPr>
        <p:txBody>
          <a:bodyPr wrap="square" lIns="0" tIns="0" rIns="0" bIns="0" rtlCol="0" anchor="t"/>
          <a:lstStyle/>
          <a:p>
            <a:pPr algn="l" indent="0" marL="0">
              <a:buNone/>
            </a:pPr>
            <a:r>
              <a:rPr lang="en-US" sz="1300" dirty="0">
                <a:solidFill>
                  <a:schemeClr val="tx1"/>
                </a:solidFill>
              </a:rPr>
              <a:t>Step 1 · train on 2019–2023, score on 2024 → choose the model size (50 trees)</a:t>
            </a:r>
            <a:endParaRPr lang="en-US" sz="1300" dirty="0"/>
          </a:p>
        </p:txBody>
      </p:sp>
      <p:sp>
        <p:nvSpPr>
          <p:cNvPr id="47" name="Text-375"/>
          <p:cNvSpPr txBox="1"/>
          <p:nvPr/>
        </p:nvSpPr>
        <p:spPr>
          <a:xfrm>
            <a:off x="548640" y="5458968"/>
            <a:ext cx="10515600" cy="292608"/>
          </a:xfrm>
          <a:prstGeom prst="rect">
            <a:avLst/>
          </a:prstGeom>
          <a:noFill/>
          <a:ln/>
        </p:spPr>
        <p:txBody>
          <a:bodyPr wrap="square" lIns="0" tIns="0" rIns="0" bIns="0" rtlCol="0" anchor="t"/>
          <a:lstStyle/>
          <a:p>
            <a:pPr algn="l" indent="0" marL="0">
              <a:buNone/>
            </a:pPr>
            <a:r>
              <a:rPr lang="en-US" sz="1300" dirty="0">
                <a:solidFill>
                  <a:schemeClr val="tx1"/>
                </a:solidFill>
              </a:rPr>
              <a:t>Step 2 · train on 2019–2024 (102,869 laps) → test on 40 races from 2025–2026 it never saw (36,156 laps)</a:t>
            </a:r>
            <a:endParaRPr lang="en-US" sz="1300" dirty="0"/>
          </a:p>
        </p:txBody>
      </p:sp>
      <p:sp>
        <p:nvSpPr>
          <p:cNvPr id="48" name="Text-376"/>
          <p:cNvSpPr txBox="1"/>
          <p:nvPr/>
        </p:nvSpPr>
        <p:spPr>
          <a:xfrm>
            <a:off x="548640" y="5779008"/>
            <a:ext cx="8229600" cy="292608"/>
          </a:xfrm>
          <a:prstGeom prst="rect">
            <a:avLst/>
          </a:prstGeom>
          <a:noFill/>
          <a:ln/>
        </p:spPr>
        <p:txBody>
          <a:bodyPr wrap="square" lIns="0" tIns="0" rIns="0" bIns="0" rtlCol="0" anchor="t"/>
          <a:lstStyle/>
          <a:p>
            <a:pPr algn="l" indent="0" marL="0">
              <a:buNone/>
            </a:pPr>
            <a:r>
              <a:rPr lang="en-US" sz="1300" dirty="0">
                <a:solidFill>
                  <a:schemeClr val="tx1"/>
                </a:solidFill>
              </a:rPr>
              <a:t>Step 3 · refit on every season → curves the Strategy Executor can use</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RESULTS · ML TYRE MODEL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21% lower lap-time error on unseen races</a:t>
            </a:r>
            <a:endParaRPr lang="en-US" sz="3200" dirty="0"/>
          </a:p>
        </p:txBody>
      </p:sp>
      <p:graphicFrame>
        <p:nvGraphicFramePr>
          <p:cNvPr id="4" name="Chart MAE" descr=""/>
          <p:cNvGraphicFramePr/>
          <p:nvPr/>
        </p:nvGraphicFramePr>
        <p:xfrm>
          <a:off x="548640" y="1417320"/>
          <a:ext cx="54864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per compound" descr=""/>
          <p:cNvGraphicFramePr/>
          <p:nvPr/>
        </p:nvGraphicFramePr>
        <p:xfrm>
          <a:off x="6309360" y="1417320"/>
          <a:ext cx="5349240" cy="2743200"/>
        </p:xfrm>
        <a:graphic xmlns:a="http://schemas.openxmlformats.org/drawingml/2006/main">
          <a:graphicData uri="http://schemas.openxmlformats.org/drawingml/2006/chart">
            <c:chart xmlns:c="http://schemas.openxmlformats.org/drawingml/2006/chart" r:id="rId2"/>
          </a:graphicData>
        </a:graphic>
      </p:graphicFrame>
      <p:sp>
        <p:nvSpPr>
          <p:cNvPr id="6" name="Card-377"/>
          <p:cNvSpPr/>
          <p:nvPr/>
        </p:nvSpPr>
        <p:spPr>
          <a:xfrm>
            <a:off x="548640" y="4434840"/>
            <a:ext cx="3520440" cy="1143000"/>
          </a:xfrm>
          <a:prstGeom prst="roundRect">
            <a:avLst>
              <a:gd name="adj" fmla="val 9600"/>
            </a:avLst>
          </a:prstGeom>
          <a:solidFill>
            <a:schemeClr val="bg2"/>
          </a:solidFill>
          <a:ln/>
          <a:effectLst>
            <a:outerShdw sx="100000" sy="100000" kx="0" ky="0" algn="bl" rotWithShape="0" blurRad="101600" dist="38100" dir="5400000">
              <a:srgbClr val="000000">
                <a:alpha val="22000"/>
              </a:srgbClr>
            </a:outerShdw>
          </a:effectLst>
        </p:spPr>
      </p:sp>
      <p:sp>
        <p:nvSpPr>
          <p:cNvPr id="7" name="Text-378"/>
          <p:cNvSpPr txBox="1"/>
          <p:nvPr/>
        </p:nvSpPr>
        <p:spPr>
          <a:xfrm>
            <a:off x="777240" y="4526280"/>
            <a:ext cx="3108960" cy="548640"/>
          </a:xfrm>
          <a:prstGeom prst="rect">
            <a:avLst/>
          </a:prstGeom>
          <a:noFill/>
          <a:ln/>
        </p:spPr>
        <p:txBody>
          <a:bodyPr wrap="square" lIns="0" tIns="0" rIns="0" bIns="0" rtlCol="0" anchor="t"/>
          <a:lstStyle/>
          <a:p>
            <a:pPr algn="l" indent="0" marL="0">
              <a:buNone/>
            </a:pPr>
            <a:r>
              <a:rPr lang="en-US" sz="2800" b="1" dirty="0">
                <a:solidFill>
                  <a:schemeClr val="accent4"/>
                </a:solidFill>
                <a:latin typeface="Bookman Old Style" pitchFamily="34" charset="0"/>
                <a:ea typeface="Bookman Old Style" pitchFamily="34" charset="-122"/>
                <a:cs typeface="Bookman Old Style" pitchFamily="34" charset="-120"/>
              </a:rPr>
              <a:t>0.559 s</a:t>
            </a:r>
            <a:endParaRPr lang="en-US" sz="2800" dirty="0"/>
          </a:p>
        </p:txBody>
      </p:sp>
      <p:sp>
        <p:nvSpPr>
          <p:cNvPr id="8" name="Text-379"/>
          <p:cNvSpPr txBox="1"/>
          <p:nvPr/>
        </p:nvSpPr>
        <p:spPr>
          <a:xfrm>
            <a:off x="777240" y="5074920"/>
            <a:ext cx="3108960" cy="365760"/>
          </a:xfrm>
          <a:prstGeom prst="rect">
            <a:avLst/>
          </a:prstGeom>
          <a:noFill/>
          <a:ln/>
        </p:spPr>
        <p:txBody>
          <a:bodyPr wrap="square" lIns="0" tIns="0" rIns="0" bIns="0" rtlCol="0" anchor="t"/>
          <a:lstStyle/>
          <a:p>
            <a:pPr algn="l" indent="0" marL="0">
              <a:buNone/>
            </a:pPr>
            <a:r>
              <a:rPr lang="en-US" sz="1300" dirty="0">
                <a:solidFill>
                  <a:schemeClr val="tx2"/>
                </a:solidFill>
              </a:rPr>
              <a:t>ML error per lap</a:t>
            </a:r>
            <a:endParaRPr lang="en-US" sz="1300" dirty="0"/>
          </a:p>
        </p:txBody>
      </p:sp>
      <p:sp>
        <p:nvSpPr>
          <p:cNvPr id="9" name="Card-380"/>
          <p:cNvSpPr/>
          <p:nvPr/>
        </p:nvSpPr>
        <p:spPr>
          <a:xfrm>
            <a:off x="4297680" y="4434840"/>
            <a:ext cx="3520440" cy="1143000"/>
          </a:xfrm>
          <a:prstGeom prst="roundRect">
            <a:avLst>
              <a:gd name="adj" fmla="val 9600"/>
            </a:avLst>
          </a:prstGeom>
          <a:solidFill>
            <a:schemeClr val="bg2"/>
          </a:solidFill>
          <a:ln/>
          <a:effectLst>
            <a:outerShdw sx="100000" sy="100000" kx="0" ky="0" algn="bl" rotWithShape="0" blurRad="101600" dist="38100" dir="5400000">
              <a:srgbClr val="000000">
                <a:alpha val="22000"/>
              </a:srgbClr>
            </a:outerShdw>
          </a:effectLst>
        </p:spPr>
      </p:sp>
      <p:sp>
        <p:nvSpPr>
          <p:cNvPr id="10" name="Text-381"/>
          <p:cNvSpPr txBox="1"/>
          <p:nvPr/>
        </p:nvSpPr>
        <p:spPr>
          <a:xfrm>
            <a:off x="4526280" y="4526280"/>
            <a:ext cx="3108960" cy="548640"/>
          </a:xfrm>
          <a:prstGeom prst="rect">
            <a:avLst/>
          </a:prstGeom>
          <a:noFill/>
          <a:ln/>
        </p:spPr>
        <p:txBody>
          <a:bodyPr wrap="square" lIns="0" tIns="0" rIns="0" bIns="0" rtlCol="0" anchor="t"/>
          <a:lstStyle/>
          <a:p>
            <a:pPr algn="l" indent="0" marL="0">
              <a:buNone/>
            </a:pPr>
            <a:r>
              <a:rPr lang="en-US" sz="2800" b="1" dirty="0">
                <a:solidFill>
                  <a:schemeClr val="accent5"/>
                </a:solidFill>
                <a:latin typeface="Bookman Old Style" pitchFamily="34" charset="0"/>
                <a:ea typeface="Bookman Old Style" pitchFamily="34" charset="-122"/>
                <a:cs typeface="Bookman Old Style" pitchFamily="34" charset="-120"/>
              </a:rPr>
              <a:t>0.44 vs 0.03</a:t>
            </a:r>
            <a:endParaRPr lang="en-US" sz="2800" dirty="0"/>
          </a:p>
        </p:txBody>
      </p:sp>
      <p:sp>
        <p:nvSpPr>
          <p:cNvPr id="11" name="Text-382"/>
          <p:cNvSpPr txBox="1"/>
          <p:nvPr/>
        </p:nvSpPr>
        <p:spPr>
          <a:xfrm>
            <a:off x="4526280" y="5074920"/>
            <a:ext cx="3108960" cy="365760"/>
          </a:xfrm>
          <a:prstGeom prst="rect">
            <a:avLst/>
          </a:prstGeom>
          <a:noFill/>
          <a:ln/>
        </p:spPr>
        <p:txBody>
          <a:bodyPr wrap="square" lIns="0" tIns="0" rIns="0" bIns="0" rtlCol="0" anchor="t"/>
          <a:lstStyle/>
          <a:p>
            <a:pPr algn="l" indent="0" marL="0">
              <a:buNone/>
            </a:pPr>
            <a:r>
              <a:rPr lang="en-US" sz="1300" dirty="0">
                <a:solidFill>
                  <a:schemeClr val="tx2"/>
                </a:solidFill>
              </a:rPr>
              <a:t>R², ML vs formula</a:t>
            </a:r>
            <a:endParaRPr lang="en-US" sz="1300" dirty="0"/>
          </a:p>
        </p:txBody>
      </p:sp>
      <p:sp>
        <p:nvSpPr>
          <p:cNvPr id="12" name="Card-383"/>
          <p:cNvSpPr/>
          <p:nvPr/>
        </p:nvSpPr>
        <p:spPr>
          <a:xfrm>
            <a:off x="8046720" y="4434840"/>
            <a:ext cx="3520440" cy="1143000"/>
          </a:xfrm>
          <a:prstGeom prst="roundRect">
            <a:avLst>
              <a:gd name="adj" fmla="val 9600"/>
            </a:avLst>
          </a:prstGeom>
          <a:solidFill>
            <a:schemeClr val="bg2"/>
          </a:solidFill>
          <a:ln/>
          <a:effectLst>
            <a:outerShdw sx="100000" sy="100000" kx="0" ky="0" algn="bl" rotWithShape="0" blurRad="101600" dist="38100" dir="5400000">
              <a:srgbClr val="000000">
                <a:alpha val="22000"/>
              </a:srgbClr>
            </a:outerShdw>
          </a:effectLst>
        </p:spPr>
      </p:sp>
      <p:sp>
        <p:nvSpPr>
          <p:cNvPr id="13" name="Text-384"/>
          <p:cNvSpPr txBox="1"/>
          <p:nvPr/>
        </p:nvSpPr>
        <p:spPr>
          <a:xfrm>
            <a:off x="8275320" y="4526280"/>
            <a:ext cx="3108960" cy="548640"/>
          </a:xfrm>
          <a:prstGeom prst="rect">
            <a:avLst/>
          </a:prstGeom>
          <a:noFill/>
          <a:ln/>
        </p:spPr>
        <p:txBody>
          <a:bodyPr wrap="square" lIns="0" tIns="0" rIns="0" bIns="0" rtlCol="0" anchor="t"/>
          <a:lstStyle/>
          <a:p>
            <a:pPr algn="l" indent="0" marL="0">
              <a:buNone/>
            </a:pPr>
            <a:r>
              <a:rPr lang="en-US" sz="2800" b="1" dirty="0">
                <a:solidFill>
                  <a:schemeClr val="accent3"/>
                </a:solidFill>
                <a:latin typeface="Bookman Old Style" pitchFamily="34" charset="0"/>
                <a:ea typeface="Bookman Old Style" pitchFamily="34" charset="-122"/>
                <a:cs typeface="Bookman Old Style" pitchFamily="34" charset="-120"/>
              </a:rPr>
              <a:t>#1 input</a:t>
            </a:r>
            <a:endParaRPr lang="en-US" sz="2800" dirty="0"/>
          </a:p>
        </p:txBody>
      </p:sp>
      <p:sp>
        <p:nvSpPr>
          <p:cNvPr id="14" name="Text-385"/>
          <p:cNvSpPr txBox="1"/>
          <p:nvPr/>
        </p:nvSpPr>
        <p:spPr>
          <a:xfrm>
            <a:off x="8275320" y="5074920"/>
            <a:ext cx="3108960" cy="365760"/>
          </a:xfrm>
          <a:prstGeom prst="rect">
            <a:avLst/>
          </a:prstGeom>
          <a:noFill/>
          <a:ln/>
        </p:spPr>
        <p:txBody>
          <a:bodyPr wrap="square" lIns="0" tIns="0" rIns="0" bIns="0" rtlCol="0" anchor="t"/>
          <a:lstStyle/>
          <a:p>
            <a:pPr algn="l" indent="0" marL="0">
              <a:buNone/>
            </a:pPr>
            <a:r>
              <a:rPr lang="en-US" sz="1300" dirty="0">
                <a:solidFill>
                  <a:schemeClr val="tx2"/>
                </a:solidFill>
              </a:rPr>
              <a:t>race progress (fuel + track grip)</a:t>
            </a:r>
            <a:endParaRPr lang="en-US" sz="1300" dirty="0"/>
          </a:p>
        </p:txBody>
      </p:sp>
      <p:sp>
        <p:nvSpPr>
          <p:cNvPr id="15" name="Text-386"/>
          <p:cNvSpPr txBox="1"/>
          <p:nvPr/>
        </p:nvSpPr>
        <p:spPr>
          <a:xfrm>
            <a:off x="548640" y="5760720"/>
            <a:ext cx="11064240" cy="320040"/>
          </a:xfrm>
          <a:prstGeom prst="rect">
            <a:avLst/>
          </a:prstGeom>
          <a:noFill/>
          <a:ln/>
        </p:spPr>
        <p:txBody>
          <a:bodyPr wrap="square" lIns="0" tIns="0" rIns="0" bIns="0" rtlCol="0" anchor="t"/>
          <a:lstStyle/>
          <a:p>
            <a:pPr algn="l" indent="0" marL="0">
              <a:buNone/>
            </a:pPr>
            <a:r>
              <a:rPr lang="en-US" sz="1100" i="1" dirty="0">
                <a:solidFill>
                  <a:schemeClr val="tx2"/>
                </a:solidFill>
              </a:rPr>
              <a:t>Lap times are noisy (traffic, battles, mistakes): an R² of 0.44 means the model explains under half the lap-to-lap variation.</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INSIGHT FROM THE DATA</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Real tyres wear more alike than the textbook says</a:t>
            </a:r>
            <a:endParaRPr lang="en-US" sz="3200" dirty="0"/>
          </a:p>
        </p:txBody>
      </p:sp>
      <p:sp>
        <p:nvSpPr>
          <p:cNvPr id="4" name="Text-387"/>
          <p:cNvSpPr txBox="1"/>
          <p:nvPr/>
        </p:nvSpPr>
        <p:spPr>
          <a:xfrm>
            <a:off x="594360" y="1371600"/>
            <a:ext cx="7315200" cy="292608"/>
          </a:xfrm>
          <a:prstGeom prst="rect">
            <a:avLst/>
          </a:prstGeom>
          <a:noFill/>
          <a:ln/>
        </p:spPr>
        <p:txBody>
          <a:bodyPr wrap="square" lIns="0" tIns="0" rIns="0" bIns="0" rtlCol="0" anchor="t"/>
          <a:lstStyle/>
          <a:p>
            <a:pPr algn="l" indent="0" marL="0">
              <a:buNone/>
            </a:pPr>
            <a:r>
              <a:rPr lang="en-US" sz="1400" b="1" dirty="0">
                <a:solidFill>
                  <a:schemeClr val="bg1"/>
                </a:solidFill>
              </a:rPr>
              <a:t>What the model learned about tyre wear (all circuits, average)</a:t>
            </a:r>
            <a:endParaRPr lang="en-US" sz="1400" dirty="0"/>
          </a:p>
        </p:txBody>
      </p:sp>
      <p:sp>
        <p:nvSpPr>
          <p:cNvPr id="5" name="Screenshot frame-388"/>
          <p:cNvSpPr/>
          <p:nvPr/>
        </p:nvSpPr>
        <p:spPr>
          <a:xfrm>
            <a:off x="530352" y="1691640"/>
            <a:ext cx="7443216" cy="2748881"/>
          </a:xfrm>
          <a:prstGeom prst="roundRect">
            <a:avLst>
              <a:gd name="adj" fmla="val 3326"/>
            </a:avLst>
          </a:prstGeom>
          <a:solidFill>
            <a:srgbClr val="2A2A36"/>
          </a:solidFill>
          <a:ln/>
          <a:effectLst>
            <a:outerShdw sx="100000" sy="100000" kx="0" ky="0" algn="bl" rotWithShape="0" blurRad="101600" dist="38100" dir="5400000">
              <a:srgbClr val="000000">
                <a:alpha val="22000"/>
              </a:srgbClr>
            </a:outerShdw>
          </a:effectLst>
        </p:spPr>
      </p:sp>
      <p:pic>
        <p:nvPicPr>
          <p:cNvPr id="6" name="Screenshot ml_curves_chart.png-389" descr="Model Lab chart of learned tyre wear curves for soft, medium and hard">    </p:cNvPr>
          <p:cNvPicPr>
            <a:picLocks noChangeAspect="1"/>
          </p:cNvPicPr>
          <p:nvPr/>
        </p:nvPicPr>
        <p:blipFill>
          <a:blip r:embed="rId1"/>
          <a:stretch>
            <a:fillRect/>
          </a:stretch>
        </p:blipFill>
        <p:spPr>
          <a:xfrm>
            <a:off x="594360" y="1755648"/>
            <a:ext cx="7315200" cy="2620865"/>
          </a:xfrm>
          <a:prstGeom prst="rect">
            <a:avLst/>
          </a:prstGeom>
        </p:spPr>
      </p:pic>
      <p:sp>
        <p:nvSpPr>
          <p:cNvPr id="7" name="Text-390"/>
          <p:cNvSpPr txBox="1"/>
          <p:nvPr/>
        </p:nvSpPr>
        <p:spPr>
          <a:xfrm>
            <a:off x="594360" y="4486241"/>
            <a:ext cx="7315200" cy="256032"/>
          </a:xfrm>
          <a:prstGeom prst="rect">
            <a:avLst/>
          </a:prstGeom>
          <a:noFill/>
          <a:ln/>
        </p:spPr>
        <p:txBody>
          <a:bodyPr wrap="square" lIns="0" tIns="0" rIns="0" bIns="0" rtlCol="0" anchor="t"/>
          <a:lstStyle/>
          <a:p>
            <a:pPr algn="l" indent="0" marL="0">
              <a:buNone/>
            </a:pPr>
            <a:r>
              <a:rPr lang="en-US" sz="1100" dirty="0">
                <a:solidFill>
                  <a:schemeClr val="accent6"/>
                </a:solidFill>
              </a:rPr>
              <a:t>Real screenshot · Model Lab → ML tyre model (chart area)</a:t>
            </a:r>
            <a:endParaRPr lang="en-US" sz="1100" dirty="0"/>
          </a:p>
        </p:txBody>
      </p:sp>
      <p:sp>
        <p:nvSpPr>
          <p:cNvPr id="8" name="Text-391"/>
          <p:cNvSpPr txBox="1"/>
          <p:nvPr/>
        </p:nvSpPr>
        <p:spPr>
          <a:xfrm>
            <a:off x="594360" y="4828032"/>
            <a:ext cx="7315200" cy="292608"/>
          </a:xfrm>
          <a:prstGeom prst="rect">
            <a:avLst/>
          </a:prstGeom>
          <a:noFill/>
          <a:ln/>
        </p:spPr>
        <p:txBody>
          <a:bodyPr wrap="square" lIns="0" tIns="0" rIns="0" bIns="0" rtlCol="0" anchor="t"/>
          <a:lstStyle/>
          <a:p>
            <a:pPr algn="l" indent="0" marL="0">
              <a:buNone/>
            </a:pPr>
            <a:r>
              <a:rPr lang="en-US" sz="1300" b="1" dirty="0">
                <a:solidFill>
                  <a:schemeClr val="bg1"/>
                </a:solidFill>
              </a:rPr>
              <a:t>Where the real data stops: 95% of laps (solid); dashed = extended, up to 45 laps</a:t>
            </a:r>
            <a:endParaRPr lang="en-US" sz="1300" dirty="0"/>
          </a:p>
        </p:txBody>
      </p:sp>
      <p:sp>
        <p:nvSpPr>
          <p:cNvPr id="9" name="Text-392"/>
          <p:cNvSpPr txBox="1"/>
          <p:nvPr/>
        </p:nvSpPr>
        <p:spPr>
          <a:xfrm>
            <a:off x="594360" y="5212080"/>
            <a:ext cx="914400" cy="274320"/>
          </a:xfrm>
          <a:prstGeom prst="rect">
            <a:avLst/>
          </a:prstGeom>
          <a:noFill/>
          <a:ln/>
        </p:spPr>
        <p:txBody>
          <a:bodyPr wrap="square" lIns="0" tIns="0" rIns="0" bIns="0" rtlCol="0" anchor="ctr"/>
          <a:lstStyle/>
          <a:p>
            <a:pPr algn="l" indent="0" marL="0">
              <a:buNone/>
            </a:pPr>
            <a:r>
              <a:rPr lang="en-US" sz="1200" b="1" dirty="0">
                <a:solidFill>
                  <a:schemeClr val="bg2"/>
                </a:solidFill>
              </a:rPr>
              <a:t>Soft</a:t>
            </a:r>
            <a:endParaRPr lang="en-US" sz="1200" dirty="0"/>
          </a:p>
        </p:txBody>
      </p:sp>
      <p:sp>
        <p:nvSpPr>
          <p:cNvPr id="10" name="Data coverage Soft-393"/>
          <p:cNvSpPr/>
          <p:nvPr/>
        </p:nvSpPr>
        <p:spPr>
          <a:xfrm>
            <a:off x="1600200" y="5221224"/>
            <a:ext cx="3486912" cy="256032"/>
          </a:xfrm>
          <a:prstGeom prst="rect">
            <a:avLst/>
          </a:prstGeom>
          <a:solidFill>
            <a:schemeClr val="accent1"/>
          </a:solidFill>
          <a:ln/>
        </p:spPr>
      </p:sp>
      <p:sp>
        <p:nvSpPr>
          <p:cNvPr id="11" name="Extrapolated Soft-394"/>
          <p:cNvSpPr/>
          <p:nvPr/>
        </p:nvSpPr>
        <p:spPr>
          <a:xfrm>
            <a:off x="5087112" y="5221224"/>
            <a:ext cx="2548128" cy="256032"/>
          </a:xfrm>
          <a:prstGeom prst="rect">
            <a:avLst/>
          </a:prstGeom>
          <a:ln w="12700">
            <a:solidFill>
              <a:schemeClr val="accent1"/>
            </a:solidFill>
            <a:prstDash val="dash"/>
          </a:ln>
        </p:spPr>
      </p:sp>
      <p:sp>
        <p:nvSpPr>
          <p:cNvPr id="12" name="Text-395"/>
          <p:cNvSpPr txBox="1"/>
          <p:nvPr/>
        </p:nvSpPr>
        <p:spPr>
          <a:xfrm>
            <a:off x="1600200" y="5221224"/>
            <a:ext cx="3395472" cy="256032"/>
          </a:xfrm>
          <a:prstGeom prst="rect">
            <a:avLst/>
          </a:prstGeom>
          <a:noFill/>
          <a:ln/>
        </p:spPr>
        <p:txBody>
          <a:bodyPr wrap="square" lIns="0" tIns="0" rIns="0" bIns="0" rtlCol="0" anchor="ctr"/>
          <a:lstStyle/>
          <a:p>
            <a:pPr algn="r" indent="0" marL="0">
              <a:buNone/>
            </a:pPr>
            <a:r>
              <a:rPr lang="en-US" sz="1100" b="1" dirty="0">
                <a:solidFill>
                  <a:schemeClr val="bg1"/>
                </a:solidFill>
              </a:rPr>
              <a:t>26 laps</a:t>
            </a:r>
            <a:endParaRPr lang="en-US" sz="1100" dirty="0"/>
          </a:p>
        </p:txBody>
      </p:sp>
      <p:sp>
        <p:nvSpPr>
          <p:cNvPr id="13" name="Text-396"/>
          <p:cNvSpPr txBox="1"/>
          <p:nvPr/>
        </p:nvSpPr>
        <p:spPr>
          <a:xfrm>
            <a:off x="594360" y="5559552"/>
            <a:ext cx="914400" cy="274320"/>
          </a:xfrm>
          <a:prstGeom prst="rect">
            <a:avLst/>
          </a:prstGeom>
          <a:noFill/>
          <a:ln/>
        </p:spPr>
        <p:txBody>
          <a:bodyPr wrap="square" lIns="0" tIns="0" rIns="0" bIns="0" rtlCol="0" anchor="ctr"/>
          <a:lstStyle/>
          <a:p>
            <a:pPr algn="l" indent="0" marL="0">
              <a:buNone/>
            </a:pPr>
            <a:r>
              <a:rPr lang="en-US" sz="1200" b="1" dirty="0">
                <a:solidFill>
                  <a:schemeClr val="bg2"/>
                </a:solidFill>
              </a:rPr>
              <a:t>Medium</a:t>
            </a:r>
            <a:endParaRPr lang="en-US" sz="1200" dirty="0"/>
          </a:p>
        </p:txBody>
      </p:sp>
      <p:sp>
        <p:nvSpPr>
          <p:cNvPr id="14" name="Data coverage Medium-397"/>
          <p:cNvSpPr/>
          <p:nvPr/>
        </p:nvSpPr>
        <p:spPr>
          <a:xfrm>
            <a:off x="1600200" y="5568696"/>
            <a:ext cx="4157472" cy="256032"/>
          </a:xfrm>
          <a:prstGeom prst="rect">
            <a:avLst/>
          </a:prstGeom>
          <a:solidFill>
            <a:schemeClr val="accent2"/>
          </a:solidFill>
          <a:ln/>
        </p:spPr>
      </p:sp>
      <p:sp>
        <p:nvSpPr>
          <p:cNvPr id="15" name="Extrapolated Medium-398"/>
          <p:cNvSpPr/>
          <p:nvPr/>
        </p:nvSpPr>
        <p:spPr>
          <a:xfrm>
            <a:off x="5757672" y="5568696"/>
            <a:ext cx="1877568" cy="256032"/>
          </a:xfrm>
          <a:prstGeom prst="rect">
            <a:avLst/>
          </a:prstGeom>
          <a:ln w="12700">
            <a:solidFill>
              <a:schemeClr val="accent2"/>
            </a:solidFill>
            <a:prstDash val="dash"/>
          </a:ln>
        </p:spPr>
      </p:sp>
      <p:sp>
        <p:nvSpPr>
          <p:cNvPr id="16" name="Text-399"/>
          <p:cNvSpPr txBox="1"/>
          <p:nvPr/>
        </p:nvSpPr>
        <p:spPr>
          <a:xfrm>
            <a:off x="1600200" y="5568696"/>
            <a:ext cx="4066032" cy="256032"/>
          </a:xfrm>
          <a:prstGeom prst="rect">
            <a:avLst/>
          </a:prstGeom>
          <a:noFill/>
          <a:ln/>
        </p:spPr>
        <p:txBody>
          <a:bodyPr wrap="square" lIns="0" tIns="0" rIns="0" bIns="0" rtlCol="0" anchor="ctr"/>
          <a:lstStyle/>
          <a:p>
            <a:pPr algn="r" indent="0" marL="0">
              <a:buNone/>
            </a:pPr>
            <a:r>
              <a:rPr lang="en-US" sz="1100" b="1" dirty="0">
                <a:solidFill>
                  <a:schemeClr val="tx1"/>
                </a:solidFill>
              </a:rPr>
              <a:t>31 laps</a:t>
            </a:r>
            <a:endParaRPr lang="en-US" sz="1100" dirty="0"/>
          </a:p>
        </p:txBody>
      </p:sp>
      <p:sp>
        <p:nvSpPr>
          <p:cNvPr id="17" name="Text-400"/>
          <p:cNvSpPr txBox="1"/>
          <p:nvPr/>
        </p:nvSpPr>
        <p:spPr>
          <a:xfrm>
            <a:off x="594360" y="5907024"/>
            <a:ext cx="914400" cy="274320"/>
          </a:xfrm>
          <a:prstGeom prst="rect">
            <a:avLst/>
          </a:prstGeom>
          <a:noFill/>
          <a:ln/>
        </p:spPr>
        <p:txBody>
          <a:bodyPr wrap="square" lIns="0" tIns="0" rIns="0" bIns="0" rtlCol="0" anchor="ctr"/>
          <a:lstStyle/>
          <a:p>
            <a:pPr algn="l" indent="0" marL="0">
              <a:buNone/>
            </a:pPr>
            <a:r>
              <a:rPr lang="en-US" sz="1200" b="1" dirty="0">
                <a:solidFill>
                  <a:schemeClr val="bg2"/>
                </a:solidFill>
              </a:rPr>
              <a:t>Hard</a:t>
            </a:r>
            <a:endParaRPr lang="en-US" sz="1200" dirty="0"/>
          </a:p>
        </p:txBody>
      </p:sp>
      <p:sp>
        <p:nvSpPr>
          <p:cNvPr id="18" name="Data coverage Hard-401"/>
          <p:cNvSpPr/>
          <p:nvPr/>
        </p:nvSpPr>
        <p:spPr>
          <a:xfrm>
            <a:off x="1600200" y="5916168"/>
            <a:ext cx="4962144" cy="256032"/>
          </a:xfrm>
          <a:prstGeom prst="rect">
            <a:avLst/>
          </a:prstGeom>
          <a:solidFill>
            <a:schemeClr val="bg1"/>
          </a:solidFill>
          <a:ln/>
        </p:spPr>
      </p:sp>
      <p:sp>
        <p:nvSpPr>
          <p:cNvPr id="19" name="Extrapolated Hard-402"/>
          <p:cNvSpPr/>
          <p:nvPr/>
        </p:nvSpPr>
        <p:spPr>
          <a:xfrm>
            <a:off x="6562344" y="5916168"/>
            <a:ext cx="1072896" cy="256032"/>
          </a:xfrm>
          <a:prstGeom prst="rect">
            <a:avLst/>
          </a:prstGeom>
          <a:ln w="12700">
            <a:solidFill>
              <a:schemeClr val="bg1"/>
            </a:solidFill>
            <a:prstDash val="dash"/>
          </a:ln>
        </p:spPr>
      </p:sp>
      <p:sp>
        <p:nvSpPr>
          <p:cNvPr id="20" name="Text-403"/>
          <p:cNvSpPr txBox="1"/>
          <p:nvPr/>
        </p:nvSpPr>
        <p:spPr>
          <a:xfrm>
            <a:off x="1600200" y="5916168"/>
            <a:ext cx="4870704" cy="256032"/>
          </a:xfrm>
          <a:prstGeom prst="rect">
            <a:avLst/>
          </a:prstGeom>
          <a:noFill/>
          <a:ln/>
        </p:spPr>
        <p:txBody>
          <a:bodyPr wrap="square" lIns="0" tIns="0" rIns="0" bIns="0" rtlCol="0" anchor="ctr"/>
          <a:lstStyle/>
          <a:p>
            <a:pPr algn="r" indent="0" marL="0">
              <a:buNone/>
            </a:pPr>
            <a:r>
              <a:rPr lang="en-US" sz="1100" b="1" dirty="0">
                <a:solidFill>
                  <a:schemeClr val="tx1"/>
                </a:solidFill>
              </a:rPr>
              <a:t>37 laps</a:t>
            </a:r>
            <a:endParaRPr lang="en-US" sz="1100" dirty="0"/>
          </a:p>
        </p:txBody>
      </p:sp>
      <p:pic>
        <p:nvPicPr>
          <p:cNvPr id="21" name="Badge chart-404" descr="chart icon">    </p:cNvPr>
          <p:cNvPicPr>
            <a:picLocks noChangeAspect="1"/>
          </p:cNvPicPr>
          <p:nvPr/>
        </p:nvPicPr>
        <p:blipFill>
          <a:blip r:embed="rId2"/>
          <a:stretch>
            <a:fillRect/>
          </a:stretch>
        </p:blipFill>
        <p:spPr>
          <a:xfrm>
            <a:off x="8549640" y="1463040"/>
            <a:ext cx="566928" cy="566928"/>
          </a:xfrm>
          <a:prstGeom prst="rect">
            <a:avLst/>
          </a:prstGeom>
        </p:spPr>
      </p:pic>
      <p:sp>
        <p:nvSpPr>
          <p:cNvPr id="22" name="Text-405"/>
          <p:cNvSpPr txBox="1"/>
          <p:nvPr/>
        </p:nvSpPr>
        <p:spPr>
          <a:xfrm>
            <a:off x="9235440" y="1444752"/>
            <a:ext cx="2423160" cy="1097280"/>
          </a:xfrm>
          <a:prstGeom prst="rect">
            <a:avLst/>
          </a:prstGeom>
          <a:noFill/>
          <a:ln/>
        </p:spPr>
        <p:txBody>
          <a:bodyPr wrap="square" lIns="0" tIns="0" rIns="0" bIns="0" rtlCol="0" anchor="t"/>
          <a:lstStyle/>
          <a:p>
            <a:pPr algn="l" indent="0" marL="0">
              <a:buNone/>
            </a:pPr>
            <a:r>
              <a:rPr lang="en-US" sz="1300" dirty="0">
                <a:solidFill>
                  <a:schemeClr val="bg2"/>
                </a:solidFill>
              </a:rPr>
              <a:t>Solid lines are learned from real laps: soft, medium and hard lose time at almost the same rate for ~25 laps.</a:t>
            </a:r>
            <a:endParaRPr lang="en-US" sz="1300" dirty="0"/>
          </a:p>
        </p:txBody>
      </p:sp>
      <p:pic>
        <p:nvPicPr>
          <p:cNvPr id="23" name="Badge warn-406" descr="warn icon">    </p:cNvPr>
          <p:cNvPicPr>
            <a:picLocks noChangeAspect="1"/>
          </p:cNvPicPr>
          <p:nvPr/>
        </p:nvPicPr>
        <p:blipFill>
          <a:blip r:embed="rId3"/>
          <a:stretch>
            <a:fillRect/>
          </a:stretch>
        </p:blipFill>
        <p:spPr>
          <a:xfrm>
            <a:off x="8549640" y="2651760"/>
            <a:ext cx="566928" cy="566928"/>
          </a:xfrm>
          <a:prstGeom prst="rect">
            <a:avLst/>
          </a:prstGeom>
        </p:spPr>
      </p:pic>
      <p:sp>
        <p:nvSpPr>
          <p:cNvPr id="24" name="Text-407"/>
          <p:cNvSpPr txBox="1"/>
          <p:nvPr/>
        </p:nvSpPr>
        <p:spPr>
          <a:xfrm>
            <a:off x="9235440" y="2633472"/>
            <a:ext cx="2423160" cy="1097280"/>
          </a:xfrm>
          <a:prstGeom prst="rect">
            <a:avLst/>
          </a:prstGeom>
          <a:noFill/>
          <a:ln/>
        </p:spPr>
        <p:txBody>
          <a:bodyPr wrap="square" lIns="0" tIns="0" rIns="0" bIns="0" rtlCol="0" anchor="t"/>
          <a:lstStyle/>
          <a:p>
            <a:pPr algn="l" indent="0" marL="0">
              <a:buNone/>
            </a:pPr>
            <a:r>
              <a:rPr lang="en-US" sz="1300" dirty="0">
                <a:solidFill>
                  <a:schemeClr val="bg2"/>
                </a:solidFill>
              </a:rPr>
              <a:t>Dashed lines go beyond the real data (bars, bottom left) and are extended at their recent slope.</a:t>
            </a:r>
            <a:endParaRPr lang="en-US" sz="1300" dirty="0"/>
          </a:p>
        </p:txBody>
      </p:sp>
      <p:pic>
        <p:nvPicPr>
          <p:cNvPr id="25" name="Badge stopwatch-408" descr="stopwatch icon">    </p:cNvPr>
          <p:cNvPicPr>
            <a:picLocks noChangeAspect="1"/>
          </p:cNvPicPr>
          <p:nvPr/>
        </p:nvPicPr>
        <p:blipFill>
          <a:blip r:embed="rId4"/>
          <a:stretch>
            <a:fillRect/>
          </a:stretch>
        </p:blipFill>
        <p:spPr>
          <a:xfrm>
            <a:off x="8549640" y="3840480"/>
            <a:ext cx="566928" cy="566928"/>
          </a:xfrm>
          <a:prstGeom prst="rect">
            <a:avLst/>
          </a:prstGeom>
        </p:spPr>
      </p:pic>
      <p:sp>
        <p:nvSpPr>
          <p:cNvPr id="26" name="Text-409"/>
          <p:cNvSpPr txBox="1"/>
          <p:nvPr/>
        </p:nvSpPr>
        <p:spPr>
          <a:xfrm>
            <a:off x="9235440" y="3822192"/>
            <a:ext cx="2423160" cy="1097280"/>
          </a:xfrm>
          <a:prstGeom prst="rect">
            <a:avLst/>
          </a:prstGeom>
          <a:noFill/>
          <a:ln/>
        </p:spPr>
        <p:txBody>
          <a:bodyPr wrap="square" lIns="0" tIns="0" rIns="0" bIns="0" rtlCol="0" anchor="t"/>
          <a:lstStyle/>
          <a:p>
            <a:pPr algn="l" indent="0" marL="0">
              <a:buNone/>
            </a:pPr>
            <a:r>
              <a:rPr lang="en-US" sz="1300" dirty="0">
                <a:solidFill>
                  <a:schemeClr val="bg2"/>
                </a:solidFill>
              </a:rPr>
              <a:t>Race progress matters most: shuffling it adds 0.45 s of error; tyre age adds 0.09 s.</a:t>
            </a:r>
            <a:endParaRPr lang="en-US" sz="1300" dirty="0"/>
          </a:p>
        </p:txBody>
      </p:sp>
      <p:pic>
        <p:nvPicPr>
          <p:cNvPr id="27" name="Badge eye-410" descr="eye icon">    </p:cNvPr>
          <p:cNvPicPr>
            <a:picLocks noChangeAspect="1"/>
          </p:cNvPicPr>
          <p:nvPr/>
        </p:nvPicPr>
        <p:blipFill>
          <a:blip r:embed="rId5"/>
          <a:stretch>
            <a:fillRect/>
          </a:stretch>
        </p:blipFill>
        <p:spPr>
          <a:xfrm>
            <a:off x="8549640" y="5029200"/>
            <a:ext cx="566928" cy="566928"/>
          </a:xfrm>
          <a:prstGeom prst="rect">
            <a:avLst/>
          </a:prstGeom>
        </p:spPr>
      </p:pic>
      <p:sp>
        <p:nvSpPr>
          <p:cNvPr id="28" name="Text-411"/>
          <p:cNvSpPr txBox="1"/>
          <p:nvPr/>
        </p:nvSpPr>
        <p:spPr>
          <a:xfrm>
            <a:off x="9235440" y="5010912"/>
            <a:ext cx="2423160" cy="1097280"/>
          </a:xfrm>
          <a:prstGeom prst="rect">
            <a:avLst/>
          </a:prstGeom>
          <a:noFill/>
          <a:ln/>
        </p:spPr>
        <p:txBody>
          <a:bodyPr wrap="square" lIns="0" tIns="0" rIns="0" bIns="0" rtlCol="0" anchor="t"/>
          <a:lstStyle/>
          <a:p>
            <a:pPr algn="l" indent="0" marL="0">
              <a:buNone/>
            </a:pPr>
            <a:r>
              <a:rPr lang="en-US" sz="1300" dirty="0">
                <a:solidFill>
                  <a:schemeClr val="bg2"/>
                </a:solidFill>
              </a:rPr>
              <a:t>Likely survivorship: teams stop before tyres fall off, so the data rarely shows the cliff.</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TECHNOLOGY STACK</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What each tool does in this project</a:t>
            </a:r>
            <a:endParaRPr lang="en-US" sz="3200" dirty="0"/>
          </a:p>
        </p:txBody>
      </p:sp>
      <p:sp>
        <p:nvSpPr>
          <p:cNvPr id="4" name="Card-412"/>
          <p:cNvSpPr/>
          <p:nvPr/>
        </p:nvSpPr>
        <p:spPr>
          <a:xfrm>
            <a:off x="548640" y="1417320"/>
            <a:ext cx="5449824" cy="786384"/>
          </a:xfrm>
          <a:prstGeom prst="roundRect">
            <a:avLst>
              <a:gd name="adj" fmla="val 13953"/>
            </a:avLst>
          </a:prstGeom>
          <a:solidFill>
            <a:schemeClr val="bg2"/>
          </a:solidFill>
          <a:ln/>
        </p:spPr>
      </p:sp>
      <p:pic>
        <p:nvPicPr>
          <p:cNvPr id="5" name="Badge code-413" descr="code icon">    </p:cNvPr>
          <p:cNvPicPr>
            <a:picLocks noChangeAspect="1"/>
          </p:cNvPicPr>
          <p:nvPr/>
        </p:nvPicPr>
        <p:blipFill>
          <a:blip r:embed="rId1"/>
          <a:stretch>
            <a:fillRect/>
          </a:stretch>
        </p:blipFill>
        <p:spPr>
          <a:xfrm>
            <a:off x="658368" y="1508760"/>
            <a:ext cx="603504" cy="603504"/>
          </a:xfrm>
          <a:prstGeom prst="rect">
            <a:avLst/>
          </a:prstGeom>
        </p:spPr>
      </p:pic>
      <p:sp>
        <p:nvSpPr>
          <p:cNvPr id="6" name="Text-414"/>
          <p:cNvSpPr txBox="1"/>
          <p:nvPr/>
        </p:nvSpPr>
        <p:spPr>
          <a:xfrm>
            <a:off x="1417320" y="14904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Python 3.11–3.13</a:t>
            </a:r>
            <a:endParaRPr lang="en-US" sz="1500" dirty="0"/>
          </a:p>
        </p:txBody>
      </p:sp>
      <p:sp>
        <p:nvSpPr>
          <p:cNvPr id="7" name="Text-415"/>
          <p:cNvSpPr txBox="1"/>
          <p:nvPr/>
        </p:nvSpPr>
        <p:spPr>
          <a:xfrm>
            <a:off x="1417320" y="18196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All agents, simulation, validation and data handling</a:t>
            </a:r>
            <a:endParaRPr lang="en-US" sz="1250" dirty="0"/>
          </a:p>
        </p:txBody>
      </p:sp>
      <p:sp>
        <p:nvSpPr>
          <p:cNvPr id="8" name="Card-416"/>
          <p:cNvSpPr/>
          <p:nvPr/>
        </p:nvSpPr>
        <p:spPr>
          <a:xfrm>
            <a:off x="6181344" y="1417320"/>
            <a:ext cx="5449824" cy="786384"/>
          </a:xfrm>
          <a:prstGeom prst="roundRect">
            <a:avLst>
              <a:gd name="adj" fmla="val 13953"/>
            </a:avLst>
          </a:prstGeom>
          <a:solidFill>
            <a:schemeClr val="bg2"/>
          </a:solidFill>
          <a:ln/>
        </p:spPr>
      </p:sp>
      <p:pic>
        <p:nvPicPr>
          <p:cNvPr id="9" name="Badge window-417" descr="window icon">    </p:cNvPr>
          <p:cNvPicPr>
            <a:picLocks noChangeAspect="1"/>
          </p:cNvPicPr>
          <p:nvPr/>
        </p:nvPicPr>
        <p:blipFill>
          <a:blip r:embed="rId2"/>
          <a:stretch>
            <a:fillRect/>
          </a:stretch>
        </p:blipFill>
        <p:spPr>
          <a:xfrm>
            <a:off x="6291072" y="1508760"/>
            <a:ext cx="603504" cy="603504"/>
          </a:xfrm>
          <a:prstGeom prst="rect">
            <a:avLst/>
          </a:prstGeom>
        </p:spPr>
      </p:pic>
      <p:sp>
        <p:nvSpPr>
          <p:cNvPr id="10" name="Text-418"/>
          <p:cNvSpPr txBox="1"/>
          <p:nvPr/>
        </p:nvSpPr>
        <p:spPr>
          <a:xfrm>
            <a:off x="7050024" y="14904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Streamlit</a:t>
            </a:r>
            <a:endParaRPr lang="en-US" sz="1500" dirty="0"/>
          </a:p>
        </p:txBody>
      </p:sp>
      <p:sp>
        <p:nvSpPr>
          <p:cNvPr id="11" name="Text-419"/>
          <p:cNvSpPr txBox="1"/>
          <p:nvPr/>
        </p:nvSpPr>
        <p:spPr>
          <a:xfrm>
            <a:off x="7050024" y="18196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8-page web app, live agent view, chat, top navigation</a:t>
            </a:r>
            <a:endParaRPr lang="en-US" sz="1250" dirty="0"/>
          </a:p>
        </p:txBody>
      </p:sp>
      <p:sp>
        <p:nvSpPr>
          <p:cNvPr id="12" name="Card-420"/>
          <p:cNvSpPr/>
          <p:nvPr/>
        </p:nvSpPr>
        <p:spPr>
          <a:xfrm>
            <a:off x="548640" y="2331720"/>
            <a:ext cx="5449824" cy="786384"/>
          </a:xfrm>
          <a:prstGeom prst="roundRect">
            <a:avLst>
              <a:gd name="adj" fmla="val 13953"/>
            </a:avLst>
          </a:prstGeom>
          <a:solidFill>
            <a:schemeClr val="bg2"/>
          </a:solidFill>
          <a:ln/>
        </p:spPr>
      </p:sp>
      <p:pic>
        <p:nvPicPr>
          <p:cNvPr id="13" name="Badge table-421" descr="table icon">    </p:cNvPr>
          <p:cNvPicPr>
            <a:picLocks noChangeAspect="1"/>
          </p:cNvPicPr>
          <p:nvPr/>
        </p:nvPicPr>
        <p:blipFill>
          <a:blip r:embed="rId3"/>
          <a:stretch>
            <a:fillRect/>
          </a:stretch>
        </p:blipFill>
        <p:spPr>
          <a:xfrm>
            <a:off x="658368" y="2423160"/>
            <a:ext cx="603504" cy="603504"/>
          </a:xfrm>
          <a:prstGeom prst="rect">
            <a:avLst/>
          </a:prstGeom>
        </p:spPr>
      </p:pic>
      <p:sp>
        <p:nvSpPr>
          <p:cNvPr id="14" name="Text-422"/>
          <p:cNvSpPr txBox="1"/>
          <p:nvPr/>
        </p:nvSpPr>
        <p:spPr>
          <a:xfrm>
            <a:off x="1417320" y="24048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pandas + NumPy</a:t>
            </a:r>
            <a:endParaRPr lang="en-US" sz="1500" dirty="0"/>
          </a:p>
        </p:txBody>
      </p:sp>
      <p:sp>
        <p:nvSpPr>
          <p:cNvPr id="15" name="Text-423"/>
          <p:cNvSpPr txBox="1"/>
          <p:nvPr/>
        </p:nvSpPr>
        <p:spPr>
          <a:xfrm>
            <a:off x="1417320" y="27340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Lap data, race states, simulation arithmetic</a:t>
            </a:r>
            <a:endParaRPr lang="en-US" sz="1250" dirty="0"/>
          </a:p>
        </p:txBody>
      </p:sp>
      <p:sp>
        <p:nvSpPr>
          <p:cNvPr id="16" name="Card-424"/>
          <p:cNvSpPr/>
          <p:nvPr/>
        </p:nvSpPr>
        <p:spPr>
          <a:xfrm>
            <a:off x="6181344" y="2331720"/>
            <a:ext cx="5449824" cy="786384"/>
          </a:xfrm>
          <a:prstGeom prst="roundRect">
            <a:avLst>
              <a:gd name="adj" fmla="val 13953"/>
            </a:avLst>
          </a:prstGeom>
          <a:solidFill>
            <a:schemeClr val="bg2"/>
          </a:solidFill>
          <a:ln/>
        </p:spPr>
      </p:sp>
      <p:pic>
        <p:nvPicPr>
          <p:cNvPr id="17" name="Badge chart-425" descr="chart icon">    </p:cNvPr>
          <p:cNvPicPr>
            <a:picLocks noChangeAspect="1"/>
          </p:cNvPicPr>
          <p:nvPr/>
        </p:nvPicPr>
        <p:blipFill>
          <a:blip r:embed="rId4"/>
          <a:stretch>
            <a:fillRect/>
          </a:stretch>
        </p:blipFill>
        <p:spPr>
          <a:xfrm>
            <a:off x="6291072" y="2423160"/>
            <a:ext cx="603504" cy="603504"/>
          </a:xfrm>
          <a:prstGeom prst="rect">
            <a:avLst/>
          </a:prstGeom>
        </p:spPr>
      </p:pic>
      <p:sp>
        <p:nvSpPr>
          <p:cNvPr id="18" name="Text-426"/>
          <p:cNvSpPr txBox="1"/>
          <p:nvPr/>
        </p:nvSpPr>
        <p:spPr>
          <a:xfrm>
            <a:off x="7050024" y="24048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Altair</a:t>
            </a:r>
            <a:endParaRPr lang="en-US" sz="1500" dirty="0"/>
          </a:p>
        </p:txBody>
      </p:sp>
      <p:sp>
        <p:nvSpPr>
          <p:cNvPr id="19" name="Text-427"/>
          <p:cNvSpPr txBox="1"/>
          <p:nvPr/>
        </p:nvSpPr>
        <p:spPr>
          <a:xfrm>
            <a:off x="7050024" y="27340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Interactive charts: options, race timeline, ML results</a:t>
            </a:r>
            <a:endParaRPr lang="en-US" sz="1250" dirty="0"/>
          </a:p>
        </p:txBody>
      </p:sp>
      <p:sp>
        <p:nvSpPr>
          <p:cNvPr id="20" name="Card-428"/>
          <p:cNvSpPr/>
          <p:nvPr/>
        </p:nvSpPr>
        <p:spPr>
          <a:xfrm>
            <a:off x="548640" y="3246120"/>
            <a:ext cx="5449824" cy="786384"/>
          </a:xfrm>
          <a:prstGeom prst="roundRect">
            <a:avLst>
              <a:gd name="adj" fmla="val 13953"/>
            </a:avLst>
          </a:prstGeom>
          <a:solidFill>
            <a:schemeClr val="bg2"/>
          </a:solidFill>
          <a:ln/>
        </p:spPr>
      </p:sp>
      <p:pic>
        <p:nvPicPr>
          <p:cNvPr id="21" name="Badge micro-429" descr="micro icon">    </p:cNvPr>
          <p:cNvPicPr>
            <a:picLocks noChangeAspect="1"/>
          </p:cNvPicPr>
          <p:nvPr/>
        </p:nvPicPr>
        <p:blipFill>
          <a:blip r:embed="rId5"/>
          <a:stretch>
            <a:fillRect/>
          </a:stretch>
        </p:blipFill>
        <p:spPr>
          <a:xfrm>
            <a:off x="658368" y="3337560"/>
            <a:ext cx="603504" cy="603504"/>
          </a:xfrm>
          <a:prstGeom prst="rect">
            <a:avLst/>
          </a:prstGeom>
        </p:spPr>
      </p:pic>
      <p:sp>
        <p:nvSpPr>
          <p:cNvPr id="22" name="Text-430"/>
          <p:cNvSpPr txBox="1"/>
          <p:nvPr/>
        </p:nvSpPr>
        <p:spPr>
          <a:xfrm>
            <a:off x="1417320" y="33192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scikit-learn</a:t>
            </a:r>
            <a:endParaRPr lang="en-US" sz="1500" dirty="0"/>
          </a:p>
        </p:txBody>
      </p:sp>
      <p:sp>
        <p:nvSpPr>
          <p:cNvPr id="23" name="Text-431"/>
          <p:cNvSpPr txBox="1"/>
          <p:nvPr/>
        </p:nvSpPr>
        <p:spPr>
          <a:xfrm>
            <a:off x="1417320" y="36484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Gradient-boosted tyre model, evaluation, feature importance</a:t>
            </a:r>
            <a:endParaRPr lang="en-US" sz="1250" dirty="0"/>
          </a:p>
        </p:txBody>
      </p:sp>
      <p:sp>
        <p:nvSpPr>
          <p:cNvPr id="24" name="Card-432"/>
          <p:cNvSpPr/>
          <p:nvPr/>
        </p:nvSpPr>
        <p:spPr>
          <a:xfrm>
            <a:off x="6181344" y="3246120"/>
            <a:ext cx="5449824" cy="786384"/>
          </a:xfrm>
          <a:prstGeom prst="roundRect">
            <a:avLst>
              <a:gd name="adj" fmla="val 13953"/>
            </a:avLst>
          </a:prstGeom>
          <a:solidFill>
            <a:schemeClr val="bg2"/>
          </a:solidFill>
          <a:ln/>
        </p:spPr>
      </p:sp>
      <p:pic>
        <p:nvPicPr>
          <p:cNvPr id="25" name="Badge brain-433" descr="brain icon">    </p:cNvPr>
          <p:cNvPicPr>
            <a:picLocks noChangeAspect="1"/>
          </p:cNvPicPr>
          <p:nvPr/>
        </p:nvPicPr>
        <p:blipFill>
          <a:blip r:embed="rId6"/>
          <a:stretch>
            <a:fillRect/>
          </a:stretch>
        </p:blipFill>
        <p:spPr>
          <a:xfrm>
            <a:off x="6291072" y="3337560"/>
            <a:ext cx="603504" cy="603504"/>
          </a:xfrm>
          <a:prstGeom prst="rect">
            <a:avLst/>
          </a:prstGeom>
        </p:spPr>
      </p:pic>
      <p:sp>
        <p:nvSpPr>
          <p:cNvPr id="26" name="Text-434"/>
          <p:cNvSpPr txBox="1"/>
          <p:nvPr/>
        </p:nvSpPr>
        <p:spPr>
          <a:xfrm>
            <a:off x="7050024" y="33192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Groq API · gpt-oss-120b</a:t>
            </a:r>
            <a:endParaRPr lang="en-US" sz="1500" dirty="0"/>
          </a:p>
        </p:txBody>
      </p:sp>
      <p:sp>
        <p:nvSpPr>
          <p:cNvPr id="27" name="Text-435"/>
          <p:cNvSpPr txBox="1"/>
          <p:nvPr/>
        </p:nvSpPr>
        <p:spPr>
          <a:xfrm>
            <a:off x="7050024" y="36484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Agent brain (free plan); Gemini or Ollama as alternatives</a:t>
            </a:r>
            <a:endParaRPr lang="en-US" sz="1250" dirty="0"/>
          </a:p>
        </p:txBody>
      </p:sp>
      <p:sp>
        <p:nvSpPr>
          <p:cNvPr id="28" name="Card-436"/>
          <p:cNvSpPr/>
          <p:nvPr/>
        </p:nvSpPr>
        <p:spPr>
          <a:xfrm>
            <a:off x="548640" y="4160520"/>
            <a:ext cx="5449824" cy="786384"/>
          </a:xfrm>
          <a:prstGeom prst="roundRect">
            <a:avLst>
              <a:gd name="adj" fmla="val 13953"/>
            </a:avLst>
          </a:prstGeom>
          <a:solidFill>
            <a:schemeClr val="bg2"/>
          </a:solidFill>
          <a:ln/>
        </p:spPr>
      </p:sp>
      <p:pic>
        <p:nvPicPr>
          <p:cNvPr id="29" name="Badge db-437" descr="db icon">    </p:cNvPr>
          <p:cNvPicPr>
            <a:picLocks noChangeAspect="1"/>
          </p:cNvPicPr>
          <p:nvPr/>
        </p:nvPicPr>
        <p:blipFill>
          <a:blip r:embed="rId7"/>
          <a:stretch>
            <a:fillRect/>
          </a:stretch>
        </p:blipFill>
        <p:spPr>
          <a:xfrm>
            <a:off x="658368" y="4251960"/>
            <a:ext cx="603504" cy="603504"/>
          </a:xfrm>
          <a:prstGeom prst="rect">
            <a:avLst/>
          </a:prstGeom>
        </p:spPr>
      </p:pic>
      <p:sp>
        <p:nvSpPr>
          <p:cNvPr id="30" name="Text-438"/>
          <p:cNvSpPr txBox="1"/>
          <p:nvPr/>
        </p:nvSpPr>
        <p:spPr>
          <a:xfrm>
            <a:off x="1417320" y="42336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Real F1 timing data</a:t>
            </a:r>
            <a:endParaRPr lang="en-US" sz="1500" dirty="0"/>
          </a:p>
        </p:txBody>
      </p:sp>
      <p:sp>
        <p:nvSpPr>
          <p:cNvPr id="31" name="Text-439"/>
          <p:cNvSpPr txBox="1"/>
          <p:nvPr/>
        </p:nvSpPr>
        <p:spPr>
          <a:xfrm>
            <a:off x="1417320" y="45628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162 races from the TracingInsights archive [4]; FastF1 optional [5]</a:t>
            </a:r>
            <a:endParaRPr lang="en-US" sz="1250" dirty="0"/>
          </a:p>
        </p:txBody>
      </p:sp>
      <p:sp>
        <p:nvSpPr>
          <p:cNvPr id="32" name="Card-440"/>
          <p:cNvSpPr/>
          <p:nvPr/>
        </p:nvSpPr>
        <p:spPr>
          <a:xfrm>
            <a:off x="6181344" y="4160520"/>
            <a:ext cx="5449824" cy="786384"/>
          </a:xfrm>
          <a:prstGeom prst="roundRect">
            <a:avLst>
              <a:gd name="adj" fmla="val 13953"/>
            </a:avLst>
          </a:prstGeom>
          <a:solidFill>
            <a:schemeClr val="bg2"/>
          </a:solidFill>
          <a:ln/>
        </p:spPr>
      </p:sp>
      <p:pic>
        <p:nvPicPr>
          <p:cNvPr id="33" name="Badge history-441" descr="history icon">    </p:cNvPr>
          <p:cNvPicPr>
            <a:picLocks noChangeAspect="1"/>
          </p:cNvPicPr>
          <p:nvPr/>
        </p:nvPicPr>
        <p:blipFill>
          <a:blip r:embed="rId8"/>
          <a:stretch>
            <a:fillRect/>
          </a:stretch>
        </p:blipFill>
        <p:spPr>
          <a:xfrm>
            <a:off x="6291072" y="4251960"/>
            <a:ext cx="603504" cy="603504"/>
          </a:xfrm>
          <a:prstGeom prst="rect">
            <a:avLst/>
          </a:prstGeom>
        </p:spPr>
      </p:pic>
      <p:sp>
        <p:nvSpPr>
          <p:cNvPr id="34" name="Text-442"/>
          <p:cNvSpPr txBox="1"/>
          <p:nvPr/>
        </p:nvSpPr>
        <p:spPr>
          <a:xfrm>
            <a:off x="7050024" y="42336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JSON Lines records</a:t>
            </a:r>
            <a:endParaRPr lang="en-US" sz="1500" dirty="0"/>
          </a:p>
        </p:txBody>
      </p:sp>
      <p:sp>
        <p:nvSpPr>
          <p:cNvPr id="35" name="Text-443"/>
          <p:cNvSpPr txBox="1"/>
          <p:nvPr/>
        </p:nvSpPr>
        <p:spPr>
          <a:xfrm>
            <a:off x="7050024" y="45628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Every decision and reality check saved, exportable</a:t>
            </a:r>
            <a:endParaRPr lang="en-US" sz="1250" dirty="0"/>
          </a:p>
        </p:txBody>
      </p:sp>
      <p:sp>
        <p:nvSpPr>
          <p:cNvPr id="36" name="Card-444"/>
          <p:cNvSpPr/>
          <p:nvPr/>
        </p:nvSpPr>
        <p:spPr>
          <a:xfrm>
            <a:off x="548640" y="5074920"/>
            <a:ext cx="5449824" cy="786384"/>
          </a:xfrm>
          <a:prstGeom prst="roundRect">
            <a:avLst>
              <a:gd name="adj" fmla="val 13953"/>
            </a:avLst>
          </a:prstGeom>
          <a:solidFill>
            <a:schemeClr val="bg2"/>
          </a:solidFill>
          <a:ln/>
        </p:spPr>
      </p:sp>
      <p:pic>
        <p:nvPicPr>
          <p:cNvPr id="37" name="Badge vial-445" descr="vial icon">    </p:cNvPr>
          <p:cNvPicPr>
            <a:picLocks noChangeAspect="1"/>
          </p:cNvPicPr>
          <p:nvPr/>
        </p:nvPicPr>
        <p:blipFill>
          <a:blip r:embed="rId9"/>
          <a:stretch>
            <a:fillRect/>
          </a:stretch>
        </p:blipFill>
        <p:spPr>
          <a:xfrm>
            <a:off x="658368" y="5166360"/>
            <a:ext cx="603504" cy="603504"/>
          </a:xfrm>
          <a:prstGeom prst="rect">
            <a:avLst/>
          </a:prstGeom>
        </p:spPr>
      </p:pic>
      <p:sp>
        <p:nvSpPr>
          <p:cNvPr id="38" name="Text-446"/>
          <p:cNvSpPr txBox="1"/>
          <p:nvPr/>
        </p:nvSpPr>
        <p:spPr>
          <a:xfrm>
            <a:off x="1417320" y="51480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pytest + AppTest</a:t>
            </a:r>
            <a:endParaRPr lang="en-US" sz="1500" dirty="0"/>
          </a:p>
        </p:txBody>
      </p:sp>
      <p:sp>
        <p:nvSpPr>
          <p:cNvPr id="39" name="Text-447"/>
          <p:cNvSpPr txBox="1"/>
          <p:nvPr/>
        </p:nvSpPr>
        <p:spPr>
          <a:xfrm>
            <a:off x="1417320" y="54772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192 automated tests, including headless page tests</a:t>
            </a:r>
            <a:endParaRPr lang="en-US" sz="1250" dirty="0"/>
          </a:p>
        </p:txBody>
      </p:sp>
      <p:sp>
        <p:nvSpPr>
          <p:cNvPr id="40" name="Card-448"/>
          <p:cNvSpPr/>
          <p:nvPr/>
        </p:nvSpPr>
        <p:spPr>
          <a:xfrm>
            <a:off x="6181344" y="5074920"/>
            <a:ext cx="5449824" cy="786384"/>
          </a:xfrm>
          <a:prstGeom prst="roundRect">
            <a:avLst>
              <a:gd name="adj" fmla="val 13953"/>
            </a:avLst>
          </a:prstGeom>
          <a:solidFill>
            <a:schemeClr val="bg2"/>
          </a:solidFill>
          <a:ln/>
        </p:spPr>
      </p:sp>
      <p:pic>
        <p:nvPicPr>
          <p:cNvPr id="41" name="Badge cloud-449" descr="cloud icon">    </p:cNvPr>
          <p:cNvPicPr>
            <a:picLocks noChangeAspect="1"/>
          </p:cNvPicPr>
          <p:nvPr/>
        </p:nvPicPr>
        <p:blipFill>
          <a:blip r:embed="rId10"/>
          <a:stretch>
            <a:fillRect/>
          </a:stretch>
        </p:blipFill>
        <p:spPr>
          <a:xfrm>
            <a:off x="6291072" y="5166360"/>
            <a:ext cx="603504" cy="603504"/>
          </a:xfrm>
          <a:prstGeom prst="rect">
            <a:avLst/>
          </a:prstGeom>
        </p:spPr>
      </p:pic>
      <p:sp>
        <p:nvSpPr>
          <p:cNvPr id="42" name="Text-450"/>
          <p:cNvSpPr txBox="1"/>
          <p:nvPr/>
        </p:nvSpPr>
        <p:spPr>
          <a:xfrm>
            <a:off x="7050024" y="5148072"/>
            <a:ext cx="4434840" cy="320040"/>
          </a:xfrm>
          <a:prstGeom prst="rect">
            <a:avLst/>
          </a:prstGeom>
          <a:noFill/>
          <a:ln/>
        </p:spPr>
        <p:txBody>
          <a:bodyPr wrap="square" lIns="0" tIns="0" rIns="0" bIns="0" rtlCol="0" anchor="t"/>
          <a:lstStyle/>
          <a:p>
            <a:pPr algn="l" indent="0" marL="0">
              <a:buNone/>
            </a:pPr>
            <a:r>
              <a:rPr lang="en-US" sz="1500" b="1" dirty="0">
                <a:solidFill>
                  <a:schemeClr val="tx1"/>
                </a:solidFill>
              </a:rPr>
              <a:t>Docker + AWS EC2</a:t>
            </a:r>
            <a:endParaRPr lang="en-US" sz="1500" dirty="0"/>
          </a:p>
        </p:txBody>
      </p:sp>
      <p:sp>
        <p:nvSpPr>
          <p:cNvPr id="43" name="Text-451"/>
          <p:cNvSpPr txBox="1"/>
          <p:nvPr/>
        </p:nvSpPr>
        <p:spPr>
          <a:xfrm>
            <a:off x="7050024" y="5477256"/>
            <a:ext cx="4434840" cy="347472"/>
          </a:xfrm>
          <a:prstGeom prst="rect">
            <a:avLst/>
          </a:prstGeom>
          <a:noFill/>
          <a:ln/>
        </p:spPr>
        <p:txBody>
          <a:bodyPr wrap="square" lIns="0" tIns="0" rIns="0" bIns="0" rtlCol="0" anchor="t"/>
          <a:lstStyle/>
          <a:p>
            <a:pPr algn="l" indent="0" marL="0">
              <a:buNone/>
            </a:pPr>
            <a:r>
              <a:rPr lang="en-US" sz="1250" dirty="0">
                <a:solidFill>
                  <a:schemeClr val="tx2"/>
                </a:solidFill>
              </a:rPr>
              <a:t>Container image and step-by-step deployment guide</a:t>
            </a:r>
            <a:endParaRPr lang="en-US" sz="12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INTERFACE · RACE CONTROL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Pick a moment, ask the agents, get a call</a:t>
            </a:r>
            <a:endParaRPr lang="en-US" sz="3200" dirty="0"/>
          </a:p>
        </p:txBody>
      </p:sp>
      <p:sp>
        <p:nvSpPr>
          <p:cNvPr id="4" name="Screenshot frame-452"/>
          <p:cNvSpPr/>
          <p:nvPr/>
        </p:nvSpPr>
        <p:spPr>
          <a:xfrm>
            <a:off x="530352" y="1307592"/>
            <a:ext cx="11100816" cy="794766"/>
          </a:xfrm>
          <a:prstGeom prst="roundRect">
            <a:avLst>
              <a:gd name="adj" fmla="val 11505"/>
            </a:avLst>
          </a:prstGeom>
          <a:solidFill>
            <a:srgbClr val="2A2A36"/>
          </a:solidFill>
          <a:ln/>
          <a:effectLst>
            <a:outerShdw sx="100000" sy="100000" kx="0" ky="0" algn="bl" rotWithShape="0" blurRad="101600" dist="38100" dir="5400000">
              <a:srgbClr val="000000">
                <a:alpha val="22000"/>
              </a:srgbClr>
            </a:outerShdw>
          </a:effectLst>
        </p:spPr>
      </p:sp>
      <p:pic>
        <p:nvPicPr>
          <p:cNvPr id="5" name="Screenshot nav_header.png-453" descr="Top navigation bar with eight pages">    </p:cNvPr>
          <p:cNvPicPr>
            <a:picLocks noChangeAspect="1"/>
          </p:cNvPicPr>
          <p:nvPr/>
        </p:nvPicPr>
        <p:blipFill>
          <a:blip r:embed="rId1"/>
          <a:srcRect l="0" r="0" t="0" b="50000"/>
          <a:stretch/>
        </p:blipFill>
        <p:spPr>
          <a:xfrm>
            <a:off x="594360" y="1371600"/>
            <a:ext cx="10972800" cy="666750"/>
          </a:xfrm>
          <a:prstGeom prst="rect">
            <a:avLst/>
          </a:prstGeom>
        </p:spPr>
      </p:pic>
      <p:sp>
        <p:nvSpPr>
          <p:cNvPr id="6" name="Screenshot frame-454"/>
          <p:cNvSpPr/>
          <p:nvPr/>
        </p:nvSpPr>
        <p:spPr>
          <a:xfrm>
            <a:off x="530352" y="2248662"/>
            <a:ext cx="6803136" cy="3537174"/>
          </a:xfrm>
          <a:prstGeom prst="roundRect">
            <a:avLst>
              <a:gd name="adj" fmla="val 2585"/>
            </a:avLst>
          </a:prstGeom>
          <a:solidFill>
            <a:srgbClr val="2A2A36"/>
          </a:solidFill>
          <a:ln/>
          <a:effectLst>
            <a:outerShdw sx="100000" sy="100000" kx="0" ky="0" algn="bl" rotWithShape="0" blurRad="101600" dist="38100" dir="5400000">
              <a:srgbClr val="000000">
                <a:alpha val="22000"/>
              </a:srgbClr>
            </a:outerShdw>
          </a:effectLst>
        </p:spPr>
      </p:sp>
      <p:pic>
        <p:nvPicPr>
          <p:cNvPr id="7" name="Screenshot race_control_steps.png-455" descr="Race Control: choose a real race moment and ask the agents">    </p:cNvPr>
          <p:cNvPicPr>
            <a:picLocks noChangeAspect="1"/>
          </p:cNvPicPr>
          <p:nvPr/>
        </p:nvPicPr>
        <p:blipFill>
          <a:blip r:embed="rId2"/>
          <a:stretch>
            <a:fillRect/>
          </a:stretch>
        </p:blipFill>
        <p:spPr>
          <a:xfrm>
            <a:off x="594360" y="2312670"/>
            <a:ext cx="6675120" cy="3409158"/>
          </a:xfrm>
          <a:prstGeom prst="rect">
            <a:avLst/>
          </a:prstGeom>
        </p:spPr>
      </p:pic>
      <p:sp>
        <p:nvSpPr>
          <p:cNvPr id="8" name="Screenshot frame-456"/>
          <p:cNvSpPr/>
          <p:nvPr/>
        </p:nvSpPr>
        <p:spPr>
          <a:xfrm>
            <a:off x="7479792" y="2248662"/>
            <a:ext cx="4197096" cy="1309745"/>
          </a:xfrm>
          <a:prstGeom prst="roundRect">
            <a:avLst>
              <a:gd name="adj" fmla="val 6982"/>
            </a:avLst>
          </a:prstGeom>
          <a:solidFill>
            <a:srgbClr val="2A2A36"/>
          </a:solidFill>
          <a:ln/>
          <a:effectLst>
            <a:outerShdw sx="100000" sy="100000" kx="0" ky="0" algn="bl" rotWithShape="0" blurRad="101600" dist="38100" dir="5400000">
              <a:srgbClr val="000000">
                <a:alpha val="22000"/>
              </a:srgbClr>
            </a:outerShdw>
          </a:effectLst>
        </p:spPr>
      </p:sp>
      <p:pic>
        <p:nvPicPr>
          <p:cNvPr id="9" name="Screenshot race_control_call.png-457" descr="The call card with time to flag, margin and risk">    </p:cNvPr>
          <p:cNvPicPr>
            <a:picLocks noChangeAspect="1"/>
          </p:cNvPicPr>
          <p:nvPr/>
        </p:nvPicPr>
        <p:blipFill>
          <a:blip r:embed="rId3"/>
          <a:stretch>
            <a:fillRect/>
          </a:stretch>
        </p:blipFill>
        <p:spPr>
          <a:xfrm>
            <a:off x="7543800" y="2312670"/>
            <a:ext cx="4069080" cy="1181729"/>
          </a:xfrm>
          <a:prstGeom prst="rect">
            <a:avLst/>
          </a:prstGeom>
        </p:spPr>
      </p:pic>
      <p:sp>
        <p:nvSpPr>
          <p:cNvPr id="10" name="Callout marker-458"/>
          <p:cNvSpPr/>
          <p:nvPr/>
        </p:nvSpPr>
        <p:spPr>
          <a:xfrm>
            <a:off x="411480" y="2422398"/>
            <a:ext cx="329184" cy="329184"/>
          </a:xfrm>
          <a:prstGeom prst="ellipse">
            <a:avLst/>
          </a:prstGeom>
          <a:solidFill>
            <a:schemeClr val="accent2"/>
          </a:solidFill>
          <a:ln w="19050">
            <a:solidFill>
              <a:schemeClr val="tx1"/>
            </a:solidFill>
            <a:prstDash val="solid"/>
          </a:ln>
        </p:spPr>
      </p:sp>
      <p:sp>
        <p:nvSpPr>
          <p:cNvPr id="11" name="Callout number-459"/>
          <p:cNvSpPr txBox="1"/>
          <p:nvPr/>
        </p:nvSpPr>
        <p:spPr>
          <a:xfrm>
            <a:off x="411480" y="242239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2" name="Callout marker-460"/>
          <p:cNvSpPr/>
          <p:nvPr/>
        </p:nvSpPr>
        <p:spPr>
          <a:xfrm>
            <a:off x="411480" y="4903630"/>
            <a:ext cx="329184" cy="329184"/>
          </a:xfrm>
          <a:prstGeom prst="ellipse">
            <a:avLst/>
          </a:prstGeom>
          <a:solidFill>
            <a:schemeClr val="accent2"/>
          </a:solidFill>
          <a:ln w="19050">
            <a:solidFill>
              <a:schemeClr val="tx1"/>
            </a:solidFill>
            <a:prstDash val="solid"/>
          </a:ln>
        </p:spPr>
      </p:sp>
      <p:sp>
        <p:nvSpPr>
          <p:cNvPr id="13" name="Callout number-461"/>
          <p:cNvSpPr txBox="1"/>
          <p:nvPr/>
        </p:nvSpPr>
        <p:spPr>
          <a:xfrm>
            <a:off x="411480" y="490363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4" name="Callout marker-462"/>
          <p:cNvSpPr/>
          <p:nvPr/>
        </p:nvSpPr>
        <p:spPr>
          <a:xfrm>
            <a:off x="7360920" y="2385822"/>
            <a:ext cx="329184" cy="329184"/>
          </a:xfrm>
          <a:prstGeom prst="ellipse">
            <a:avLst/>
          </a:prstGeom>
          <a:solidFill>
            <a:schemeClr val="accent2"/>
          </a:solidFill>
          <a:ln w="19050">
            <a:solidFill>
              <a:schemeClr val="tx1"/>
            </a:solidFill>
            <a:prstDash val="solid"/>
          </a:ln>
        </p:spPr>
      </p:sp>
      <p:sp>
        <p:nvSpPr>
          <p:cNvPr id="15" name="Callout number-463"/>
          <p:cNvSpPr txBox="1"/>
          <p:nvPr/>
        </p:nvSpPr>
        <p:spPr>
          <a:xfrm>
            <a:off x="7360920" y="2385822"/>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Callout marker-464"/>
          <p:cNvSpPr/>
          <p:nvPr/>
        </p:nvSpPr>
        <p:spPr>
          <a:xfrm>
            <a:off x="7543800" y="3860159"/>
            <a:ext cx="329184" cy="329184"/>
          </a:xfrm>
          <a:prstGeom prst="ellipse">
            <a:avLst/>
          </a:prstGeom>
          <a:solidFill>
            <a:schemeClr val="accent2"/>
          </a:solidFill>
          <a:ln w="19050">
            <a:solidFill>
              <a:schemeClr val="tx1"/>
            </a:solidFill>
            <a:prstDash val="solid"/>
          </a:ln>
        </p:spPr>
      </p:sp>
      <p:sp>
        <p:nvSpPr>
          <p:cNvPr id="17" name="Callout number-465"/>
          <p:cNvSpPr txBox="1"/>
          <p:nvPr/>
        </p:nvSpPr>
        <p:spPr>
          <a:xfrm>
            <a:off x="7543800" y="3860159"/>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Text-466"/>
          <p:cNvSpPr txBox="1"/>
          <p:nvPr/>
        </p:nvSpPr>
        <p:spPr>
          <a:xfrm>
            <a:off x="8001000" y="3805295"/>
            <a:ext cx="3611880" cy="457200"/>
          </a:xfrm>
          <a:prstGeom prst="rect">
            <a:avLst/>
          </a:prstGeom>
          <a:noFill/>
          <a:ln/>
        </p:spPr>
        <p:txBody>
          <a:bodyPr wrap="square" lIns="0" tIns="0" rIns="0" bIns="0" rtlCol="0" anchor="ctr"/>
          <a:lstStyle/>
          <a:p>
            <a:pPr algn="l" indent="0" marL="0">
              <a:buNone/>
            </a:pPr>
            <a:r>
              <a:rPr lang="en-US" sz="1350" dirty="0">
                <a:solidFill>
                  <a:schemeClr val="bg2"/>
                </a:solidFill>
              </a:rPr>
              <a:t>Season, race, driver and lap: real timing, offline</a:t>
            </a:r>
            <a:endParaRPr lang="en-US" sz="1350" dirty="0"/>
          </a:p>
        </p:txBody>
      </p:sp>
      <p:sp>
        <p:nvSpPr>
          <p:cNvPr id="19" name="Callout marker-467"/>
          <p:cNvSpPr/>
          <p:nvPr/>
        </p:nvSpPr>
        <p:spPr>
          <a:xfrm>
            <a:off x="7543800" y="4427087"/>
            <a:ext cx="329184" cy="329184"/>
          </a:xfrm>
          <a:prstGeom prst="ellipse">
            <a:avLst/>
          </a:prstGeom>
          <a:solidFill>
            <a:schemeClr val="accent2"/>
          </a:solidFill>
          <a:ln w="19050">
            <a:solidFill>
              <a:schemeClr val="tx1"/>
            </a:solidFill>
            <a:prstDash val="solid"/>
          </a:ln>
        </p:spPr>
      </p:sp>
      <p:sp>
        <p:nvSpPr>
          <p:cNvPr id="20" name="Callout number-468"/>
          <p:cNvSpPr txBox="1"/>
          <p:nvPr/>
        </p:nvSpPr>
        <p:spPr>
          <a:xfrm>
            <a:off x="7543800" y="4427087"/>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Text-469"/>
          <p:cNvSpPr txBox="1"/>
          <p:nvPr/>
        </p:nvSpPr>
        <p:spPr>
          <a:xfrm>
            <a:off x="8001000" y="4372223"/>
            <a:ext cx="3611880" cy="457200"/>
          </a:xfrm>
          <a:prstGeom prst="rect">
            <a:avLst/>
          </a:prstGeom>
          <a:noFill/>
          <a:ln/>
        </p:spPr>
        <p:txBody>
          <a:bodyPr wrap="square" lIns="0" tIns="0" rIns="0" bIns="0" rtlCol="0" anchor="ctr"/>
          <a:lstStyle/>
          <a:p>
            <a:pPr algn="l" indent="0" marL="0">
              <a:buNone/>
            </a:pPr>
            <a:r>
              <a:rPr lang="en-US" sz="1350" dirty="0">
                <a:solidFill>
                  <a:schemeClr val="bg2"/>
                </a:solidFill>
              </a:rPr>
              <a:t>Question, tyre model (formula or ML) and live view</a:t>
            </a:r>
            <a:endParaRPr lang="en-US" sz="1350" dirty="0"/>
          </a:p>
        </p:txBody>
      </p:sp>
      <p:sp>
        <p:nvSpPr>
          <p:cNvPr id="22" name="Callout marker-470"/>
          <p:cNvSpPr/>
          <p:nvPr/>
        </p:nvSpPr>
        <p:spPr>
          <a:xfrm>
            <a:off x="7543800" y="4994015"/>
            <a:ext cx="329184" cy="329184"/>
          </a:xfrm>
          <a:prstGeom prst="ellipse">
            <a:avLst/>
          </a:prstGeom>
          <a:solidFill>
            <a:schemeClr val="accent2"/>
          </a:solidFill>
          <a:ln w="19050">
            <a:solidFill>
              <a:schemeClr val="tx1"/>
            </a:solidFill>
            <a:prstDash val="solid"/>
          </a:ln>
        </p:spPr>
      </p:sp>
      <p:sp>
        <p:nvSpPr>
          <p:cNvPr id="23" name="Callout number-471"/>
          <p:cNvSpPr txBox="1"/>
          <p:nvPr/>
        </p:nvSpPr>
        <p:spPr>
          <a:xfrm>
            <a:off x="7543800" y="4994015"/>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Text-472"/>
          <p:cNvSpPr txBox="1"/>
          <p:nvPr/>
        </p:nvSpPr>
        <p:spPr>
          <a:xfrm>
            <a:off x="8001000" y="4939151"/>
            <a:ext cx="3611880" cy="457200"/>
          </a:xfrm>
          <a:prstGeom prst="rect">
            <a:avLst/>
          </a:prstGeom>
          <a:noFill/>
          <a:ln/>
        </p:spPr>
        <p:txBody>
          <a:bodyPr wrap="square" lIns="0" tIns="0" rIns="0" bIns="0" rtlCol="0" anchor="ctr"/>
          <a:lstStyle/>
          <a:p>
            <a:pPr algn="l" indent="0" marL="0">
              <a:buNone/>
            </a:pPr>
            <a:r>
              <a:rPr lang="en-US" sz="1350" dirty="0">
                <a:solidFill>
                  <a:schemeClr val="bg2"/>
                </a:solidFill>
              </a:rPr>
              <a:t>The call: time to the flag, margin, finish and risk</a:t>
            </a:r>
            <a:endParaRPr lang="en-US" sz="1350" dirty="0"/>
          </a:p>
        </p:txBody>
      </p:sp>
      <p:sp>
        <p:nvSpPr>
          <p:cNvPr id="25" name="Text-473"/>
          <p:cNvSpPr txBox="1"/>
          <p:nvPr/>
        </p:nvSpPr>
        <p:spPr>
          <a:xfrm>
            <a:off x="7543800" y="5597519"/>
            <a:ext cx="4069080" cy="274320"/>
          </a:xfrm>
          <a:prstGeom prst="rect">
            <a:avLst/>
          </a:prstGeom>
          <a:noFill/>
          <a:ln/>
        </p:spPr>
        <p:txBody>
          <a:bodyPr wrap="square" lIns="0" tIns="0" rIns="0" bIns="0" rtlCol="0" anchor="t"/>
          <a:lstStyle/>
          <a:p>
            <a:pPr algn="l" indent="0" marL="0">
              <a:buNone/>
            </a:pPr>
            <a:r>
              <a:rPr lang="en-US" sz="1100" dirty="0">
                <a:solidFill>
                  <a:schemeClr val="accent6"/>
                </a:solidFill>
              </a:rPr>
              <a:t>Real screenshots of the running app (rules mode).</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INTERFACE · AGENTS PAGE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Watch the agents think, step by step</a:t>
            </a:r>
            <a:endParaRPr lang="en-US" sz="3200" dirty="0"/>
          </a:p>
        </p:txBody>
      </p:sp>
      <p:sp>
        <p:nvSpPr>
          <p:cNvPr id="4" name="Screenshot frame-474"/>
          <p:cNvSpPr/>
          <p:nvPr/>
        </p:nvSpPr>
        <p:spPr>
          <a:xfrm>
            <a:off x="530352" y="1353312"/>
            <a:ext cx="5522976" cy="2218563"/>
          </a:xfrm>
          <a:prstGeom prst="roundRect">
            <a:avLst>
              <a:gd name="adj" fmla="val 4122"/>
            </a:avLst>
          </a:prstGeom>
          <a:solidFill>
            <a:srgbClr val="2A2A36"/>
          </a:solidFill>
          <a:ln/>
          <a:effectLst>
            <a:outerShdw sx="100000" sy="100000" kx="0" ky="0" algn="bl" rotWithShape="0" blurRad="101600" dist="38100" dir="5400000">
              <a:srgbClr val="000000">
                <a:alpha val="22000"/>
              </a:srgbClr>
            </a:outerShdw>
          </a:effectLst>
        </p:spPr>
      </p:sp>
      <p:pic>
        <p:nvPicPr>
          <p:cNvPr id="5" name="Screenshot agents_pipeline.png-475" descr="Agents page pipeline diagram with each agent's status">    </p:cNvPr>
          <p:cNvPicPr>
            <a:picLocks noChangeAspect="1"/>
          </p:cNvPicPr>
          <p:nvPr/>
        </p:nvPicPr>
        <p:blipFill>
          <a:blip r:embed="rId1"/>
          <a:stretch>
            <a:fillRect/>
          </a:stretch>
        </p:blipFill>
        <p:spPr>
          <a:xfrm>
            <a:off x="594360" y="1417320"/>
            <a:ext cx="5394960" cy="2090547"/>
          </a:xfrm>
          <a:prstGeom prst="rect">
            <a:avLst/>
          </a:prstGeom>
        </p:spPr>
      </p:pic>
      <p:sp>
        <p:nvSpPr>
          <p:cNvPr id="6" name="Screenshot frame-476"/>
          <p:cNvSpPr/>
          <p:nvPr/>
        </p:nvSpPr>
        <p:spPr>
          <a:xfrm>
            <a:off x="6336792" y="1353312"/>
            <a:ext cx="5340096" cy="2603754"/>
          </a:xfrm>
          <a:prstGeom prst="roundRect">
            <a:avLst>
              <a:gd name="adj" fmla="val 3512"/>
            </a:avLst>
          </a:prstGeom>
          <a:solidFill>
            <a:srgbClr val="2A2A36"/>
          </a:solidFill>
          <a:ln/>
          <a:effectLst>
            <a:outerShdw sx="100000" sy="100000" kx="0" ky="0" algn="bl" rotWithShape="0" blurRad="101600" dist="38100" dir="5400000">
              <a:srgbClr val="000000">
                <a:alpha val="22000"/>
              </a:srgbClr>
            </a:outerShdw>
          </a:effectLst>
        </p:spPr>
      </p:sp>
      <p:pic>
        <p:nvPicPr>
          <p:cNvPr id="7" name="Screenshot agents_live_top.png-477" descr="Live agent run: status of each agent and the first log lines">    </p:cNvPr>
          <p:cNvPicPr>
            <a:picLocks noChangeAspect="1"/>
          </p:cNvPicPr>
          <p:nvPr/>
        </p:nvPicPr>
        <p:blipFill>
          <a:blip r:embed="rId2"/>
          <a:stretch>
            <a:fillRect/>
          </a:stretch>
        </p:blipFill>
        <p:spPr>
          <a:xfrm>
            <a:off x="6400800" y="1417320"/>
            <a:ext cx="5212080" cy="2475738"/>
          </a:xfrm>
          <a:prstGeom prst="rect">
            <a:avLst/>
          </a:prstGeom>
        </p:spPr>
      </p:pic>
      <p:sp>
        <p:nvSpPr>
          <p:cNvPr id="8" name="Screenshot frame-478"/>
          <p:cNvSpPr/>
          <p:nvPr/>
        </p:nvSpPr>
        <p:spPr>
          <a:xfrm>
            <a:off x="6336792" y="4057650"/>
            <a:ext cx="5340096" cy="2117526"/>
          </a:xfrm>
          <a:prstGeom prst="roundRect">
            <a:avLst>
              <a:gd name="adj" fmla="val 4318"/>
            </a:avLst>
          </a:prstGeom>
          <a:solidFill>
            <a:srgbClr val="2A2A36"/>
          </a:solidFill>
          <a:ln/>
          <a:effectLst>
            <a:outerShdw sx="100000" sy="100000" kx="0" ky="0" algn="bl" rotWithShape="0" blurRad="101600" dist="38100" dir="5400000">
              <a:srgbClr val="000000">
                <a:alpha val="22000"/>
              </a:srgbClr>
            </a:outerShdw>
          </a:effectLst>
        </p:spPr>
      </p:sp>
      <p:pic>
        <p:nvPicPr>
          <p:cNvPr id="9" name="Screenshot agents_critic_top.png-479" descr="Strategy Critic panel: given, what it did, decided">    </p:cNvPr>
          <p:cNvPicPr>
            <a:picLocks noChangeAspect="1"/>
          </p:cNvPicPr>
          <p:nvPr/>
        </p:nvPicPr>
        <p:blipFill>
          <a:blip r:embed="rId3"/>
          <a:stretch>
            <a:fillRect/>
          </a:stretch>
        </p:blipFill>
        <p:spPr>
          <a:xfrm>
            <a:off x="6400800" y="4121658"/>
            <a:ext cx="5212080" cy="1989510"/>
          </a:xfrm>
          <a:prstGeom prst="rect">
            <a:avLst/>
          </a:prstGeom>
        </p:spPr>
      </p:pic>
      <p:sp>
        <p:nvSpPr>
          <p:cNvPr id="10" name="Callout marker-480"/>
          <p:cNvSpPr/>
          <p:nvPr/>
        </p:nvSpPr>
        <p:spPr>
          <a:xfrm>
            <a:off x="411480" y="1508760"/>
            <a:ext cx="329184" cy="329184"/>
          </a:xfrm>
          <a:prstGeom prst="ellipse">
            <a:avLst/>
          </a:prstGeom>
          <a:solidFill>
            <a:schemeClr val="accent2"/>
          </a:solidFill>
          <a:ln w="19050">
            <a:solidFill>
              <a:schemeClr val="tx1"/>
            </a:solidFill>
            <a:prstDash val="solid"/>
          </a:ln>
        </p:spPr>
      </p:sp>
      <p:sp>
        <p:nvSpPr>
          <p:cNvPr id="11" name="Callout number-481"/>
          <p:cNvSpPr txBox="1"/>
          <p:nvPr/>
        </p:nvSpPr>
        <p:spPr>
          <a:xfrm>
            <a:off x="411480" y="150876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2" name="Callout marker-482"/>
          <p:cNvSpPr/>
          <p:nvPr/>
        </p:nvSpPr>
        <p:spPr>
          <a:xfrm>
            <a:off x="6217920" y="1508760"/>
            <a:ext cx="329184" cy="329184"/>
          </a:xfrm>
          <a:prstGeom prst="ellipse">
            <a:avLst/>
          </a:prstGeom>
          <a:solidFill>
            <a:schemeClr val="accent2"/>
          </a:solidFill>
          <a:ln w="19050">
            <a:solidFill>
              <a:schemeClr val="tx1"/>
            </a:solidFill>
            <a:prstDash val="solid"/>
          </a:ln>
        </p:spPr>
      </p:sp>
      <p:sp>
        <p:nvSpPr>
          <p:cNvPr id="13" name="Callout number-483"/>
          <p:cNvSpPr txBox="1"/>
          <p:nvPr/>
        </p:nvSpPr>
        <p:spPr>
          <a:xfrm>
            <a:off x="6217920" y="150876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4" name="Callout marker-484"/>
          <p:cNvSpPr/>
          <p:nvPr/>
        </p:nvSpPr>
        <p:spPr>
          <a:xfrm>
            <a:off x="6217920" y="4213098"/>
            <a:ext cx="329184" cy="329184"/>
          </a:xfrm>
          <a:prstGeom prst="ellipse">
            <a:avLst/>
          </a:prstGeom>
          <a:solidFill>
            <a:schemeClr val="accent2"/>
          </a:solidFill>
          <a:ln w="19050">
            <a:solidFill>
              <a:schemeClr val="tx1"/>
            </a:solidFill>
            <a:prstDash val="solid"/>
          </a:ln>
        </p:spPr>
      </p:sp>
      <p:sp>
        <p:nvSpPr>
          <p:cNvPr id="15" name="Callout number-485"/>
          <p:cNvSpPr txBox="1"/>
          <p:nvPr/>
        </p:nvSpPr>
        <p:spPr>
          <a:xfrm>
            <a:off x="6217920" y="421309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Callout marker-486"/>
          <p:cNvSpPr/>
          <p:nvPr/>
        </p:nvSpPr>
        <p:spPr>
          <a:xfrm>
            <a:off x="594360" y="3919347"/>
            <a:ext cx="329184" cy="329184"/>
          </a:xfrm>
          <a:prstGeom prst="ellipse">
            <a:avLst/>
          </a:prstGeom>
          <a:solidFill>
            <a:schemeClr val="accent2"/>
          </a:solidFill>
          <a:ln w="19050">
            <a:solidFill>
              <a:schemeClr val="tx1"/>
            </a:solidFill>
            <a:prstDash val="solid"/>
          </a:ln>
        </p:spPr>
      </p:sp>
      <p:sp>
        <p:nvSpPr>
          <p:cNvPr id="17" name="Callout number-487"/>
          <p:cNvSpPr txBox="1"/>
          <p:nvPr/>
        </p:nvSpPr>
        <p:spPr>
          <a:xfrm>
            <a:off x="594360" y="3919347"/>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Text-488"/>
          <p:cNvSpPr txBox="1"/>
          <p:nvPr/>
        </p:nvSpPr>
        <p:spPr>
          <a:xfrm>
            <a:off x="1051560" y="3846195"/>
            <a:ext cx="4937760" cy="640080"/>
          </a:xfrm>
          <a:prstGeom prst="rect">
            <a:avLst/>
          </a:prstGeom>
          <a:noFill/>
          <a:ln/>
        </p:spPr>
        <p:txBody>
          <a:bodyPr wrap="square" lIns="0" tIns="0" rIns="0" bIns="0" rtlCol="0" anchor="t"/>
          <a:lstStyle/>
          <a:p>
            <a:pPr algn="l" indent="0" marL="0">
              <a:buNone/>
            </a:pPr>
            <a:r>
              <a:rPr lang="en-US" sz="1400" dirty="0">
                <a:solidFill>
                  <a:schemeClr val="bg2"/>
                </a:solidFill>
              </a:rPr>
              <a:t>Pipeline: each agent's result and its brain (AI model, rules or Python)</a:t>
            </a:r>
            <a:endParaRPr lang="en-US" sz="1400" dirty="0"/>
          </a:p>
        </p:txBody>
      </p:sp>
      <p:sp>
        <p:nvSpPr>
          <p:cNvPr id="19" name="Callout marker-489"/>
          <p:cNvSpPr/>
          <p:nvPr/>
        </p:nvSpPr>
        <p:spPr>
          <a:xfrm>
            <a:off x="594360" y="4650867"/>
            <a:ext cx="329184" cy="329184"/>
          </a:xfrm>
          <a:prstGeom prst="ellipse">
            <a:avLst/>
          </a:prstGeom>
          <a:solidFill>
            <a:schemeClr val="accent2"/>
          </a:solidFill>
          <a:ln w="19050">
            <a:solidFill>
              <a:schemeClr val="tx1"/>
            </a:solidFill>
            <a:prstDash val="solid"/>
          </a:ln>
        </p:spPr>
      </p:sp>
      <p:sp>
        <p:nvSpPr>
          <p:cNvPr id="20" name="Callout number-490"/>
          <p:cNvSpPr txBox="1"/>
          <p:nvPr/>
        </p:nvSpPr>
        <p:spPr>
          <a:xfrm>
            <a:off x="594360" y="4650867"/>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Text-491"/>
          <p:cNvSpPr txBox="1"/>
          <p:nvPr/>
        </p:nvSpPr>
        <p:spPr>
          <a:xfrm>
            <a:off x="1051560" y="4577715"/>
            <a:ext cx="4937760" cy="640080"/>
          </a:xfrm>
          <a:prstGeom prst="rect">
            <a:avLst/>
          </a:prstGeom>
          <a:noFill/>
          <a:ln/>
        </p:spPr>
        <p:txBody>
          <a:bodyPr wrap="square" lIns="0" tIns="0" rIns="0" bIns="0" rtlCol="0" anchor="t"/>
          <a:lstStyle/>
          <a:p>
            <a:pPr algn="l" indent="0" marL="0">
              <a:buNone/>
            </a:pPr>
            <a:r>
              <a:rPr lang="en-US" sz="1400" dirty="0">
                <a:solidFill>
                  <a:schemeClr val="bg2"/>
                </a:solidFill>
              </a:rPr>
              <a:t>Watch live: each line appears as the agent acts; the working agent glows</a:t>
            </a:r>
            <a:endParaRPr lang="en-US" sz="1400" dirty="0"/>
          </a:p>
        </p:txBody>
      </p:sp>
      <p:sp>
        <p:nvSpPr>
          <p:cNvPr id="22" name="Callout marker-492"/>
          <p:cNvSpPr/>
          <p:nvPr/>
        </p:nvSpPr>
        <p:spPr>
          <a:xfrm>
            <a:off x="594360" y="5382387"/>
            <a:ext cx="329184" cy="329184"/>
          </a:xfrm>
          <a:prstGeom prst="ellipse">
            <a:avLst/>
          </a:prstGeom>
          <a:solidFill>
            <a:schemeClr val="accent2"/>
          </a:solidFill>
          <a:ln w="19050">
            <a:solidFill>
              <a:schemeClr val="tx1"/>
            </a:solidFill>
            <a:prstDash val="solid"/>
          </a:ln>
        </p:spPr>
      </p:sp>
      <p:sp>
        <p:nvSpPr>
          <p:cNvPr id="23" name="Callout number-493"/>
          <p:cNvSpPr txBox="1"/>
          <p:nvPr/>
        </p:nvSpPr>
        <p:spPr>
          <a:xfrm>
            <a:off x="594360" y="5382387"/>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Text-494"/>
          <p:cNvSpPr txBox="1"/>
          <p:nvPr/>
        </p:nvSpPr>
        <p:spPr>
          <a:xfrm>
            <a:off x="1051560" y="5309235"/>
            <a:ext cx="4937760" cy="640080"/>
          </a:xfrm>
          <a:prstGeom prst="rect">
            <a:avLst/>
          </a:prstGeom>
          <a:noFill/>
          <a:ln/>
        </p:spPr>
        <p:txBody>
          <a:bodyPr wrap="square" lIns="0" tIns="0" rIns="0" bIns="0" rtlCol="0" anchor="t"/>
          <a:lstStyle/>
          <a:p>
            <a:pPr algn="l" indent="0" marL="0">
              <a:buNone/>
            </a:pPr>
            <a:r>
              <a:rPr lang="en-US" sz="1400" dirty="0">
                <a:solidFill>
                  <a:schemeClr val="bg2"/>
                </a:solidFill>
              </a:rPr>
              <a:t>Every agent's panel: given · did · decided · passed on. Here the Critic rejects 5 of 7 options</a:t>
            </a:r>
            <a:endParaRPr lang="en-US" sz="14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INTERFACE · ASK THE PIT WALL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Describe a race; the agents play it out</a:t>
            </a:r>
            <a:endParaRPr lang="en-US" sz="3200" dirty="0"/>
          </a:p>
        </p:txBody>
      </p:sp>
      <p:sp>
        <p:nvSpPr>
          <p:cNvPr id="4" name="Card-495"/>
          <p:cNvSpPr/>
          <p:nvPr/>
        </p:nvSpPr>
        <p:spPr>
          <a:xfrm>
            <a:off x="594360" y="1417320"/>
            <a:ext cx="4572000" cy="1188720"/>
          </a:xfrm>
          <a:prstGeom prst="roundRect">
            <a:avLst>
              <a:gd name="adj" fmla="val 19231"/>
            </a:avLst>
          </a:prstGeom>
          <a:solidFill>
            <a:schemeClr val="accent2"/>
          </a:solidFill>
          <a:ln/>
          <a:effectLst>
            <a:outerShdw sx="100000" sy="100000" kx="0" ky="0" algn="bl" rotWithShape="0" blurRad="101600" dist="38100" dir="5400000">
              <a:srgbClr val="000000">
                <a:alpha val="22000"/>
              </a:srgbClr>
            </a:outerShdw>
          </a:effectLst>
        </p:spPr>
      </p:sp>
      <p:sp>
        <p:nvSpPr>
          <p:cNvPr id="5" name="Text-496"/>
          <p:cNvSpPr txBox="1"/>
          <p:nvPr/>
        </p:nvSpPr>
        <p:spPr>
          <a:xfrm>
            <a:off x="777240" y="1481328"/>
            <a:ext cx="4206240" cy="1051560"/>
          </a:xfrm>
          <a:prstGeom prst="rect">
            <a:avLst/>
          </a:prstGeom>
          <a:noFill/>
          <a:ln/>
        </p:spPr>
        <p:txBody>
          <a:bodyPr wrap="square" lIns="0" tIns="0" rIns="0" bIns="0" rtlCol="0" anchor="ctr"/>
          <a:lstStyle/>
          <a:p>
            <a:pPr algn="l" indent="0" marL="0">
              <a:buNone/>
            </a:pPr>
            <a:r>
              <a:rPr lang="en-US" sz="1500" b="1" dirty="0">
                <a:solidFill>
                  <a:schemeClr val="tx1"/>
                </a:solidFill>
              </a:rPr>
              <a:t>“After lap 20 of 56 on 18-lap-old mediums, VSC on laps 24–26 and rain from lap 35 to 45”</a:t>
            </a:r>
            <a:endParaRPr lang="en-US" sz="1500" dirty="0"/>
          </a:p>
        </p:txBody>
      </p:sp>
      <p:sp>
        <p:nvSpPr>
          <p:cNvPr id="6" name="Text-497"/>
          <p:cNvSpPr txBox="1"/>
          <p:nvPr/>
        </p:nvSpPr>
        <p:spPr>
          <a:xfrm>
            <a:off x="594360" y="2697480"/>
            <a:ext cx="4572000" cy="274320"/>
          </a:xfrm>
          <a:prstGeom prst="rect">
            <a:avLst/>
          </a:prstGeom>
          <a:noFill/>
          <a:ln/>
        </p:spPr>
        <p:txBody>
          <a:bodyPr wrap="square" lIns="0" tIns="0" rIns="0" bIns="0" rtlCol="0" anchor="t"/>
          <a:lstStyle/>
          <a:p>
            <a:pPr algn="l" indent="0" marL="0">
              <a:buNone/>
            </a:pPr>
            <a:r>
              <a:rPr lang="en-US" sz="1100" dirty="0">
                <a:solidFill>
                  <a:schemeClr val="accent6"/>
                </a:solidFill>
              </a:rPr>
              <a:t>What the user typed in the chat</a:t>
            </a:r>
            <a:endParaRPr lang="en-US" sz="1100" dirty="0"/>
          </a:p>
        </p:txBody>
      </p:sp>
      <p:sp>
        <p:nvSpPr>
          <p:cNvPr id="7" name="Screenshot frame-498"/>
          <p:cNvSpPr/>
          <p:nvPr/>
        </p:nvSpPr>
        <p:spPr>
          <a:xfrm>
            <a:off x="5468112" y="1353312"/>
            <a:ext cx="6208776" cy="2715288"/>
          </a:xfrm>
          <a:prstGeom prst="roundRect">
            <a:avLst>
              <a:gd name="adj" fmla="val 3368"/>
            </a:avLst>
          </a:prstGeom>
          <a:solidFill>
            <a:srgbClr val="2A2A36"/>
          </a:solidFill>
          <a:ln/>
          <a:effectLst>
            <a:outerShdw sx="100000" sy="100000" kx="0" ky="0" algn="bl" rotWithShape="0" blurRad="101600" dist="38100" dir="5400000">
              <a:srgbClr val="000000">
                <a:alpha val="22000"/>
              </a:srgbClr>
            </a:outerShdw>
          </a:effectLst>
        </p:spPr>
      </p:sp>
      <p:pic>
        <p:nvPicPr>
          <p:cNvPr id="8" name="Screenshot chat_answer.png-499" descr="Chat answer listing the scenario and the agents' decision">    </p:cNvPr>
          <p:cNvPicPr>
            <a:picLocks noChangeAspect="1"/>
          </p:cNvPicPr>
          <p:nvPr/>
        </p:nvPicPr>
        <p:blipFill>
          <a:blip r:embed="rId1"/>
          <a:stretch>
            <a:fillRect/>
          </a:stretch>
        </p:blipFill>
        <p:spPr>
          <a:xfrm>
            <a:off x="5532120" y="1417320"/>
            <a:ext cx="6080760" cy="2587272"/>
          </a:xfrm>
          <a:prstGeom prst="rect">
            <a:avLst/>
          </a:prstGeom>
        </p:spPr>
      </p:pic>
      <p:sp>
        <p:nvSpPr>
          <p:cNvPr id="9" name="Screenshot frame-500"/>
          <p:cNvSpPr/>
          <p:nvPr/>
        </p:nvSpPr>
        <p:spPr>
          <a:xfrm>
            <a:off x="5468112" y="4214904"/>
            <a:ext cx="6208776" cy="1624992"/>
          </a:xfrm>
          <a:prstGeom prst="roundRect">
            <a:avLst>
              <a:gd name="adj" fmla="val 5627"/>
            </a:avLst>
          </a:prstGeom>
          <a:solidFill>
            <a:srgbClr val="2A2A36"/>
          </a:solidFill>
          <a:ln/>
          <a:effectLst>
            <a:outerShdw sx="100000" sy="100000" kx="0" ky="0" algn="bl" rotWithShape="0" blurRad="101600" dist="38100" dir="5400000">
              <a:srgbClr val="000000">
                <a:alpha val="22000"/>
              </a:srgbClr>
            </a:outerShdw>
          </a:effectLst>
        </p:spPr>
      </p:sp>
      <p:pic>
        <p:nvPicPr>
          <p:cNvPr id="10" name="Screenshot chat_chart.png-501" descr="Race timeline chart with VSC, rain and tyre stints">    </p:cNvPr>
          <p:cNvPicPr>
            <a:picLocks noChangeAspect="1"/>
          </p:cNvPicPr>
          <p:nvPr/>
        </p:nvPicPr>
        <p:blipFill>
          <a:blip r:embed="rId2"/>
          <a:stretch>
            <a:fillRect/>
          </a:stretch>
        </p:blipFill>
        <p:spPr>
          <a:xfrm>
            <a:off x="5532120" y="4278912"/>
            <a:ext cx="6080760" cy="1496976"/>
          </a:xfrm>
          <a:prstGeom prst="rect">
            <a:avLst/>
          </a:prstGeom>
        </p:spPr>
      </p:pic>
      <p:sp>
        <p:nvSpPr>
          <p:cNvPr id="11" name="Chat features"/>
          <p:cNvSpPr txBox="1"/>
          <p:nvPr/>
        </p:nvSpPr>
        <p:spPr>
          <a:xfrm>
            <a:off x="594360" y="3154680"/>
            <a:ext cx="4572000" cy="27432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2"/>
                </a:solidFill>
              </a:rPr>
              <a:t>Reads lap, tyres, Safety Car, VSC, rain, wear, pit-stop time</a:t>
            </a:r>
            <a:endParaRPr lang="en-US" sz="1400" dirty="0"/>
          </a:p>
          <a:p>
            <a:pPr marL="203200" indent="-203200">
              <a:spcAft>
                <a:spcPts val="800"/>
              </a:spcAft>
              <a:buSzPct val="100000"/>
              <a:buChar char="•"/>
            </a:pPr>
            <a:r>
              <a:rPr lang="en-US" sz="1400" dirty="0">
                <a:solidFill>
                  <a:schemeClr val="bg2"/>
                </a:solidFill>
              </a:rPr>
              <a:t>Runs all five agents on a copy (never saved)</a:t>
            </a:r>
            <a:endParaRPr lang="en-US" sz="1400" dirty="0"/>
          </a:p>
          <a:p>
            <a:pPr marL="203200" indent="-203200">
              <a:spcAft>
                <a:spcPts val="800"/>
              </a:spcAft>
              <a:buSzPct val="100000"/>
              <a:buChar char="•"/>
            </a:pPr>
            <a:r>
              <a:rPr lang="en-US" sz="1400" dirty="0">
                <a:solidFill>
                  <a:schemeClr val="bg2"/>
                </a:solidFill>
              </a:rPr>
              <a:t>Answers in plain English with a race-timeline chart</a:t>
            </a:r>
            <a:endParaRPr lang="en-US" sz="1400" dirty="0"/>
          </a:p>
          <a:p>
            <a:pPr marL="203200" indent="-203200">
              <a:spcAft>
                <a:spcPts val="800"/>
              </a:spcAft>
              <a:buSzPct val="100000"/>
              <a:buChar char="•"/>
            </a:pPr>
            <a:r>
              <a:rPr lang="en-US" sz="1400" dirty="0">
                <a:solidFill>
                  <a:schemeClr val="bg2"/>
                </a:solidFill>
              </a:rPr>
              <a:t>One click loads it into the race inputs</a:t>
            </a:r>
            <a:endParaRPr lang="en-US" sz="1400" dirty="0"/>
          </a:p>
          <a:p>
            <a:pPr marL="203200" indent="-203200">
              <a:spcAft>
                <a:spcPts val="800"/>
              </a:spcAft>
              <a:buSzPct val="100000"/>
              <a:buChar char="•"/>
            </a:pPr>
            <a:r>
              <a:rPr lang="en-US" sz="1400" dirty="0">
                <a:solidFill>
                  <a:schemeClr val="bg2"/>
                </a:solidFill>
              </a:rPr>
              <a:t>With an AI model, it also reads unusual wording</a:t>
            </a:r>
            <a:endParaRPr lang="en-US" sz="14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INTERFACE · STRATEGY LAB AND REALITY CHECK</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Throw events at it, then check against history</a:t>
            </a:r>
            <a:endParaRPr lang="en-US" sz="3200" dirty="0"/>
          </a:p>
        </p:txBody>
      </p:sp>
      <p:sp>
        <p:nvSpPr>
          <p:cNvPr id="4" name="Screenshot frame-502"/>
          <p:cNvSpPr/>
          <p:nvPr/>
        </p:nvSpPr>
        <p:spPr>
          <a:xfrm>
            <a:off x="530352" y="1353312"/>
            <a:ext cx="5568696" cy="2506047"/>
          </a:xfrm>
          <a:prstGeom prst="roundRect">
            <a:avLst>
              <a:gd name="adj" fmla="val 3649"/>
            </a:avLst>
          </a:prstGeom>
          <a:solidFill>
            <a:srgbClr val="2A2A36"/>
          </a:solidFill>
          <a:ln/>
          <a:effectLst>
            <a:outerShdw sx="100000" sy="100000" kx="0" ky="0" algn="bl" rotWithShape="0" blurRad="101600" dist="38100" dir="5400000">
              <a:srgbClr val="000000">
                <a:alpha val="22000"/>
              </a:srgbClr>
            </a:outerShdw>
          </a:effectLst>
        </p:spPr>
      </p:sp>
      <p:pic>
        <p:nvPicPr>
          <p:cNvPr id="5" name="Screenshot lab_events.png-503" descr="Strategy Lab one-click race events and the before/after comparison">    </p:cNvPr>
          <p:cNvPicPr>
            <a:picLocks noChangeAspect="1"/>
          </p:cNvPicPr>
          <p:nvPr/>
        </p:nvPicPr>
        <p:blipFill>
          <a:blip r:embed="rId1"/>
          <a:stretch>
            <a:fillRect/>
          </a:stretch>
        </p:blipFill>
        <p:spPr>
          <a:xfrm>
            <a:off x="594360" y="1417320"/>
            <a:ext cx="5440680" cy="2378031"/>
          </a:xfrm>
          <a:prstGeom prst="rect">
            <a:avLst/>
          </a:prstGeom>
        </p:spPr>
      </p:pic>
      <p:sp>
        <p:nvSpPr>
          <p:cNvPr id="6" name="Text-504"/>
          <p:cNvSpPr txBox="1"/>
          <p:nvPr/>
        </p:nvSpPr>
        <p:spPr>
          <a:xfrm>
            <a:off x="594360" y="3932511"/>
            <a:ext cx="5440680" cy="548640"/>
          </a:xfrm>
          <a:prstGeom prst="rect">
            <a:avLst/>
          </a:prstGeom>
          <a:noFill/>
          <a:ln/>
        </p:spPr>
        <p:txBody>
          <a:bodyPr wrap="square" lIns="0" tIns="0" rIns="0" bIns="0" rtlCol="0" anchor="t"/>
          <a:lstStyle/>
          <a:p>
            <a:pPr algn="l" indent="0" marL="0">
              <a:buNone/>
            </a:pPr>
            <a:r>
              <a:rPr lang="en-US" sz="1300" dirty="0">
                <a:solidFill>
                  <a:schemeClr val="bg2"/>
                </a:solidFill>
              </a:rPr>
              <a:t>One click: rain in 6 laps → the call changes from Hard to Wet tyres, with the reason.</a:t>
            </a:r>
            <a:endParaRPr lang="en-US" sz="1300" dirty="0"/>
          </a:p>
        </p:txBody>
      </p:sp>
      <p:sp>
        <p:nvSpPr>
          <p:cNvPr id="7" name="Screenshot frame-505"/>
          <p:cNvSpPr/>
          <p:nvPr/>
        </p:nvSpPr>
        <p:spPr>
          <a:xfrm>
            <a:off x="6336792" y="1353312"/>
            <a:ext cx="5340096" cy="2764460"/>
          </a:xfrm>
          <a:prstGeom prst="roundRect">
            <a:avLst>
              <a:gd name="adj" fmla="val 3308"/>
            </a:avLst>
          </a:prstGeom>
          <a:solidFill>
            <a:srgbClr val="2A2A36"/>
          </a:solidFill>
          <a:ln/>
          <a:effectLst>
            <a:outerShdw sx="100000" sy="100000" kx="0" ky="0" algn="bl" rotWithShape="0" blurRad="101600" dist="38100" dir="5400000">
              <a:srgbClr val="000000">
                <a:alpha val="22000"/>
              </a:srgbClr>
            </a:outerShdw>
          </a:effectLst>
        </p:spPr>
      </p:sp>
      <p:pic>
        <p:nvPicPr>
          <p:cNvPr id="8" name="Screenshot race_control_reality.png-506" descr="What really happened panel showing a Match with the team">    </p:cNvPr>
          <p:cNvPicPr>
            <a:picLocks noChangeAspect="1"/>
          </p:cNvPicPr>
          <p:nvPr/>
        </p:nvPicPr>
        <p:blipFill>
          <a:blip r:embed="rId2"/>
          <a:stretch>
            <a:fillRect/>
          </a:stretch>
        </p:blipFill>
        <p:spPr>
          <a:xfrm>
            <a:off x="6400800" y="1417320"/>
            <a:ext cx="5212080" cy="2636444"/>
          </a:xfrm>
          <a:prstGeom prst="rect">
            <a:avLst/>
          </a:prstGeom>
        </p:spPr>
      </p:pic>
      <p:sp>
        <p:nvSpPr>
          <p:cNvPr id="9" name="Text-507"/>
          <p:cNvSpPr txBox="1"/>
          <p:nvPr/>
        </p:nvSpPr>
        <p:spPr>
          <a:xfrm>
            <a:off x="6400800" y="4190924"/>
            <a:ext cx="5212080" cy="548640"/>
          </a:xfrm>
          <a:prstGeom prst="rect">
            <a:avLst/>
          </a:prstGeom>
          <a:noFill/>
          <a:ln/>
        </p:spPr>
        <p:txBody>
          <a:bodyPr wrap="square" lIns="0" tIns="0" rIns="0" bIns="0" rtlCol="0" anchor="t"/>
          <a:lstStyle/>
          <a:p>
            <a:pPr algn="l" indent="0" marL="0">
              <a:buNone/>
            </a:pPr>
            <a:r>
              <a:rPr lang="en-US" sz="1300" dirty="0">
                <a:solidFill>
                  <a:schemeClr val="bg2"/>
                </a:solidFill>
              </a:rPr>
              <a:t>After deciding, reveal the rest of the real race: same call as Ferrari, model 3.0 s off the real time.</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INTERFACE · AI MODE (TEST RUN)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With the AI model switched on</a:t>
            </a:r>
            <a:endParaRPr lang="en-US" sz="3200" dirty="0"/>
          </a:p>
        </p:txBody>
      </p:sp>
      <p:sp>
        <p:nvSpPr>
          <p:cNvPr id="4" name="Chip-508"/>
          <p:cNvSpPr/>
          <p:nvPr/>
        </p:nvSpPr>
        <p:spPr>
          <a:xfrm>
            <a:off x="548640" y="1371600"/>
            <a:ext cx="11064240" cy="384048"/>
          </a:xfrm>
          <a:prstGeom prst="roundRect">
            <a:avLst>
              <a:gd name="adj" fmla="val 40476"/>
            </a:avLst>
          </a:prstGeom>
          <a:solidFill>
            <a:schemeClr val="accent2"/>
          </a:solidFill>
          <a:ln/>
        </p:spPr>
      </p:sp>
      <p:sp>
        <p:nvSpPr>
          <p:cNvPr id="5" name="Chip label-509"/>
          <p:cNvSpPr txBox="1"/>
          <p:nvPr/>
        </p:nvSpPr>
        <p:spPr>
          <a:xfrm>
            <a:off x="548640" y="1371600"/>
            <a:ext cx="11064240" cy="384048"/>
          </a:xfrm>
          <a:prstGeom prst="rect">
            <a:avLst/>
          </a:prstGeom>
          <a:noFill/>
          <a:ln/>
        </p:spPr>
        <p:txBody>
          <a:bodyPr wrap="square" lIns="0" tIns="0" rIns="0" bIns="0" rtlCol="0" anchor="ctr"/>
          <a:lstStyle/>
          <a:p>
            <a:pPr algn="ctr" indent="0" marL="0">
              <a:buNone/>
            </a:pPr>
            <a:r>
              <a:rPr lang="en-US" sz="1200" b="1" dirty="0">
                <a:solidFill>
                  <a:schemeClr val="tx1"/>
                </a:solidFill>
              </a:rPr>
              <a:t>Test run: replies from a local stand-in server that mimics Groq's API. The AI texts shown are canned test replies, not gpt-oss-120b output.</a:t>
            </a:r>
            <a:endParaRPr lang="en-US" sz="1200" dirty="0"/>
          </a:p>
        </p:txBody>
      </p:sp>
      <p:sp>
        <p:nvSpPr>
          <p:cNvPr id="6" name="Screenshot frame-510"/>
          <p:cNvSpPr/>
          <p:nvPr/>
        </p:nvSpPr>
        <p:spPr>
          <a:xfrm>
            <a:off x="530352" y="1947672"/>
            <a:ext cx="11100816" cy="1970776"/>
          </a:xfrm>
          <a:prstGeom prst="roundRect">
            <a:avLst>
              <a:gd name="adj" fmla="val 4640"/>
            </a:avLst>
          </a:prstGeom>
          <a:solidFill>
            <a:srgbClr val="2A2A36"/>
          </a:solidFill>
          <a:ln/>
          <a:effectLst>
            <a:outerShdw sx="100000" sy="100000" kx="0" ky="0" algn="bl" rotWithShape="0" blurRad="101600" dist="38100" dir="5400000">
              <a:srgbClr val="000000">
                <a:alpha val="22000"/>
              </a:srgbClr>
            </a:outerShdw>
          </a:effectLst>
        </p:spPr>
      </p:sp>
      <p:pic>
        <p:nvPicPr>
          <p:cNvPr id="7" name="Screenshot ai_pipeline.png-511" descr="Pipeline with AI model badges on Planner and Pit Wall Operations">    </p:cNvPr>
          <p:cNvPicPr>
            <a:picLocks noChangeAspect="1"/>
          </p:cNvPicPr>
          <p:nvPr/>
        </p:nvPicPr>
        <p:blipFill>
          <a:blip r:embed="rId1"/>
          <a:stretch>
            <a:fillRect/>
          </a:stretch>
        </p:blipFill>
        <p:spPr>
          <a:xfrm>
            <a:off x="594360" y="2011680"/>
            <a:ext cx="10972800" cy="1842760"/>
          </a:xfrm>
          <a:prstGeom prst="rect">
            <a:avLst/>
          </a:prstGeom>
        </p:spPr>
      </p:pic>
      <p:sp>
        <p:nvSpPr>
          <p:cNvPr id="8" name="Screenshot frame-512"/>
          <p:cNvSpPr/>
          <p:nvPr/>
        </p:nvSpPr>
        <p:spPr>
          <a:xfrm>
            <a:off x="530352" y="4064752"/>
            <a:ext cx="5248656" cy="2139229"/>
          </a:xfrm>
          <a:prstGeom prst="roundRect">
            <a:avLst>
              <a:gd name="adj" fmla="val 4274"/>
            </a:avLst>
          </a:prstGeom>
          <a:solidFill>
            <a:srgbClr val="2A2A36"/>
          </a:solidFill>
          <a:ln/>
          <a:effectLst>
            <a:outerShdw sx="100000" sy="100000" kx="0" ky="0" algn="bl" rotWithShape="0" blurRad="101600" dist="38100" dir="5400000">
              <a:srgbClr val="000000">
                <a:alpha val="22000"/>
              </a:srgbClr>
            </a:outerShdw>
          </a:effectLst>
        </p:spPr>
      </p:sp>
      <p:pic>
        <p:nvPicPr>
          <p:cNvPr id="9" name="Screenshot ai_call.png-513" descr="Call decided by the AI model with explanation card">    </p:cNvPr>
          <p:cNvPicPr>
            <a:picLocks noChangeAspect="1"/>
          </p:cNvPicPr>
          <p:nvPr/>
        </p:nvPicPr>
        <p:blipFill>
          <a:blip r:embed="rId2"/>
          <a:stretch>
            <a:fillRect/>
          </a:stretch>
        </p:blipFill>
        <p:spPr>
          <a:xfrm>
            <a:off x="594360" y="4128760"/>
            <a:ext cx="5120640" cy="2011213"/>
          </a:xfrm>
          <a:prstGeom prst="rect">
            <a:avLst/>
          </a:prstGeom>
        </p:spPr>
      </p:pic>
      <p:sp>
        <p:nvSpPr>
          <p:cNvPr id="10" name="Callout marker-514"/>
          <p:cNvSpPr/>
          <p:nvPr/>
        </p:nvSpPr>
        <p:spPr>
          <a:xfrm>
            <a:off x="411480" y="2103120"/>
            <a:ext cx="329184" cy="329184"/>
          </a:xfrm>
          <a:prstGeom prst="ellipse">
            <a:avLst/>
          </a:prstGeom>
          <a:solidFill>
            <a:schemeClr val="accent2"/>
          </a:solidFill>
          <a:ln w="19050">
            <a:solidFill>
              <a:schemeClr val="tx1"/>
            </a:solidFill>
            <a:prstDash val="solid"/>
          </a:ln>
        </p:spPr>
      </p:sp>
      <p:sp>
        <p:nvSpPr>
          <p:cNvPr id="11" name="Callout number-515"/>
          <p:cNvSpPr txBox="1"/>
          <p:nvPr/>
        </p:nvSpPr>
        <p:spPr>
          <a:xfrm>
            <a:off x="411480" y="210312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2" name="Callout marker-516"/>
          <p:cNvSpPr/>
          <p:nvPr/>
        </p:nvSpPr>
        <p:spPr>
          <a:xfrm>
            <a:off x="411480" y="4220200"/>
            <a:ext cx="329184" cy="329184"/>
          </a:xfrm>
          <a:prstGeom prst="ellipse">
            <a:avLst/>
          </a:prstGeom>
          <a:solidFill>
            <a:schemeClr val="accent2"/>
          </a:solidFill>
          <a:ln w="19050">
            <a:solidFill>
              <a:schemeClr val="tx1"/>
            </a:solidFill>
            <a:prstDash val="solid"/>
          </a:ln>
        </p:spPr>
      </p:sp>
      <p:sp>
        <p:nvSpPr>
          <p:cNvPr id="13" name="Callout number-517"/>
          <p:cNvSpPr txBox="1"/>
          <p:nvPr/>
        </p:nvSpPr>
        <p:spPr>
          <a:xfrm>
            <a:off x="411480" y="422020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4" name="Callout marker-518"/>
          <p:cNvSpPr/>
          <p:nvPr/>
        </p:nvSpPr>
        <p:spPr>
          <a:xfrm>
            <a:off x="6080760" y="4174480"/>
            <a:ext cx="329184" cy="329184"/>
          </a:xfrm>
          <a:prstGeom prst="ellipse">
            <a:avLst/>
          </a:prstGeom>
          <a:solidFill>
            <a:schemeClr val="accent2"/>
          </a:solidFill>
          <a:ln w="19050">
            <a:solidFill>
              <a:schemeClr val="tx1"/>
            </a:solidFill>
            <a:prstDash val="solid"/>
          </a:ln>
        </p:spPr>
      </p:sp>
      <p:sp>
        <p:nvSpPr>
          <p:cNvPr id="15" name="Callout number-519"/>
          <p:cNvSpPr txBox="1"/>
          <p:nvPr/>
        </p:nvSpPr>
        <p:spPr>
          <a:xfrm>
            <a:off x="6080760" y="41744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Text-520"/>
          <p:cNvSpPr txBox="1"/>
          <p:nvPr/>
        </p:nvSpPr>
        <p:spPr>
          <a:xfrm>
            <a:off x="6537960" y="4137904"/>
            <a:ext cx="5074920" cy="685800"/>
          </a:xfrm>
          <a:prstGeom prst="rect">
            <a:avLst/>
          </a:prstGeom>
          <a:noFill/>
          <a:ln/>
        </p:spPr>
        <p:txBody>
          <a:bodyPr wrap="square" lIns="0" tIns="0" rIns="0" bIns="0" rtlCol="0" anchor="t"/>
          <a:lstStyle/>
          <a:p>
            <a:pPr algn="l" indent="0" marL="0">
              <a:buNone/>
            </a:pPr>
            <a:r>
              <a:rPr lang="en-US" sz="1400" dirty="0">
                <a:solidFill>
                  <a:schemeClr val="bg2"/>
                </a:solidFill>
              </a:rPr>
              <a:t>Planner and Pit Wall Operations show the 🧠 AI model badge; the plan was written by the AI</a:t>
            </a:r>
            <a:endParaRPr lang="en-US" sz="1400" dirty="0"/>
          </a:p>
        </p:txBody>
      </p:sp>
      <p:sp>
        <p:nvSpPr>
          <p:cNvPr id="17" name="Callout marker-521"/>
          <p:cNvSpPr/>
          <p:nvPr/>
        </p:nvSpPr>
        <p:spPr>
          <a:xfrm>
            <a:off x="6080760" y="4860280"/>
            <a:ext cx="329184" cy="329184"/>
          </a:xfrm>
          <a:prstGeom prst="ellipse">
            <a:avLst/>
          </a:prstGeom>
          <a:solidFill>
            <a:schemeClr val="accent2"/>
          </a:solidFill>
          <a:ln w="19050">
            <a:solidFill>
              <a:schemeClr val="tx1"/>
            </a:solidFill>
            <a:prstDash val="solid"/>
          </a:ln>
        </p:spPr>
      </p:sp>
      <p:sp>
        <p:nvSpPr>
          <p:cNvPr id="18" name="Callout number-522"/>
          <p:cNvSpPr txBox="1"/>
          <p:nvPr/>
        </p:nvSpPr>
        <p:spPr>
          <a:xfrm>
            <a:off x="6080760" y="48602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9" name="Text-523"/>
          <p:cNvSpPr txBox="1"/>
          <p:nvPr/>
        </p:nvSpPr>
        <p:spPr>
          <a:xfrm>
            <a:off x="6537960" y="4823704"/>
            <a:ext cx="5074920" cy="685800"/>
          </a:xfrm>
          <a:prstGeom prst="rect">
            <a:avLst/>
          </a:prstGeom>
          <a:noFill/>
          <a:ln/>
        </p:spPr>
        <p:txBody>
          <a:bodyPr wrap="square" lIns="0" tIns="0" rIns="0" bIns="0" rtlCol="0" anchor="t"/>
          <a:lstStyle/>
          <a:p>
            <a:pPr algn="l" indent="0" marL="0">
              <a:buNone/>
            </a:pPr>
            <a:r>
              <a:rPr lang="en-US" sz="1400" dirty="0">
                <a:solidFill>
                  <a:schemeClr val="bg2"/>
                </a:solidFill>
              </a:rPr>
              <a:t>The chip says who decided: the AI chose from 4 Critic-approved options, accepting 0.84 s for less tyre wear</a:t>
            </a:r>
            <a:endParaRPr lang="en-US" sz="1400" dirty="0"/>
          </a:p>
        </p:txBody>
      </p:sp>
      <p:sp>
        <p:nvSpPr>
          <p:cNvPr id="20" name="Callout marker-524"/>
          <p:cNvSpPr/>
          <p:nvPr/>
        </p:nvSpPr>
        <p:spPr>
          <a:xfrm>
            <a:off x="6080760" y="5546080"/>
            <a:ext cx="329184" cy="329184"/>
          </a:xfrm>
          <a:prstGeom prst="ellipse">
            <a:avLst/>
          </a:prstGeom>
          <a:solidFill>
            <a:schemeClr val="accent2"/>
          </a:solidFill>
          <a:ln w="19050">
            <a:solidFill>
              <a:schemeClr val="tx1"/>
            </a:solidFill>
            <a:prstDash val="solid"/>
          </a:ln>
        </p:spPr>
      </p:sp>
      <p:sp>
        <p:nvSpPr>
          <p:cNvPr id="21" name="Callout number-525"/>
          <p:cNvSpPr txBox="1"/>
          <p:nvPr/>
        </p:nvSpPr>
        <p:spPr>
          <a:xfrm>
            <a:off x="6080760" y="55460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2" name="Text-526"/>
          <p:cNvSpPr txBox="1"/>
          <p:nvPr/>
        </p:nvSpPr>
        <p:spPr>
          <a:xfrm>
            <a:off x="6537960" y="5509504"/>
            <a:ext cx="5074920" cy="685800"/>
          </a:xfrm>
          <a:prstGeom prst="rect">
            <a:avLst/>
          </a:prstGeom>
          <a:noFill/>
          <a:ln/>
        </p:spPr>
        <p:txBody>
          <a:bodyPr wrap="square" lIns="0" tIns="0" rIns="0" bIns="0" rtlCol="0" anchor="t"/>
          <a:lstStyle/>
          <a:p>
            <a:pPr algn="l" indent="0" marL="0">
              <a:buNone/>
            </a:pPr>
            <a:r>
              <a:rPr lang="en-US" sz="1400" dirty="0">
                <a:solidFill>
                  <a:schemeClr val="bg2"/>
                </a:solidFill>
              </a:rPr>
              <a:t>Its radio message said “box this lap”, which contradicted the plan, so the template message was used</a:t>
            </a:r>
            <a:endParaRPr lang="en-US" sz="14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TESTING AND VALIDATION</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192 automated tests, all passing</a:t>
            </a:r>
            <a:endParaRPr lang="en-US" sz="3200" dirty="0"/>
          </a:p>
        </p:txBody>
      </p:sp>
      <p:graphicFrame>
        <p:nvGraphicFramePr>
          <p:cNvPr id="4" name="Chart tests" descr=""/>
          <p:cNvGraphicFramePr/>
          <p:nvPr/>
        </p:nvGraphicFramePr>
        <p:xfrm>
          <a:off x="548640" y="1371600"/>
          <a:ext cx="5852160" cy="4663440"/>
        </p:xfrm>
        <a:graphic xmlns:a="http://schemas.openxmlformats.org/drawingml/2006/main">
          <a:graphicData uri="http://schemas.openxmlformats.org/drawingml/2006/chart">
            <c:chart xmlns:c="http://schemas.openxmlformats.org/drawingml/2006/chart" r:id="rId1"/>
          </a:graphicData>
        </a:graphic>
      </p:graphicFrame>
      <p:pic>
        <p:nvPicPr>
          <p:cNvPr id="5" name="Badge lock-527" descr="lock icon">    </p:cNvPr>
          <p:cNvPicPr>
            <a:picLocks noChangeAspect="1"/>
          </p:cNvPicPr>
          <p:nvPr/>
        </p:nvPicPr>
        <p:blipFill>
          <a:blip r:embed="rId2"/>
          <a:stretch>
            <a:fillRect/>
          </a:stretch>
        </p:blipFill>
        <p:spPr>
          <a:xfrm>
            <a:off x="6720840" y="1417320"/>
            <a:ext cx="566928" cy="566928"/>
          </a:xfrm>
          <a:prstGeom prst="rect">
            <a:avLst/>
          </a:prstGeom>
        </p:spPr>
      </p:pic>
      <p:sp>
        <p:nvSpPr>
          <p:cNvPr id="6" name="Text-528"/>
          <p:cNvSpPr txBox="1"/>
          <p:nvPr/>
        </p:nvSpPr>
        <p:spPr>
          <a:xfrm>
            <a:off x="7452360" y="1399032"/>
            <a:ext cx="4206240" cy="292608"/>
          </a:xfrm>
          <a:prstGeom prst="rect">
            <a:avLst/>
          </a:prstGeom>
          <a:noFill/>
          <a:ln/>
        </p:spPr>
        <p:txBody>
          <a:bodyPr wrap="square" lIns="0" tIns="0" rIns="0" bIns="0" rtlCol="0" anchor="t"/>
          <a:lstStyle/>
          <a:p>
            <a:pPr algn="l" indent="0" marL="0">
              <a:buNone/>
            </a:pPr>
            <a:r>
              <a:rPr lang="en-US" sz="1400" b="1" dirty="0">
                <a:solidFill>
                  <a:schemeClr val="tx1"/>
                </a:solidFill>
              </a:rPr>
              <a:t>No hindsight</a:t>
            </a:r>
            <a:endParaRPr lang="en-US" sz="1400" dirty="0"/>
          </a:p>
        </p:txBody>
      </p:sp>
      <p:sp>
        <p:nvSpPr>
          <p:cNvPr id="7" name="Text-529"/>
          <p:cNvSpPr txBox="1"/>
          <p:nvPr/>
        </p:nvSpPr>
        <p:spPr>
          <a:xfrm>
            <a:off x="7452360" y="1691640"/>
            <a:ext cx="4206240" cy="457200"/>
          </a:xfrm>
          <a:prstGeom prst="rect">
            <a:avLst/>
          </a:prstGeom>
          <a:noFill/>
          <a:ln/>
        </p:spPr>
        <p:txBody>
          <a:bodyPr wrap="square" lIns="0" tIns="0" rIns="0" bIns="0" rtlCol="0" anchor="t"/>
          <a:lstStyle/>
          <a:p>
            <a:pPr algn="l" indent="0" marL="0">
              <a:buNone/>
            </a:pPr>
            <a:r>
              <a:rPr lang="en-US" sz="1200" dirty="0">
                <a:solidFill>
                  <a:schemeClr val="tx2"/>
                </a:solidFill>
              </a:rPr>
              <a:t>a real race state is identical after deleting every later lap</a:t>
            </a:r>
            <a:endParaRPr lang="en-US" sz="1200" dirty="0"/>
          </a:p>
        </p:txBody>
      </p:sp>
      <p:pic>
        <p:nvPicPr>
          <p:cNvPr id="8" name="Badge critic-530" descr="critic icon">    </p:cNvPr>
          <p:cNvPicPr>
            <a:picLocks noChangeAspect="1"/>
          </p:cNvPicPr>
          <p:nvPr/>
        </p:nvPicPr>
        <p:blipFill>
          <a:blip r:embed="rId3"/>
          <a:stretch>
            <a:fillRect/>
          </a:stretch>
        </p:blipFill>
        <p:spPr>
          <a:xfrm>
            <a:off x="6720840" y="2203704"/>
            <a:ext cx="566928" cy="566928"/>
          </a:xfrm>
          <a:prstGeom prst="rect">
            <a:avLst/>
          </a:prstGeom>
        </p:spPr>
      </p:pic>
      <p:sp>
        <p:nvSpPr>
          <p:cNvPr id="9" name="Text-531"/>
          <p:cNvSpPr txBox="1"/>
          <p:nvPr/>
        </p:nvSpPr>
        <p:spPr>
          <a:xfrm>
            <a:off x="7452360" y="2185416"/>
            <a:ext cx="4206240" cy="292608"/>
          </a:xfrm>
          <a:prstGeom prst="rect">
            <a:avLst/>
          </a:prstGeom>
          <a:noFill/>
          <a:ln/>
        </p:spPr>
        <p:txBody>
          <a:bodyPr wrap="square" lIns="0" tIns="0" rIns="0" bIns="0" rtlCol="0" anchor="t"/>
          <a:lstStyle/>
          <a:p>
            <a:pPr algn="l" indent="0" marL="0">
              <a:buNone/>
            </a:pPr>
            <a:r>
              <a:rPr lang="en-US" sz="1400" b="1" dirty="0">
                <a:solidFill>
                  <a:schemeClr val="tx1"/>
                </a:solidFill>
              </a:rPr>
              <a:t>Rules hold</a:t>
            </a:r>
            <a:endParaRPr lang="en-US" sz="1400" dirty="0"/>
          </a:p>
        </p:txBody>
      </p:sp>
      <p:sp>
        <p:nvSpPr>
          <p:cNvPr id="10" name="Text-532"/>
          <p:cNvSpPr txBox="1"/>
          <p:nvPr/>
        </p:nvSpPr>
        <p:spPr>
          <a:xfrm>
            <a:off x="7452360" y="2478024"/>
            <a:ext cx="4206240" cy="457200"/>
          </a:xfrm>
          <a:prstGeom prst="rect">
            <a:avLst/>
          </a:prstGeom>
          <a:noFill/>
          <a:ln/>
        </p:spPr>
        <p:txBody>
          <a:bodyPr wrap="square" lIns="0" tIns="0" rIns="0" bIns="0" rtlCol="0" anchor="t"/>
          <a:lstStyle/>
          <a:p>
            <a:pPr algn="l" indent="0" marL="0">
              <a:buNone/>
            </a:pPr>
            <a:r>
              <a:rPr lang="en-US" sz="1200" dirty="0">
                <a:solidFill>
                  <a:schemeClr val="tx2"/>
                </a:solidFill>
              </a:rPr>
              <a:t>illegal or impossible plans are rejected; revisions stop at 2</a:t>
            </a:r>
            <a:endParaRPr lang="en-US" sz="1200" dirty="0"/>
          </a:p>
        </p:txBody>
      </p:sp>
      <p:pic>
        <p:nvPicPr>
          <p:cNvPr id="11" name="Badge brain-533" descr="brain icon">    </p:cNvPr>
          <p:cNvPicPr>
            <a:picLocks noChangeAspect="1"/>
          </p:cNvPicPr>
          <p:nvPr/>
        </p:nvPicPr>
        <p:blipFill>
          <a:blip r:embed="rId4"/>
          <a:stretch>
            <a:fillRect/>
          </a:stretch>
        </p:blipFill>
        <p:spPr>
          <a:xfrm>
            <a:off x="6720840" y="2990088"/>
            <a:ext cx="566928" cy="566928"/>
          </a:xfrm>
          <a:prstGeom prst="rect">
            <a:avLst/>
          </a:prstGeom>
        </p:spPr>
      </p:pic>
      <p:sp>
        <p:nvSpPr>
          <p:cNvPr id="12" name="Text-534"/>
          <p:cNvSpPr txBox="1"/>
          <p:nvPr/>
        </p:nvSpPr>
        <p:spPr>
          <a:xfrm>
            <a:off x="7452360" y="2971800"/>
            <a:ext cx="4206240" cy="292608"/>
          </a:xfrm>
          <a:prstGeom prst="rect">
            <a:avLst/>
          </a:prstGeom>
          <a:noFill/>
          <a:ln/>
        </p:spPr>
        <p:txBody>
          <a:bodyPr wrap="square" lIns="0" tIns="0" rIns="0" bIns="0" rtlCol="0" anchor="t"/>
          <a:lstStyle/>
          <a:p>
            <a:pPr algn="l" indent="0" marL="0">
              <a:buNone/>
            </a:pPr>
            <a:r>
              <a:rPr lang="en-US" sz="1400" b="1" dirty="0">
                <a:solidFill>
                  <a:schemeClr val="tx1"/>
                </a:solidFill>
              </a:rPr>
              <a:t>AI can fail safely</a:t>
            </a:r>
            <a:endParaRPr lang="en-US" sz="1400" dirty="0"/>
          </a:p>
        </p:txBody>
      </p:sp>
      <p:sp>
        <p:nvSpPr>
          <p:cNvPr id="13" name="Text-535"/>
          <p:cNvSpPr txBox="1"/>
          <p:nvPr/>
        </p:nvSpPr>
        <p:spPr>
          <a:xfrm>
            <a:off x="7452360" y="3264408"/>
            <a:ext cx="4206240" cy="457200"/>
          </a:xfrm>
          <a:prstGeom prst="rect">
            <a:avLst/>
          </a:prstGeom>
          <a:noFill/>
          <a:ln/>
        </p:spPr>
        <p:txBody>
          <a:bodyPr wrap="square" lIns="0" tIns="0" rIns="0" bIns="0" rtlCol="0" anchor="t"/>
          <a:lstStyle/>
          <a:p>
            <a:pPr algn="l" indent="0" marL="0">
              <a:buNone/>
            </a:pPr>
            <a:r>
              <a:rPr lang="en-US" sz="1200" dirty="0">
                <a:solidFill>
                  <a:schemeClr val="tx2"/>
                </a:solidFill>
              </a:rPr>
              <a:t>bad JSON, refused choices, rate limits and wrong keys fall back to rules</a:t>
            </a:r>
            <a:endParaRPr lang="en-US" sz="1200" dirty="0"/>
          </a:p>
        </p:txBody>
      </p:sp>
      <p:pic>
        <p:nvPicPr>
          <p:cNvPr id="14" name="Badge window-536" descr="window icon">    </p:cNvPr>
          <p:cNvPicPr>
            <a:picLocks noChangeAspect="1"/>
          </p:cNvPicPr>
          <p:nvPr/>
        </p:nvPicPr>
        <p:blipFill>
          <a:blip r:embed="rId5"/>
          <a:stretch>
            <a:fillRect/>
          </a:stretch>
        </p:blipFill>
        <p:spPr>
          <a:xfrm>
            <a:off x="6720840" y="3776472"/>
            <a:ext cx="566928" cy="566928"/>
          </a:xfrm>
          <a:prstGeom prst="rect">
            <a:avLst/>
          </a:prstGeom>
        </p:spPr>
      </p:pic>
      <p:sp>
        <p:nvSpPr>
          <p:cNvPr id="15" name="Text-537"/>
          <p:cNvSpPr txBox="1"/>
          <p:nvPr/>
        </p:nvSpPr>
        <p:spPr>
          <a:xfrm>
            <a:off x="7452360" y="3758184"/>
            <a:ext cx="4206240" cy="292608"/>
          </a:xfrm>
          <a:prstGeom prst="rect">
            <a:avLst/>
          </a:prstGeom>
          <a:noFill/>
          <a:ln/>
        </p:spPr>
        <p:txBody>
          <a:bodyPr wrap="square" lIns="0" tIns="0" rIns="0" bIns="0" rtlCol="0" anchor="t"/>
          <a:lstStyle/>
          <a:p>
            <a:pPr algn="l" indent="0" marL="0">
              <a:buNone/>
            </a:pPr>
            <a:r>
              <a:rPr lang="en-US" sz="1400" b="1" dirty="0">
                <a:solidFill>
                  <a:schemeClr val="tx1"/>
                </a:solidFill>
              </a:rPr>
              <a:t>Pages work</a:t>
            </a:r>
            <a:endParaRPr lang="en-US" sz="1400" dirty="0"/>
          </a:p>
        </p:txBody>
      </p:sp>
      <p:sp>
        <p:nvSpPr>
          <p:cNvPr id="16" name="Text-538"/>
          <p:cNvSpPr txBox="1"/>
          <p:nvPr/>
        </p:nvSpPr>
        <p:spPr>
          <a:xfrm>
            <a:off x="7452360" y="4050792"/>
            <a:ext cx="4206240" cy="457200"/>
          </a:xfrm>
          <a:prstGeom prst="rect">
            <a:avLst/>
          </a:prstGeom>
          <a:noFill/>
          <a:ln/>
        </p:spPr>
        <p:txBody>
          <a:bodyPr wrap="square" lIns="0" tIns="0" rIns="0" bIns="0" rtlCol="0" anchor="t"/>
          <a:lstStyle/>
          <a:p>
            <a:pPr algn="l" indent="0" marL="0">
              <a:buNone/>
            </a:pPr>
            <a:r>
              <a:rPr lang="en-US" sz="1200" dirty="0">
                <a:solidFill>
                  <a:schemeClr val="tx2"/>
                </a:solidFill>
              </a:rPr>
              <a:t>all 8 pages render; inputs survive page switches and live runs</a:t>
            </a:r>
            <a:endParaRPr lang="en-US" sz="1200" dirty="0"/>
          </a:p>
        </p:txBody>
      </p:sp>
      <p:pic>
        <p:nvPicPr>
          <p:cNvPr id="17" name="Badge chart-539" descr="chart icon">    </p:cNvPr>
          <p:cNvPicPr>
            <a:picLocks noChangeAspect="1"/>
          </p:cNvPicPr>
          <p:nvPr/>
        </p:nvPicPr>
        <p:blipFill>
          <a:blip r:embed="rId6"/>
          <a:stretch>
            <a:fillRect/>
          </a:stretch>
        </p:blipFill>
        <p:spPr>
          <a:xfrm>
            <a:off x="6720840" y="4562856"/>
            <a:ext cx="566928" cy="566928"/>
          </a:xfrm>
          <a:prstGeom prst="rect">
            <a:avLst/>
          </a:prstGeom>
        </p:spPr>
      </p:pic>
      <p:sp>
        <p:nvSpPr>
          <p:cNvPr id="18" name="Text-540"/>
          <p:cNvSpPr txBox="1"/>
          <p:nvPr/>
        </p:nvSpPr>
        <p:spPr>
          <a:xfrm>
            <a:off x="7452360" y="4544568"/>
            <a:ext cx="4206240" cy="292608"/>
          </a:xfrm>
          <a:prstGeom prst="rect">
            <a:avLst/>
          </a:prstGeom>
          <a:noFill/>
          <a:ln/>
        </p:spPr>
        <p:txBody>
          <a:bodyPr wrap="square" lIns="0" tIns="0" rIns="0" bIns="0" rtlCol="0" anchor="t"/>
          <a:lstStyle/>
          <a:p>
            <a:pPr algn="l" indent="0" marL="0">
              <a:buNone/>
            </a:pPr>
            <a:r>
              <a:rPr lang="en-US" sz="1400" b="1" dirty="0">
                <a:solidFill>
                  <a:schemeClr val="tx1"/>
                </a:solidFill>
              </a:rPr>
              <a:t>ML beats formula</a:t>
            </a:r>
            <a:endParaRPr lang="en-US" sz="1400" dirty="0"/>
          </a:p>
        </p:txBody>
      </p:sp>
      <p:sp>
        <p:nvSpPr>
          <p:cNvPr id="19" name="Text-541"/>
          <p:cNvSpPr txBox="1"/>
          <p:nvPr/>
        </p:nvSpPr>
        <p:spPr>
          <a:xfrm>
            <a:off x="7452360" y="4837176"/>
            <a:ext cx="4206240" cy="457200"/>
          </a:xfrm>
          <a:prstGeom prst="rect">
            <a:avLst/>
          </a:prstGeom>
          <a:noFill/>
          <a:ln/>
        </p:spPr>
        <p:txBody>
          <a:bodyPr wrap="square" lIns="0" tIns="0" rIns="0" bIns="0" rtlCol="0" anchor="t"/>
          <a:lstStyle/>
          <a:p>
            <a:pPr algn="l" indent="0" marL="0">
              <a:buNone/>
            </a:pPr>
            <a:r>
              <a:rPr lang="en-US" sz="1200" dirty="0">
                <a:solidFill>
                  <a:schemeClr val="tx2"/>
                </a:solidFill>
              </a:rPr>
              <a:t>on unseen seasons, for every compound (shipped model)</a:t>
            </a:r>
            <a:endParaRPr lang="en-US" sz="1200" dirty="0"/>
          </a:p>
        </p:txBody>
      </p:sp>
      <p:sp>
        <p:nvSpPr>
          <p:cNvPr id="20" name="Card-542"/>
          <p:cNvSpPr/>
          <p:nvPr/>
        </p:nvSpPr>
        <p:spPr>
          <a:xfrm>
            <a:off x="6720840" y="5440680"/>
            <a:ext cx="4937760" cy="621792"/>
          </a:xfrm>
          <a:prstGeom prst="roundRect">
            <a:avLst>
              <a:gd name="adj" fmla="val 17647"/>
            </a:avLst>
          </a:prstGeom>
          <a:solidFill>
            <a:srgbClr val="E8F7EC"/>
          </a:solidFill>
          <a:ln/>
        </p:spPr>
      </p:sp>
      <p:sp>
        <p:nvSpPr>
          <p:cNvPr id="21" name="Text-543"/>
          <p:cNvSpPr txBox="1"/>
          <p:nvPr/>
        </p:nvSpPr>
        <p:spPr>
          <a:xfrm>
            <a:off x="6858000" y="5440680"/>
            <a:ext cx="4709160" cy="621792"/>
          </a:xfrm>
          <a:prstGeom prst="rect">
            <a:avLst/>
          </a:prstGeom>
          <a:noFill/>
          <a:ln/>
        </p:spPr>
        <p:txBody>
          <a:bodyPr wrap="square" lIns="0" tIns="0" rIns="0" bIns="0" rtlCol="0" anchor="ctr"/>
          <a:lstStyle/>
          <a:p>
            <a:pPr algn="l" indent="0" marL="0">
              <a:buNone/>
            </a:pPr>
            <a:r>
              <a:rPr lang="en-US" sz="1150" dirty="0">
                <a:solidFill>
                  <a:schemeClr val="tx1"/>
                </a:solidFill>
              </a:rPr>
              <a:t>Passed on 3 setups: Python 3.13 + Streamlit 1.65 · Python 3.13 + Streamlit 1.60 (oldest supported) · Python 3.12 + Streamlit 1.66</a:t>
            </a:r>
            <a:endParaRPr lang="en-US" sz="115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RESULTS · AGENTS VS REAL TEAMS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How often did the agents make the team's call?</a:t>
            </a:r>
            <a:endParaRPr lang="en-US" sz="3200" dirty="0"/>
          </a:p>
        </p:txBody>
      </p:sp>
      <p:sp>
        <p:nvSpPr>
          <p:cNvPr id="4" name="Text-544"/>
          <p:cNvSpPr txBox="1"/>
          <p:nvPr/>
        </p:nvSpPr>
        <p:spPr>
          <a:xfrm>
            <a:off x="548640" y="1325880"/>
            <a:ext cx="11064240" cy="457200"/>
          </a:xfrm>
          <a:prstGeom prst="rect">
            <a:avLst/>
          </a:prstGeom>
          <a:noFill/>
          <a:ln/>
        </p:spPr>
        <p:txBody>
          <a:bodyPr wrap="square" lIns="0" tIns="0" rIns="0" bIns="0" rtlCol="0" anchor="t"/>
          <a:lstStyle/>
          <a:p>
            <a:pPr algn="l" indent="0" marL="0">
              <a:buNone/>
            </a:pPr>
            <a:r>
              <a:rPr lang="en-US" sz="1300" dirty="0">
                <a:solidFill>
                  <a:schemeClr val="tx2"/>
                </a:solidFill>
              </a:rPr>
              <a:t>406 real moments: drivers who finished P1, P5 and P10 in each race, 3 laps before their first real pit stop. Rule-based agents, so results repeat exactly.</a:t>
            </a:r>
            <a:endParaRPr lang="en-US" sz="1300" dirty="0"/>
          </a:p>
        </p:txBody>
      </p:sp>
      <p:graphicFrame>
        <p:nvGraphicFramePr>
          <p:cNvPr id="5" name="Chart agreement" descr=""/>
          <p:cNvGraphicFramePr/>
          <p:nvPr/>
        </p:nvGraphicFramePr>
        <p:xfrm>
          <a:off x="548640" y="1874520"/>
          <a:ext cx="63093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time error" descr=""/>
          <p:cNvGraphicFramePr/>
          <p:nvPr/>
        </p:nvGraphicFramePr>
        <p:xfrm>
          <a:off x="7132320" y="1874520"/>
          <a:ext cx="4526280" cy="2194560"/>
        </p:xfrm>
        <a:graphic xmlns:a="http://schemas.openxmlformats.org/drawingml/2006/main">
          <a:graphicData uri="http://schemas.openxmlformats.org/drawingml/2006/chart">
            <c:chart xmlns:c="http://schemas.openxmlformats.org/drawingml/2006/chart" r:id="rId2"/>
          </a:graphicData>
        </a:graphic>
      </p:graphicFrame>
      <p:sp>
        <p:nvSpPr>
          <p:cNvPr id="7" name="Text-545"/>
          <p:cNvSpPr txBox="1"/>
          <p:nvPr/>
        </p:nvSpPr>
        <p:spPr>
          <a:xfrm>
            <a:off x="7132320" y="4114800"/>
            <a:ext cx="4526280" cy="274320"/>
          </a:xfrm>
          <a:prstGeom prst="rect">
            <a:avLst/>
          </a:prstGeom>
          <a:noFill/>
          <a:ln/>
        </p:spPr>
        <p:txBody>
          <a:bodyPr wrap="square" lIns="0" tIns="0" rIns="0" bIns="0" rtlCol="0" anchor="t"/>
          <a:lstStyle/>
          <a:p>
            <a:pPr algn="l" indent="0" marL="0">
              <a:buNone/>
            </a:pPr>
            <a:r>
              <a:rPr lang="en-US" sz="1100" i="1" dirty="0">
                <a:solidFill>
                  <a:schemeClr val="tx2"/>
                </a:solidFill>
              </a:rPr>
              <a:t>Clean = no Safety Car, VSC, red flag or rain after the decision.</a:t>
            </a:r>
            <a:endParaRPr lang="en-US" sz="1100" dirty="0"/>
          </a:p>
        </p:txBody>
      </p:sp>
      <p:sp>
        <p:nvSpPr>
          <p:cNvPr id="8" name="Card-546"/>
          <p:cNvSpPr/>
          <p:nvPr/>
        </p:nvSpPr>
        <p:spPr>
          <a:xfrm>
            <a:off x="7132320" y="4526280"/>
            <a:ext cx="4526280" cy="1188720"/>
          </a:xfrm>
          <a:prstGeom prst="roundRect">
            <a:avLst>
              <a:gd name="adj" fmla="val 9231"/>
            </a:avLst>
          </a:prstGeom>
          <a:solidFill>
            <a:schemeClr val="bg2"/>
          </a:solidFill>
          <a:ln/>
        </p:spPr>
      </p:sp>
      <p:sp>
        <p:nvSpPr>
          <p:cNvPr id="9" name="Text-547"/>
          <p:cNvSpPr txBox="1"/>
          <p:nvPr/>
        </p:nvSpPr>
        <p:spPr>
          <a:xfrm>
            <a:off x="7269480" y="4617720"/>
            <a:ext cx="4297680" cy="1051560"/>
          </a:xfrm>
          <a:prstGeom prst="rect">
            <a:avLst/>
          </a:prstGeom>
          <a:noFill/>
          <a:ln/>
        </p:spPr>
        <p:txBody>
          <a:bodyPr wrap="square" lIns="0" tIns="0" rIns="0" bIns="0" rtlCol="0" anchor="ctr"/>
          <a:lstStyle/>
          <a:p>
            <a:pPr algn="l" indent="0" marL="0">
              <a:buNone/>
            </a:pPr>
            <a:r>
              <a:rPr lang="en-US" sz="1250" b="1" dirty="0">
                <a:solidFill>
                  <a:schemeClr val="tx1"/>
                </a:solidFill>
              </a:rPr>
              <a:t>Reading it: </a:t>
            </a:r>
            <a:pPr algn="l" indent="0" marL="0">
              <a:buNone/>
            </a:pPr>
            <a:r>
              <a:rPr lang="en-US" sz="1250" dirty="0">
                <a:solidFill>
                  <a:schemeClr val="tx1"/>
                </a:solidFill>
              </a:rPr>
              <a:t>ML tyres predict race time far better, but their tyre choices match teams a little less often. Agreement is a sanity check, not a score: teams know tyre temperatures and rivals' plans.</a:t>
            </a:r>
            <a:endParaRPr lang="en-US" sz="1250" dirty="0"/>
          </a:p>
        </p:txBody>
      </p:sp>
      <p:sp>
        <p:nvSpPr>
          <p:cNvPr id="10" name="Text-548"/>
          <p:cNvSpPr txBox="1"/>
          <p:nvPr/>
        </p:nvSpPr>
        <p:spPr>
          <a:xfrm>
            <a:off x="548640" y="5257800"/>
            <a:ext cx="6309360" cy="777240"/>
          </a:xfrm>
          <a:prstGeom prst="rect">
            <a:avLst/>
          </a:prstGeom>
          <a:noFill/>
          <a:ln/>
        </p:spPr>
        <p:txBody>
          <a:bodyPr wrap="square" lIns="0" tIns="0" rIns="0" bIns="0" rtlCol="0" anchor="t"/>
          <a:lstStyle/>
          <a:p>
            <a:pPr algn="l" indent="0" marL="0">
              <a:buNone/>
            </a:pPr>
            <a:r>
              <a:rPr lang="en-US" sz="1100" i="1" dirty="0">
                <a:solidFill>
                  <a:schemeClr val="tx2"/>
                </a:solidFill>
              </a:rPr>
              <a:t>Caveat: the shipped ML model is trained on every season, so 2019–24 is partly in-sample; on unseen 2025–26 the clean-race error is 5.8 s vs 16.0 s (2025) and 1.3 s vs 9.0 s (2026), from small samples.</a:t>
            </a:r>
            <a:endParaRPr lang="en-US" sz="11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CHALLENGES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What was hard, and how it was solved</a:t>
            </a:r>
            <a:endParaRPr lang="en-US" sz="3200" dirty="0"/>
          </a:p>
        </p:txBody>
      </p:sp>
      <p:sp>
        <p:nvSpPr>
          <p:cNvPr id="4" name="Card-549"/>
          <p:cNvSpPr/>
          <p:nvPr/>
        </p:nvSpPr>
        <p:spPr>
          <a:xfrm>
            <a:off x="548640" y="141732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5" name="Badge lock-550" descr="lock icon">    </p:cNvPr>
          <p:cNvPicPr>
            <a:picLocks noChangeAspect="1"/>
          </p:cNvPicPr>
          <p:nvPr/>
        </p:nvPicPr>
        <p:blipFill>
          <a:blip r:embed="rId1"/>
          <a:stretch>
            <a:fillRect/>
          </a:stretch>
        </p:blipFill>
        <p:spPr>
          <a:xfrm>
            <a:off x="731520" y="1691640"/>
            <a:ext cx="731520" cy="731520"/>
          </a:xfrm>
          <a:prstGeom prst="rect">
            <a:avLst/>
          </a:prstGeom>
        </p:spPr>
      </p:pic>
      <p:sp>
        <p:nvSpPr>
          <p:cNvPr id="6" name="Text-551"/>
          <p:cNvSpPr txBox="1"/>
          <p:nvPr/>
        </p:nvSpPr>
        <p:spPr>
          <a:xfrm>
            <a:off x="1645920" y="155448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Hindsight leaking into real races</a:t>
            </a:r>
            <a:endParaRPr lang="en-US" sz="1500" dirty="0"/>
          </a:p>
        </p:txBody>
      </p:sp>
      <p:sp>
        <p:nvSpPr>
          <p:cNvPr id="7" name="Text-552"/>
          <p:cNvSpPr txBox="1"/>
          <p:nvPr/>
        </p:nvSpPr>
        <p:spPr>
          <a:xfrm>
            <a:off x="1645920" y="196596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Race state built only from laps up to the decision; the reveal is a separate step, tested</a:t>
            </a:r>
            <a:endParaRPr lang="en-US" sz="1300" dirty="0"/>
          </a:p>
        </p:txBody>
      </p:sp>
      <p:sp>
        <p:nvSpPr>
          <p:cNvPr id="8" name="Card-553"/>
          <p:cNvSpPr/>
          <p:nvPr/>
        </p:nvSpPr>
        <p:spPr>
          <a:xfrm>
            <a:off x="6181344" y="141732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9" name="Badge db-554" descr="db icon">    </p:cNvPr>
          <p:cNvPicPr>
            <a:picLocks noChangeAspect="1"/>
          </p:cNvPicPr>
          <p:nvPr/>
        </p:nvPicPr>
        <p:blipFill>
          <a:blip r:embed="rId2"/>
          <a:stretch>
            <a:fillRect/>
          </a:stretch>
        </p:blipFill>
        <p:spPr>
          <a:xfrm>
            <a:off x="6364224" y="1691640"/>
            <a:ext cx="731520" cy="731520"/>
          </a:xfrm>
          <a:prstGeom prst="rect">
            <a:avLst/>
          </a:prstGeom>
        </p:spPr>
      </p:pic>
      <p:sp>
        <p:nvSpPr>
          <p:cNvPr id="10" name="Text-555"/>
          <p:cNvSpPr txBox="1"/>
          <p:nvPr/>
        </p:nvSpPr>
        <p:spPr>
          <a:xfrm>
            <a:off x="7278624" y="155448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Messy historical data</a:t>
            </a:r>
            <a:endParaRPr lang="en-US" sz="1500" dirty="0"/>
          </a:p>
        </p:txBody>
      </p:sp>
      <p:sp>
        <p:nvSpPr>
          <p:cNvPr id="11" name="Text-556"/>
          <p:cNvSpPr txBox="1"/>
          <p:nvPr/>
        </p:nvSpPr>
        <p:spPr>
          <a:xfrm>
            <a:off x="7278624" y="196596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2018, six incomplete 2019 races and Belgium 2021 excluded; 162 clean races kept</a:t>
            </a:r>
            <a:endParaRPr lang="en-US" sz="1300" dirty="0"/>
          </a:p>
        </p:txBody>
      </p:sp>
      <p:sp>
        <p:nvSpPr>
          <p:cNvPr id="12" name="Card-557"/>
          <p:cNvSpPr/>
          <p:nvPr/>
        </p:nvSpPr>
        <p:spPr>
          <a:xfrm>
            <a:off x="548640" y="292608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13" name="Badge brain-558" descr="brain icon">    </p:cNvPr>
          <p:cNvPicPr>
            <a:picLocks noChangeAspect="1"/>
          </p:cNvPicPr>
          <p:nvPr/>
        </p:nvPicPr>
        <p:blipFill>
          <a:blip r:embed="rId3"/>
          <a:stretch>
            <a:fillRect/>
          </a:stretch>
        </p:blipFill>
        <p:spPr>
          <a:xfrm>
            <a:off x="731520" y="3200400"/>
            <a:ext cx="731520" cy="731520"/>
          </a:xfrm>
          <a:prstGeom prst="rect">
            <a:avLst/>
          </a:prstGeom>
        </p:spPr>
      </p:pic>
      <p:sp>
        <p:nvSpPr>
          <p:cNvPr id="14" name="Text-559"/>
          <p:cNvSpPr txBox="1"/>
          <p:nvPr/>
        </p:nvSpPr>
        <p:spPr>
          <a:xfrm>
            <a:off x="1645920" y="306324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AI answers can't be trusted blindly</a:t>
            </a:r>
            <a:endParaRPr lang="en-US" sz="1500" dirty="0"/>
          </a:p>
        </p:txBody>
      </p:sp>
      <p:sp>
        <p:nvSpPr>
          <p:cNvPr id="15" name="Text-560"/>
          <p:cNvSpPr txBox="1"/>
          <p:nvPr/>
        </p:nvSpPr>
        <p:spPr>
          <a:xfrm>
            <a:off x="1645920" y="347472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JSON validation, approved shortlist, radio check, retry, rules fallback</a:t>
            </a:r>
            <a:endParaRPr lang="en-US" sz="1300" dirty="0"/>
          </a:p>
        </p:txBody>
      </p:sp>
      <p:sp>
        <p:nvSpPr>
          <p:cNvPr id="16" name="Card-561"/>
          <p:cNvSpPr/>
          <p:nvPr/>
        </p:nvSpPr>
        <p:spPr>
          <a:xfrm>
            <a:off x="6181344" y="292608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17" name="Badge chart-562" descr="chart icon">    </p:cNvPr>
          <p:cNvPicPr>
            <a:picLocks noChangeAspect="1"/>
          </p:cNvPicPr>
          <p:nvPr/>
        </p:nvPicPr>
        <p:blipFill>
          <a:blip r:embed="rId4"/>
          <a:stretch>
            <a:fillRect/>
          </a:stretch>
        </p:blipFill>
        <p:spPr>
          <a:xfrm>
            <a:off x="6364224" y="3200400"/>
            <a:ext cx="731520" cy="731520"/>
          </a:xfrm>
          <a:prstGeom prst="rect">
            <a:avLst/>
          </a:prstGeom>
        </p:spPr>
      </p:pic>
      <p:sp>
        <p:nvSpPr>
          <p:cNvPr id="18" name="Text-563"/>
          <p:cNvSpPr txBox="1"/>
          <p:nvPr/>
        </p:nvSpPr>
        <p:spPr>
          <a:xfrm>
            <a:off x="7278624" y="306324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ML overfitting to old seasons</a:t>
            </a:r>
            <a:endParaRPr lang="en-US" sz="1500" dirty="0"/>
          </a:p>
        </p:txBody>
      </p:sp>
      <p:sp>
        <p:nvSpPr>
          <p:cNvPr id="19" name="Text-564"/>
          <p:cNvSpPr txBox="1"/>
          <p:nvPr/>
        </p:nvSpPr>
        <p:spPr>
          <a:xfrm>
            <a:off x="7278624" y="347472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More trees scored worse on 2025–26, so model size is picked on 2024 instead</a:t>
            </a:r>
            <a:endParaRPr lang="en-US" sz="1300" dirty="0"/>
          </a:p>
        </p:txBody>
      </p:sp>
      <p:sp>
        <p:nvSpPr>
          <p:cNvPr id="20" name="Card-565"/>
          <p:cNvSpPr/>
          <p:nvPr/>
        </p:nvSpPr>
        <p:spPr>
          <a:xfrm>
            <a:off x="548640" y="443484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21" name="Badge window-566" descr="window icon">    </p:cNvPr>
          <p:cNvPicPr>
            <a:picLocks noChangeAspect="1"/>
          </p:cNvPicPr>
          <p:nvPr/>
        </p:nvPicPr>
        <p:blipFill>
          <a:blip r:embed="rId5"/>
          <a:stretch>
            <a:fillRect/>
          </a:stretch>
        </p:blipFill>
        <p:spPr>
          <a:xfrm>
            <a:off x="731520" y="4709160"/>
            <a:ext cx="731520" cy="731520"/>
          </a:xfrm>
          <a:prstGeom prst="rect">
            <a:avLst/>
          </a:prstGeom>
        </p:spPr>
      </p:pic>
      <p:sp>
        <p:nvSpPr>
          <p:cNvPr id="22" name="Text-567"/>
          <p:cNvSpPr txBox="1"/>
          <p:nvPr/>
        </p:nvSpPr>
        <p:spPr>
          <a:xfrm>
            <a:off x="1645920" y="457200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Inputs lost between pages</a:t>
            </a:r>
            <a:endParaRPr lang="en-US" sz="1500" dirty="0"/>
          </a:p>
        </p:txBody>
      </p:sp>
      <p:sp>
        <p:nvSpPr>
          <p:cNvPr id="23" name="Text-568"/>
          <p:cNvSpPr txBox="1"/>
          <p:nvPr/>
        </p:nvSpPr>
        <p:spPr>
          <a:xfrm>
            <a:off x="1645920" y="498348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Widget state kept across pages; verified on Streamlit 1.60 to 1.66</a:t>
            </a:r>
            <a:endParaRPr lang="en-US" sz="1300" dirty="0"/>
          </a:p>
        </p:txBody>
      </p:sp>
      <p:sp>
        <p:nvSpPr>
          <p:cNvPr id="24" name="Card-569"/>
          <p:cNvSpPr/>
          <p:nvPr/>
        </p:nvSpPr>
        <p:spPr>
          <a:xfrm>
            <a:off x="6181344" y="4434840"/>
            <a:ext cx="5449824" cy="1325880"/>
          </a:xfrm>
          <a:prstGeom prst="roundRect">
            <a:avLst>
              <a:gd name="adj" fmla="val 8276"/>
            </a:avLst>
          </a:prstGeom>
          <a:solidFill>
            <a:schemeClr val="bg2"/>
          </a:solidFill>
          <a:ln/>
          <a:effectLst>
            <a:outerShdw sx="100000" sy="100000" kx="0" ky="0" algn="bl" rotWithShape="0" blurRad="101600" dist="38100" dir="5400000">
              <a:srgbClr val="000000">
                <a:alpha val="22000"/>
              </a:srgbClr>
            </a:outerShdw>
          </a:effectLst>
        </p:spPr>
      </p:sp>
      <p:pic>
        <p:nvPicPr>
          <p:cNvPr id="25" name="Badge bolt-570" descr="bolt icon">    </p:cNvPr>
          <p:cNvPicPr>
            <a:picLocks noChangeAspect="1"/>
          </p:cNvPicPr>
          <p:nvPr/>
        </p:nvPicPr>
        <p:blipFill>
          <a:blip r:embed="rId6"/>
          <a:stretch>
            <a:fillRect/>
          </a:stretch>
        </p:blipFill>
        <p:spPr>
          <a:xfrm>
            <a:off x="6364224" y="4709160"/>
            <a:ext cx="731520" cy="731520"/>
          </a:xfrm>
          <a:prstGeom prst="rect">
            <a:avLst/>
          </a:prstGeom>
        </p:spPr>
      </p:pic>
      <p:sp>
        <p:nvSpPr>
          <p:cNvPr id="26" name="Text-571"/>
          <p:cNvSpPr txBox="1"/>
          <p:nvPr/>
        </p:nvSpPr>
        <p:spPr>
          <a:xfrm>
            <a:off x="7278624" y="4572000"/>
            <a:ext cx="4206240" cy="365760"/>
          </a:xfrm>
          <a:prstGeom prst="rect">
            <a:avLst/>
          </a:prstGeom>
          <a:noFill/>
          <a:ln/>
        </p:spPr>
        <p:txBody>
          <a:bodyPr wrap="square" lIns="0" tIns="0" rIns="0" bIns="0" rtlCol="0" anchor="t"/>
          <a:lstStyle/>
          <a:p>
            <a:pPr algn="l" indent="0" marL="0">
              <a:buNone/>
            </a:pPr>
            <a:r>
              <a:rPr lang="en-US" sz="1500" b="1" dirty="0">
                <a:solidFill>
                  <a:schemeClr val="accent1"/>
                </a:solidFill>
              </a:rPr>
              <a:t>Free-plan token limits</a:t>
            </a:r>
            <a:endParaRPr lang="en-US" sz="1500" dirty="0"/>
          </a:p>
        </p:txBody>
      </p:sp>
      <p:sp>
        <p:nvSpPr>
          <p:cNvPr id="27" name="Text-572"/>
          <p:cNvSpPr txBox="1"/>
          <p:nvPr/>
        </p:nvSpPr>
        <p:spPr>
          <a:xfrm>
            <a:off x="7278624" y="4983480"/>
            <a:ext cx="4206240" cy="685800"/>
          </a:xfrm>
          <a:prstGeom prst="rect">
            <a:avLst/>
          </a:prstGeom>
          <a:noFill/>
          <a:ln/>
        </p:spPr>
        <p:txBody>
          <a:bodyPr wrap="square" lIns="0" tIns="0" rIns="0" bIns="0" rtlCol="0" anchor="t"/>
          <a:lstStyle/>
          <a:p>
            <a:pPr algn="l" indent="0" marL="0">
              <a:buNone/>
            </a:pPr>
            <a:r>
              <a:rPr lang="en-US" sz="1300" dirty="0">
                <a:solidFill>
                  <a:schemeClr val="tx1"/>
                </a:solidFill>
              </a:rPr>
              <a:t>Compact briefs, low reasoning effort, rules-based baseline in the chat</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LIMITATIONS AND FUTURE SCOPE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Honest limits, realistic next steps</a:t>
            </a:r>
            <a:endParaRPr lang="en-US" sz="3200" dirty="0"/>
          </a:p>
        </p:txBody>
      </p:sp>
      <p:sp>
        <p:nvSpPr>
          <p:cNvPr id="4" name="Card-573"/>
          <p:cNvSpPr/>
          <p:nvPr/>
        </p:nvSpPr>
        <p:spPr>
          <a:xfrm>
            <a:off x="548640" y="1417320"/>
            <a:ext cx="5449824" cy="4526280"/>
          </a:xfrm>
          <a:prstGeom prst="roundRect">
            <a:avLst>
              <a:gd name="adj" fmla="val 2424"/>
            </a:avLst>
          </a:prstGeom>
          <a:solidFill>
            <a:schemeClr val="bg2"/>
          </a:solidFill>
          <a:ln/>
          <a:effectLst>
            <a:outerShdw sx="100000" sy="100000" kx="0" ky="0" algn="bl" rotWithShape="0" blurRad="101600" dist="38100" dir="5400000">
              <a:srgbClr val="000000">
                <a:alpha val="22000"/>
              </a:srgbClr>
            </a:outerShdw>
          </a:effectLst>
        </p:spPr>
      </p:sp>
      <p:pic>
        <p:nvPicPr>
          <p:cNvPr id="5" name="Badge warn-574" descr="warn icon">    </p:cNvPr>
          <p:cNvPicPr>
            <a:picLocks noChangeAspect="1"/>
          </p:cNvPicPr>
          <p:nvPr/>
        </p:nvPicPr>
        <p:blipFill>
          <a:blip r:embed="rId1"/>
          <a:stretch>
            <a:fillRect/>
          </a:stretch>
        </p:blipFill>
        <p:spPr>
          <a:xfrm>
            <a:off x="777240" y="1600200"/>
            <a:ext cx="640080" cy="640080"/>
          </a:xfrm>
          <a:prstGeom prst="rect">
            <a:avLst/>
          </a:prstGeom>
        </p:spPr>
      </p:pic>
      <p:sp>
        <p:nvSpPr>
          <p:cNvPr id="6" name="Text-575"/>
          <p:cNvSpPr txBox="1"/>
          <p:nvPr/>
        </p:nvSpPr>
        <p:spPr>
          <a:xfrm>
            <a:off x="1554480" y="1691640"/>
            <a:ext cx="4114800" cy="457200"/>
          </a:xfrm>
          <a:prstGeom prst="rect">
            <a:avLst/>
          </a:prstGeom>
          <a:noFill/>
          <a:ln/>
        </p:spPr>
        <p:txBody>
          <a:bodyPr wrap="square" lIns="0" tIns="0" rIns="0" bIns="0" rtlCol="0" anchor="t"/>
          <a:lstStyle/>
          <a:p>
            <a:pPr algn="l" indent="0" marL="0">
              <a:buNone/>
            </a:pPr>
            <a:r>
              <a:rPr lang="en-US" sz="2000" b="1" dirty="0">
                <a:solidFill>
                  <a:schemeClr val="tx1"/>
                </a:solidFill>
              </a:rPr>
              <a:t>Limits today</a:t>
            </a:r>
            <a:endParaRPr lang="en-US" sz="2000" dirty="0"/>
          </a:p>
        </p:txBody>
      </p:sp>
      <p:sp>
        <p:nvSpPr>
          <p:cNvPr id="7" name="Limits"/>
          <p:cNvSpPr txBox="1"/>
          <p:nvPr/>
        </p:nvSpPr>
        <p:spPr>
          <a:xfrm>
            <a:off x="777240" y="2423160"/>
            <a:ext cx="5029200" cy="33832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Simplified physics: no overtaking, DRS, tyre temperature or damage</a:t>
            </a:r>
            <a:endParaRPr lang="en-US" sz="1600" dirty="0"/>
          </a:p>
          <a:p>
            <a:pPr marL="203200" indent="-203200">
              <a:spcAft>
                <a:spcPts val="1200"/>
              </a:spcAft>
              <a:buSzPct val="100000"/>
              <a:buChar char="•"/>
            </a:pPr>
            <a:r>
              <a:rPr lang="en-US" sz="1600" dirty="0">
                <a:solidFill>
                  <a:schemeClr val="tx1"/>
                </a:solidFill>
              </a:rPr>
              <a:t>Few plan shapes: now, +3 laps, event-timed, AI custom plans</a:t>
            </a:r>
            <a:endParaRPr lang="en-US" sz="1600" dirty="0"/>
          </a:p>
          <a:p>
            <a:pPr marL="203200" indent="-203200">
              <a:spcAft>
                <a:spcPts val="1200"/>
              </a:spcAft>
              <a:buSzPct val="100000"/>
              <a:buChar char="•"/>
            </a:pPr>
            <a:r>
              <a:rPr lang="en-US" sz="1600" dirty="0">
                <a:solidFill>
                  <a:schemeClr val="tx1"/>
                </a:solidFill>
              </a:rPr>
              <a:t>Safety Cars and rain are given, never predicted</a:t>
            </a:r>
            <a:endParaRPr lang="en-US" sz="1600" dirty="0"/>
          </a:p>
          <a:p>
            <a:pPr marL="203200" indent="-203200">
              <a:spcAft>
                <a:spcPts val="1200"/>
              </a:spcAft>
              <a:buSzPct val="100000"/>
              <a:buChar char="•"/>
            </a:pPr>
            <a:r>
              <a:rPr lang="en-US" sz="1600" dirty="0">
                <a:solidFill>
                  <a:schemeClr val="tx1"/>
                </a:solidFill>
              </a:rPr>
              <a:t>AI quality and speed depend on a free plan; rules take over when it fails</a:t>
            </a:r>
            <a:endParaRPr lang="en-US" sz="1600" dirty="0"/>
          </a:p>
          <a:p>
            <a:pPr marL="203200" indent="-203200">
              <a:spcAft>
                <a:spcPts val="1200"/>
              </a:spcAft>
              <a:buSzPct val="100000"/>
              <a:buChar char="•"/>
            </a:pPr>
            <a:r>
              <a:rPr lang="en-US" sz="1600" dirty="0">
                <a:solidFill>
                  <a:schemeClr val="tx1"/>
                </a:solidFill>
              </a:rPr>
              <a:t>Agreement with teams is an approximate measure</a:t>
            </a:r>
            <a:endParaRPr lang="en-US" sz="1600" dirty="0"/>
          </a:p>
          <a:p>
            <a:pPr marL="203200" indent="-203200">
              <a:spcAft>
                <a:spcPts val="1200"/>
              </a:spcAft>
              <a:buSzPct val="100000"/>
              <a:buChar char="•"/>
            </a:pPr>
            <a:r>
              <a:rPr lang="en-US" sz="1600" dirty="0">
                <a:solidFill>
                  <a:schemeClr val="tx1"/>
                </a:solidFill>
              </a:rPr>
              <a:t>Historical replay, not a live tool</a:t>
            </a:r>
            <a:endParaRPr lang="en-US" sz="1600" dirty="0"/>
          </a:p>
        </p:txBody>
      </p:sp>
      <p:sp>
        <p:nvSpPr>
          <p:cNvPr id="8" name="Card-576"/>
          <p:cNvSpPr/>
          <p:nvPr/>
        </p:nvSpPr>
        <p:spPr>
          <a:xfrm>
            <a:off x="6181344" y="1417320"/>
            <a:ext cx="5449824" cy="4526280"/>
          </a:xfrm>
          <a:prstGeom prst="roundRect">
            <a:avLst>
              <a:gd name="adj" fmla="val 2424"/>
            </a:avLst>
          </a:prstGeom>
          <a:solidFill>
            <a:srgbClr val="EEF6FF"/>
          </a:solidFill>
          <a:ln/>
          <a:effectLst>
            <a:outerShdw sx="100000" sy="100000" kx="0" ky="0" algn="bl" rotWithShape="0" blurRad="101600" dist="38100" dir="5400000">
              <a:srgbClr val="000000">
                <a:alpha val="22000"/>
              </a:srgbClr>
            </a:outerShdw>
          </a:effectLst>
        </p:spPr>
      </p:sp>
      <p:pic>
        <p:nvPicPr>
          <p:cNvPr id="9" name="Badge route-577" descr="route icon">    </p:cNvPr>
          <p:cNvPicPr>
            <a:picLocks noChangeAspect="1"/>
          </p:cNvPicPr>
          <p:nvPr/>
        </p:nvPicPr>
        <p:blipFill>
          <a:blip r:embed="rId2"/>
          <a:stretch>
            <a:fillRect/>
          </a:stretch>
        </p:blipFill>
        <p:spPr>
          <a:xfrm>
            <a:off x="6409944" y="1600200"/>
            <a:ext cx="640080" cy="640080"/>
          </a:xfrm>
          <a:prstGeom prst="rect">
            <a:avLst/>
          </a:prstGeom>
        </p:spPr>
      </p:pic>
      <p:sp>
        <p:nvSpPr>
          <p:cNvPr id="10" name="Text-578"/>
          <p:cNvSpPr txBox="1"/>
          <p:nvPr/>
        </p:nvSpPr>
        <p:spPr>
          <a:xfrm>
            <a:off x="7187184" y="1691640"/>
            <a:ext cx="4297680" cy="457200"/>
          </a:xfrm>
          <a:prstGeom prst="rect">
            <a:avLst/>
          </a:prstGeom>
          <a:noFill/>
          <a:ln/>
        </p:spPr>
        <p:txBody>
          <a:bodyPr wrap="square" lIns="0" tIns="0" rIns="0" bIns="0" rtlCol="0" anchor="t"/>
          <a:lstStyle/>
          <a:p>
            <a:pPr algn="l" indent="0" marL="0">
              <a:buNone/>
            </a:pPr>
            <a:r>
              <a:rPr lang="en-US" sz="2000" b="1" dirty="0">
                <a:solidFill>
                  <a:schemeClr val="tx1"/>
                </a:solidFill>
              </a:rPr>
              <a:t>Next steps (planned, not built)</a:t>
            </a:r>
            <a:endParaRPr lang="en-US" sz="2000" dirty="0"/>
          </a:p>
        </p:txBody>
      </p:sp>
      <p:sp>
        <p:nvSpPr>
          <p:cNvPr id="11" name="Future"/>
          <p:cNvSpPr txBox="1"/>
          <p:nvPr/>
        </p:nvSpPr>
        <p:spPr>
          <a:xfrm>
            <a:off x="6409944" y="2423160"/>
            <a:ext cx="5029200" cy="33832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Test every stop lap, not just a few shapes</a:t>
            </a:r>
            <a:endParaRPr lang="en-US" sz="1600" dirty="0"/>
          </a:p>
          <a:p>
            <a:pPr marL="203200" indent="-203200">
              <a:spcAft>
                <a:spcPts val="1200"/>
              </a:spcAft>
              <a:buSzPct val="100000"/>
              <a:buChar char="•"/>
            </a:pPr>
            <a:r>
              <a:rPr lang="en-US" sz="1600" dirty="0">
                <a:solidFill>
                  <a:schemeClr val="tx1"/>
                </a:solidFill>
              </a:rPr>
              <a:t>Safety Car and rain risk as probabilities (Monte Carlo runs)</a:t>
            </a:r>
            <a:endParaRPr lang="en-US" sz="1600" dirty="0"/>
          </a:p>
          <a:p>
            <a:pPr marL="203200" indent="-203200">
              <a:spcAft>
                <a:spcPts val="1200"/>
              </a:spcAft>
              <a:buSzPct val="100000"/>
              <a:buChar char="•"/>
            </a:pPr>
            <a:r>
              <a:rPr lang="en-US" sz="1600" dirty="0">
                <a:solidFill>
                  <a:schemeClr val="tx1"/>
                </a:solidFill>
              </a:rPr>
              <a:t>Traffic and overtaking model learned from real gaps</a:t>
            </a:r>
            <a:endParaRPr lang="en-US" sz="1600" dirty="0"/>
          </a:p>
          <a:p>
            <a:pPr marL="203200" indent="-203200">
              <a:spcAft>
                <a:spcPts val="1200"/>
              </a:spcAft>
              <a:buSzPct val="100000"/>
              <a:buChar char="•"/>
            </a:pPr>
            <a:r>
              <a:rPr lang="en-US" sz="1600" dirty="0">
                <a:solidFill>
                  <a:schemeClr val="tx1"/>
                </a:solidFill>
              </a:rPr>
              <a:t>Tune the AI prompts against the 406-moment evaluation</a:t>
            </a:r>
            <a:endParaRPr lang="en-US" sz="1600" dirty="0"/>
          </a:p>
          <a:p>
            <a:pPr marL="203200" indent="-203200">
              <a:spcAft>
                <a:spcPts val="1200"/>
              </a:spcAft>
              <a:buSzPct val="100000"/>
              <a:buChar char="•"/>
            </a:pPr>
            <a:r>
              <a:rPr lang="en-US" sz="1600" dirty="0">
                <a:solidFill>
                  <a:schemeClr val="tx1"/>
                </a:solidFill>
              </a:rPr>
              <a:t>Live timing feed during a race weekend</a:t>
            </a:r>
            <a:endParaRPr lang="en-US" sz="1600" dirty="0"/>
          </a:p>
          <a:p>
            <a:pPr marL="203200" indent="-203200">
              <a:spcAft>
                <a:spcPts val="1200"/>
              </a:spcAft>
              <a:buSzPct val="100000"/>
              <a:buChar char="•"/>
            </a:pPr>
            <a:r>
              <a:rPr lang="en-US" sz="1600" dirty="0">
                <a:solidFill>
                  <a:schemeClr val="tx1"/>
                </a:solidFill>
              </a:rPr>
              <a:t>HTTPS and login for the AWS deployment</a:t>
            </a:r>
            <a:endParaRPr lang="en-US" sz="16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THE TAKEAWAY</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bg1"/>
                </a:solidFill>
                <a:latin typeface="Bookman Old Style" pitchFamily="34" charset="0"/>
                <a:ea typeface="Bookman Old Style" pitchFamily="34" charset="-122"/>
                <a:cs typeface="Bookman Old Style" pitchFamily="34" charset="-120"/>
              </a:rPr>
              <a:t>An AI pit wall you can check</a:t>
            </a:r>
            <a:endParaRPr lang="en-US" sz="3200" dirty="0"/>
          </a:p>
        </p:txBody>
      </p:sp>
      <p:sp>
        <p:nvSpPr>
          <p:cNvPr id="4" name="Text-579"/>
          <p:cNvSpPr txBox="1"/>
          <p:nvPr/>
        </p:nvSpPr>
        <p:spPr>
          <a:xfrm>
            <a:off x="548640" y="1417320"/>
            <a:ext cx="6583680" cy="914400"/>
          </a:xfrm>
          <a:prstGeom prst="rect">
            <a:avLst/>
          </a:prstGeom>
          <a:noFill/>
          <a:ln/>
        </p:spPr>
        <p:txBody>
          <a:bodyPr wrap="square" lIns="0" tIns="0" rIns="0" bIns="0" rtlCol="0" anchor="t"/>
          <a:lstStyle/>
          <a:p>
            <a:pPr algn="l" indent="0" marL="0">
              <a:buNone/>
            </a:pPr>
            <a:r>
              <a:rPr lang="en-US" sz="1700" dirty="0">
                <a:solidFill>
                  <a:schemeClr val="bg2"/>
                </a:solidFill>
              </a:rPr>
              <a:t>Useful because it is checkable: the AI proposes, the simulator calculates, the Critic enforces the rules, and every step is visible and recorded.</a:t>
            </a:r>
            <a:endParaRPr lang="en-US" sz="1700" dirty="0"/>
          </a:p>
        </p:txBody>
      </p:sp>
      <p:sp>
        <p:nvSpPr>
          <p:cNvPr id="5" name="Card-580"/>
          <p:cNvSpPr/>
          <p:nvPr/>
        </p:nvSpPr>
        <p:spPr>
          <a:xfrm>
            <a:off x="548640" y="2606040"/>
            <a:ext cx="3108960" cy="1280160"/>
          </a:xfrm>
          <a:prstGeom prst="roundRect">
            <a:avLst>
              <a:gd name="adj" fmla="val 8571"/>
            </a:avLst>
          </a:prstGeom>
          <a:solidFill>
            <a:srgbClr val="23232E"/>
          </a:solidFill>
          <a:ln/>
          <a:effectLst>
            <a:outerShdw sx="100000" sy="100000" kx="0" ky="0" algn="bl" rotWithShape="0" blurRad="101600" dist="38100" dir="5400000">
              <a:srgbClr val="000000">
                <a:alpha val="22000"/>
              </a:srgbClr>
            </a:outerShdw>
          </a:effectLst>
        </p:spPr>
      </p:sp>
      <p:sp>
        <p:nvSpPr>
          <p:cNvPr id="6" name="Text-581"/>
          <p:cNvSpPr txBox="1"/>
          <p:nvPr/>
        </p:nvSpPr>
        <p:spPr>
          <a:xfrm>
            <a:off x="777240" y="2743200"/>
            <a:ext cx="2743200" cy="640080"/>
          </a:xfrm>
          <a:prstGeom prst="rect">
            <a:avLst/>
          </a:prstGeom>
          <a:noFill/>
          <a:ln/>
        </p:spPr>
        <p:txBody>
          <a:bodyPr wrap="square" lIns="0" tIns="0" rIns="0" bIns="0" rtlCol="0" anchor="t"/>
          <a:lstStyle/>
          <a:p>
            <a:pPr algn="l" indent="0" marL="0">
              <a:buNone/>
            </a:pPr>
            <a:r>
              <a:rPr lang="en-US" sz="3000" b="1" dirty="0">
                <a:solidFill>
                  <a:schemeClr val="accent5"/>
                </a:solidFill>
                <a:latin typeface="Bookman Old Style" pitchFamily="34" charset="0"/>
                <a:ea typeface="Bookman Old Style" pitchFamily="34" charset="-122"/>
                <a:cs typeface="Bookman Old Style" pitchFamily="34" charset="-120"/>
              </a:rPr>
              <a:t>5 agents</a:t>
            </a:r>
            <a:endParaRPr lang="en-US" sz="3000" dirty="0"/>
          </a:p>
        </p:txBody>
      </p:sp>
      <p:sp>
        <p:nvSpPr>
          <p:cNvPr id="7" name="Text-582"/>
          <p:cNvSpPr txBox="1"/>
          <p:nvPr/>
        </p:nvSpPr>
        <p:spPr>
          <a:xfrm>
            <a:off x="777240" y="3383280"/>
            <a:ext cx="2743200" cy="411480"/>
          </a:xfrm>
          <a:prstGeom prst="rect">
            <a:avLst/>
          </a:prstGeom>
          <a:noFill/>
          <a:ln/>
        </p:spPr>
        <p:txBody>
          <a:bodyPr wrap="square" lIns="0" tIns="0" rIns="0" bIns="0" rtlCol="0" anchor="t"/>
          <a:lstStyle/>
          <a:p>
            <a:pPr algn="l" indent="0" marL="0">
              <a:buNone/>
            </a:pPr>
            <a:r>
              <a:rPr lang="en-US" sz="1300" dirty="0">
                <a:solidFill>
                  <a:schemeClr val="bg2"/>
                </a:solidFill>
              </a:rPr>
              <a:t>AI model or rules as the brain</a:t>
            </a:r>
            <a:endParaRPr lang="en-US" sz="1300" dirty="0"/>
          </a:p>
        </p:txBody>
      </p:sp>
      <p:sp>
        <p:nvSpPr>
          <p:cNvPr id="8" name="Card-583"/>
          <p:cNvSpPr/>
          <p:nvPr/>
        </p:nvSpPr>
        <p:spPr>
          <a:xfrm>
            <a:off x="3886200" y="2606040"/>
            <a:ext cx="3108960" cy="1280160"/>
          </a:xfrm>
          <a:prstGeom prst="roundRect">
            <a:avLst>
              <a:gd name="adj" fmla="val 8571"/>
            </a:avLst>
          </a:prstGeom>
          <a:solidFill>
            <a:srgbClr val="23232E"/>
          </a:solidFill>
          <a:ln/>
          <a:effectLst>
            <a:outerShdw sx="100000" sy="100000" kx="0" ky="0" algn="bl" rotWithShape="0" blurRad="101600" dist="38100" dir="5400000">
              <a:srgbClr val="000000">
                <a:alpha val="22000"/>
              </a:srgbClr>
            </a:outerShdw>
          </a:effectLst>
        </p:spPr>
      </p:sp>
      <p:sp>
        <p:nvSpPr>
          <p:cNvPr id="9" name="Text-584"/>
          <p:cNvSpPr txBox="1"/>
          <p:nvPr/>
        </p:nvSpPr>
        <p:spPr>
          <a:xfrm>
            <a:off x="4114800" y="2743200"/>
            <a:ext cx="2743200" cy="640080"/>
          </a:xfrm>
          <a:prstGeom prst="rect">
            <a:avLst/>
          </a:prstGeom>
          <a:noFill/>
          <a:ln/>
        </p:spPr>
        <p:txBody>
          <a:bodyPr wrap="square" lIns="0" tIns="0" rIns="0" bIns="0" rtlCol="0" anchor="t"/>
          <a:lstStyle/>
          <a:p>
            <a:pPr algn="l" indent="0" marL="0">
              <a:buNone/>
            </a:pPr>
            <a:r>
              <a:rPr lang="en-US" sz="3000" b="1" dirty="0">
                <a:solidFill>
                  <a:schemeClr val="accent2"/>
                </a:solidFill>
                <a:latin typeface="Bookman Old Style" pitchFamily="34" charset="0"/>
                <a:ea typeface="Bookman Old Style" pitchFamily="34" charset="-122"/>
                <a:cs typeface="Bookman Old Style" pitchFamily="34" charset="-120"/>
              </a:rPr>
              <a:t>162 races</a:t>
            </a:r>
            <a:endParaRPr lang="en-US" sz="3000" dirty="0"/>
          </a:p>
        </p:txBody>
      </p:sp>
      <p:sp>
        <p:nvSpPr>
          <p:cNvPr id="10" name="Text-585"/>
          <p:cNvSpPr txBox="1"/>
          <p:nvPr/>
        </p:nvSpPr>
        <p:spPr>
          <a:xfrm>
            <a:off x="4114800" y="3383280"/>
            <a:ext cx="2743200" cy="411480"/>
          </a:xfrm>
          <a:prstGeom prst="rect">
            <a:avLst/>
          </a:prstGeom>
          <a:noFill/>
          <a:ln/>
        </p:spPr>
        <p:txBody>
          <a:bodyPr wrap="square" lIns="0" tIns="0" rIns="0" bIns="0" rtlCol="0" anchor="t"/>
          <a:lstStyle/>
          <a:p>
            <a:pPr algn="l" indent="0" marL="0">
              <a:buNone/>
            </a:pPr>
            <a:r>
              <a:rPr lang="en-US" sz="1300" dirty="0">
                <a:solidFill>
                  <a:schemeClr val="bg2"/>
                </a:solidFill>
              </a:rPr>
              <a:t>real moments, compared with teams</a:t>
            </a:r>
            <a:endParaRPr lang="en-US" sz="1300" dirty="0"/>
          </a:p>
        </p:txBody>
      </p:sp>
      <p:sp>
        <p:nvSpPr>
          <p:cNvPr id="11" name="Card-586"/>
          <p:cNvSpPr/>
          <p:nvPr/>
        </p:nvSpPr>
        <p:spPr>
          <a:xfrm>
            <a:off x="548640" y="4069080"/>
            <a:ext cx="3108960" cy="1280160"/>
          </a:xfrm>
          <a:prstGeom prst="roundRect">
            <a:avLst>
              <a:gd name="adj" fmla="val 8571"/>
            </a:avLst>
          </a:prstGeom>
          <a:solidFill>
            <a:srgbClr val="23232E"/>
          </a:solidFill>
          <a:ln/>
          <a:effectLst>
            <a:outerShdw sx="100000" sy="100000" kx="0" ky="0" algn="bl" rotWithShape="0" blurRad="101600" dist="38100" dir="5400000">
              <a:srgbClr val="000000">
                <a:alpha val="22000"/>
              </a:srgbClr>
            </a:outerShdw>
          </a:effectLst>
        </p:spPr>
      </p:sp>
      <p:sp>
        <p:nvSpPr>
          <p:cNvPr id="12" name="Text-587"/>
          <p:cNvSpPr txBox="1"/>
          <p:nvPr/>
        </p:nvSpPr>
        <p:spPr>
          <a:xfrm>
            <a:off x="777240" y="4206240"/>
            <a:ext cx="2743200" cy="640080"/>
          </a:xfrm>
          <a:prstGeom prst="rect">
            <a:avLst/>
          </a:prstGeom>
          <a:noFill/>
          <a:ln/>
        </p:spPr>
        <p:txBody>
          <a:bodyPr wrap="square" lIns="0" tIns="0" rIns="0" bIns="0" rtlCol="0" anchor="t"/>
          <a:lstStyle/>
          <a:p>
            <a:pPr algn="l" indent="0" marL="0">
              <a:buNone/>
            </a:pPr>
            <a:r>
              <a:rPr lang="en-US" sz="3000" b="1" dirty="0">
                <a:solidFill>
                  <a:schemeClr val="accent3"/>
                </a:solidFill>
                <a:latin typeface="Bookman Old Style" pitchFamily="34" charset="0"/>
                <a:ea typeface="Bookman Old Style" pitchFamily="34" charset="-122"/>
                <a:cs typeface="Bookman Old Style" pitchFamily="34" charset="-120"/>
              </a:rPr>
              <a:t>−21%</a:t>
            </a:r>
            <a:endParaRPr lang="en-US" sz="3000" dirty="0"/>
          </a:p>
        </p:txBody>
      </p:sp>
      <p:sp>
        <p:nvSpPr>
          <p:cNvPr id="13" name="Text-588"/>
          <p:cNvSpPr txBox="1"/>
          <p:nvPr/>
        </p:nvSpPr>
        <p:spPr>
          <a:xfrm>
            <a:off x="777240" y="4846320"/>
            <a:ext cx="2743200" cy="411480"/>
          </a:xfrm>
          <a:prstGeom prst="rect">
            <a:avLst/>
          </a:prstGeom>
          <a:noFill/>
          <a:ln/>
        </p:spPr>
        <p:txBody>
          <a:bodyPr wrap="square" lIns="0" tIns="0" rIns="0" bIns="0" rtlCol="0" anchor="t"/>
          <a:lstStyle/>
          <a:p>
            <a:pPr algn="l" indent="0" marL="0">
              <a:buNone/>
            </a:pPr>
            <a:r>
              <a:rPr lang="en-US" sz="1300" dirty="0">
                <a:solidFill>
                  <a:schemeClr val="bg2"/>
                </a:solidFill>
              </a:rPr>
              <a:t>lap-time error with the ML model</a:t>
            </a:r>
            <a:endParaRPr lang="en-US" sz="1300" dirty="0"/>
          </a:p>
        </p:txBody>
      </p:sp>
      <p:sp>
        <p:nvSpPr>
          <p:cNvPr id="14" name="Card-589"/>
          <p:cNvSpPr/>
          <p:nvPr/>
        </p:nvSpPr>
        <p:spPr>
          <a:xfrm>
            <a:off x="3886200" y="4069080"/>
            <a:ext cx="3108960" cy="1280160"/>
          </a:xfrm>
          <a:prstGeom prst="roundRect">
            <a:avLst>
              <a:gd name="adj" fmla="val 8571"/>
            </a:avLst>
          </a:prstGeom>
          <a:solidFill>
            <a:srgbClr val="23232E"/>
          </a:solidFill>
          <a:ln/>
          <a:effectLst>
            <a:outerShdw sx="100000" sy="100000" kx="0" ky="0" algn="bl" rotWithShape="0" blurRad="101600" dist="38100" dir="5400000">
              <a:srgbClr val="000000">
                <a:alpha val="22000"/>
              </a:srgbClr>
            </a:outerShdw>
          </a:effectLst>
        </p:spPr>
      </p:sp>
      <p:sp>
        <p:nvSpPr>
          <p:cNvPr id="15" name="Text-590"/>
          <p:cNvSpPr txBox="1"/>
          <p:nvPr/>
        </p:nvSpPr>
        <p:spPr>
          <a:xfrm>
            <a:off x="4114800" y="4206240"/>
            <a:ext cx="2743200" cy="640080"/>
          </a:xfrm>
          <a:prstGeom prst="rect">
            <a:avLst/>
          </a:prstGeom>
          <a:noFill/>
          <a:ln/>
        </p:spPr>
        <p:txBody>
          <a:bodyPr wrap="square" lIns="0" tIns="0" rIns="0" bIns="0" rtlCol="0" anchor="t"/>
          <a:lstStyle/>
          <a:p>
            <a:pPr algn="l" indent="0" marL="0">
              <a:buNone/>
            </a:pPr>
            <a:r>
              <a:rPr lang="en-US" sz="3000" b="1" dirty="0">
                <a:solidFill>
                  <a:schemeClr val="accent1"/>
                </a:solidFill>
                <a:latin typeface="Bookman Old Style" pitchFamily="34" charset="0"/>
                <a:ea typeface="Bookman Old Style" pitchFamily="34" charset="-122"/>
                <a:cs typeface="Bookman Old Style" pitchFamily="34" charset="-120"/>
              </a:rPr>
              <a:t>192 tests</a:t>
            </a:r>
            <a:endParaRPr lang="en-US" sz="3000" dirty="0"/>
          </a:p>
        </p:txBody>
      </p:sp>
      <p:sp>
        <p:nvSpPr>
          <p:cNvPr id="16" name="Text-591"/>
          <p:cNvSpPr txBox="1"/>
          <p:nvPr/>
        </p:nvSpPr>
        <p:spPr>
          <a:xfrm>
            <a:off x="4114800" y="4846320"/>
            <a:ext cx="2743200" cy="411480"/>
          </a:xfrm>
          <a:prstGeom prst="rect">
            <a:avLst/>
          </a:prstGeom>
          <a:noFill/>
          <a:ln/>
        </p:spPr>
        <p:txBody>
          <a:bodyPr wrap="square" lIns="0" tIns="0" rIns="0" bIns="0" rtlCol="0" anchor="t"/>
          <a:lstStyle/>
          <a:p>
            <a:pPr algn="l" indent="0" marL="0">
              <a:buNone/>
            </a:pPr>
            <a:r>
              <a:rPr lang="en-US" sz="1300" dirty="0">
                <a:solidFill>
                  <a:schemeClr val="bg2"/>
                </a:solidFill>
              </a:rPr>
              <a:t>passing on 3 setups</a:t>
            </a:r>
            <a:endParaRPr lang="en-US" sz="1300" dirty="0"/>
          </a:p>
        </p:txBody>
      </p:sp>
      <p:pic>
        <p:nvPicPr>
          <p:cNvPr id="17" name="Finish illustration" descr="Chequered flag with confetti">    </p:cNvPr>
          <p:cNvPicPr>
            <a:picLocks noChangeAspect="1"/>
          </p:cNvPicPr>
          <p:nvPr/>
        </p:nvPicPr>
        <p:blipFill>
          <a:blip r:embed="rId1"/>
          <a:stretch>
            <a:fillRect/>
          </a:stretch>
        </p:blipFill>
        <p:spPr>
          <a:xfrm>
            <a:off x="7589520" y="1645920"/>
            <a:ext cx="4023360" cy="2831253"/>
          </a:xfrm>
          <a:prstGeom prst="rect">
            <a:avLst/>
          </a:prstGeom>
        </p:spPr>
      </p:pic>
      <p:pic>
        <p:nvPicPr>
          <p:cNvPr id="18" name="Sticker-592" descr="Decorative radio sticker">    </p:cNvPr>
          <p:cNvPicPr>
            <a:picLocks noChangeAspect="1"/>
          </p:cNvPicPr>
          <p:nvPr/>
        </p:nvPicPr>
        <p:blipFill>
          <a:blip r:embed="rId2"/>
          <a:stretch>
            <a:fillRect/>
          </a:stretch>
        </p:blipFill>
        <p:spPr>
          <a:xfrm rot="-300000">
            <a:off x="8595360" y="4709160"/>
            <a:ext cx="1920240" cy="1073075"/>
          </a:xfrm>
          <a:prstGeom prst="rect">
            <a:avLst/>
          </a:prstGeom>
        </p:spPr>
      </p:pic>
      <p:sp>
        <p:nvSpPr>
          <p:cNvPr id="19" name="Text-593"/>
          <p:cNvSpPr txBox="1"/>
          <p:nvPr/>
        </p:nvSpPr>
        <p:spPr>
          <a:xfrm>
            <a:off x="7589520" y="5897880"/>
            <a:ext cx="4023360" cy="411480"/>
          </a:xfrm>
          <a:prstGeom prst="rect">
            <a:avLst/>
          </a:prstGeom>
          <a:noFill/>
          <a:ln/>
        </p:spPr>
        <p:txBody>
          <a:bodyPr wrap="square" lIns="0" tIns="0" rIns="0" bIns="0" rtlCol="0" anchor="t"/>
          <a:lstStyle/>
          <a:p>
            <a:pPr algn="ctr" indent="0" marL="0">
              <a:buNone/>
            </a:pPr>
            <a:r>
              <a:rPr lang="en-US" sz="1800" b="1" dirty="0">
                <a:solidFill>
                  <a:schemeClr val="bg1"/>
                </a:solidFill>
              </a:rPr>
              <a:t>Thank you · Questions?</a:t>
            </a:r>
            <a:endParaRPr lang="en-US" sz="18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AND NOTES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latin typeface="Bookman Old Style" pitchFamily="34" charset="0"/>
                <a:ea typeface="Bookman Old Style" pitchFamily="34" charset="-122"/>
                <a:cs typeface="Bookman Old Style" pitchFamily="34" charset="-120"/>
              </a:rPr>
              <a:t>Sources</a:t>
            </a:r>
            <a:endParaRPr lang="en-US" sz="3200" dirty="0"/>
          </a:p>
        </p:txBody>
      </p:sp>
      <p:sp>
        <p:nvSpPr>
          <p:cNvPr id="4" name="References"/>
          <p:cNvSpPr txBox="1"/>
          <p:nvPr/>
        </p:nvSpPr>
        <p:spPr>
          <a:xfrm>
            <a:off x="548640" y="1417320"/>
            <a:ext cx="11064240" cy="3108960"/>
          </a:xfrm>
          <a:prstGeom prst="rect">
            <a:avLst/>
          </a:prstGeom>
          <a:noFill/>
          <a:ln/>
        </p:spPr>
        <p:txBody>
          <a:bodyPr wrap="square" lIns="0" tIns="0" rIns="0" bIns="0" rtlCol="0" anchor="t"/>
          <a:lstStyle/>
          <a:p>
            <a:pPr indent="0" marL="0">
              <a:spcAft>
                <a:spcPts val="1000"/>
              </a:spcAft>
              <a:buNone/>
            </a:pPr>
            <a:r>
              <a:rPr lang="en-US" sz="1400" dirty="0">
                <a:solidFill>
                  <a:schemeClr val="tx1"/>
                </a:solidFill>
              </a:rPr>
              <a:t>[1] Groq API free tier: rate limits (30 requests/min, 1,000/day, 8,000 tokens/min for openai/gpt-oss-120b), read 2026-10-16. benchlm.ai/md/free-tier/groq.md</a:t>
            </a:r>
            <a:endParaRPr lang="en-US" sz="1400" dirty="0"/>
          </a:p>
          <a:p>
            <a:pPr indent="0" marL="0">
              <a:spcAft>
                <a:spcPts val="1000"/>
              </a:spcAft>
              <a:buNone/>
            </a:pPr>
            <a:r>
              <a:rPr lang="en-US" sz="1400" dirty="0">
                <a:solidFill>
                  <a:schemeClr val="tx1"/>
                </a:solidFill>
              </a:rPr>
              <a:t>[2] Streamlit forum: “Deploying on AWS App Runner”, WebSockets not supported, 2025. discuss.streamlit.io/t/deploying-on-aws-app-runner/85000</a:t>
            </a:r>
            <a:endParaRPr lang="en-US" sz="1400" dirty="0"/>
          </a:p>
          <a:p>
            <a:pPr indent="0" marL="0">
              <a:spcAft>
                <a:spcPts val="1000"/>
              </a:spcAft>
              <a:buNone/>
            </a:pPr>
            <a:r>
              <a:rPr lang="en-US" sz="1400" dirty="0">
                <a:solidFill>
                  <a:schemeClr val="tx1"/>
                </a:solidFill>
              </a:rPr>
              <a:t>[3] AWS Free Plan for new accounts (credits, 6 months, eligible EC2 types), 2025. dev.classmethod.jp/en/articles/try-new-aws-free-tier-2025</a:t>
            </a:r>
            <a:endParaRPr lang="en-US" sz="1400" dirty="0"/>
          </a:p>
          <a:p>
            <a:pPr indent="0" marL="0">
              <a:spcAft>
                <a:spcPts val="1000"/>
              </a:spcAft>
              <a:buNone/>
            </a:pPr>
            <a:r>
              <a:rPr lang="en-US" sz="1400" dirty="0">
                <a:solidFill>
                  <a:schemeClr val="tx1"/>
                </a:solidFill>
              </a:rPr>
              <a:t>[4] TracingInsights F1 timing archive (FastF1-derived, MIT licence). github.com/TracingInsights</a:t>
            </a:r>
            <a:endParaRPr lang="en-US" sz="1400" dirty="0"/>
          </a:p>
          <a:p>
            <a:pPr indent="0" marL="0">
              <a:spcAft>
                <a:spcPts val="1000"/>
              </a:spcAft>
              <a:buNone/>
            </a:pPr>
            <a:r>
              <a:rPr lang="en-US" sz="1400" dirty="0">
                <a:solidFill>
                  <a:schemeClr val="tx1"/>
                </a:solidFill>
              </a:rPr>
              <a:t>[5] FastF1 Python library. docs.fastf1.dev</a:t>
            </a:r>
            <a:endParaRPr lang="en-US" sz="1400" dirty="0"/>
          </a:p>
          <a:p>
            <a:pPr indent="0" marL="0">
              <a:spcAft>
                <a:spcPts val="1000"/>
              </a:spcAft>
              <a:buNone/>
            </a:pPr>
            <a:r>
              <a:rPr lang="en-US" sz="1400" dirty="0">
                <a:solidFill>
                  <a:schemeClr val="tx1"/>
                </a:solidFill>
              </a:rPr>
              <a:t>[6] scikit-learn HistGradientBoostingRegressor and permutation importance. scikit-learn.org</a:t>
            </a:r>
            <a:endParaRPr lang="en-US" sz="1400" dirty="0"/>
          </a:p>
        </p:txBody>
      </p:sp>
      <p:sp>
        <p:nvSpPr>
          <p:cNvPr id="5" name="Card-594"/>
          <p:cNvSpPr/>
          <p:nvPr/>
        </p:nvSpPr>
        <p:spPr>
          <a:xfrm>
            <a:off x="548640" y="4343400"/>
            <a:ext cx="11082528" cy="1234440"/>
          </a:xfrm>
          <a:prstGeom prst="roundRect">
            <a:avLst>
              <a:gd name="adj" fmla="val 8889"/>
            </a:avLst>
          </a:prstGeom>
          <a:solidFill>
            <a:schemeClr val="bg2"/>
          </a:solidFill>
          <a:ln/>
        </p:spPr>
      </p:sp>
      <p:pic>
        <p:nvPicPr>
          <p:cNvPr id="6" name="Badge eye-595" descr="eye icon">    </p:cNvPr>
          <p:cNvPicPr>
            <a:picLocks noChangeAspect="1"/>
          </p:cNvPicPr>
          <p:nvPr/>
        </p:nvPicPr>
        <p:blipFill>
          <a:blip r:embed="rId1"/>
          <a:stretch>
            <a:fillRect/>
          </a:stretch>
        </p:blipFill>
        <p:spPr>
          <a:xfrm>
            <a:off x="731520" y="4544568"/>
            <a:ext cx="731520" cy="731520"/>
          </a:xfrm>
          <a:prstGeom prst="rect">
            <a:avLst/>
          </a:prstGeom>
        </p:spPr>
      </p:pic>
      <p:sp>
        <p:nvSpPr>
          <p:cNvPr id="7" name="Text-596"/>
          <p:cNvSpPr txBox="1"/>
          <p:nvPr/>
        </p:nvSpPr>
        <p:spPr>
          <a:xfrm>
            <a:off x="1645920" y="4389120"/>
            <a:ext cx="9829800" cy="1143000"/>
          </a:xfrm>
          <a:prstGeom prst="rect">
            <a:avLst/>
          </a:prstGeom>
          <a:noFill/>
          <a:ln/>
        </p:spPr>
        <p:txBody>
          <a:bodyPr wrap="square" lIns="0" tIns="0" rIns="0" bIns="0" rtlCol="0" anchor="ctr"/>
          <a:lstStyle/>
          <a:p>
            <a:pPr algn="l" indent="0" marL="0">
              <a:buNone/>
            </a:pPr>
            <a:r>
              <a:rPr lang="en-US" sz="1300" dirty="0">
                <a:solidFill>
                  <a:schemeClr val="tx1"/>
                </a:solidFill>
              </a:rPr>
              <a:t>About the visuals: app screenshots are real captures of PitWall AI (slide 19 uses a labelled stand-in AI server). Illustrations, stickers and icon badges were drawn in code for this deck; no AI image generator was used. All project figures come from the project's code, model card and evaluation files.</a:t>
            </a:r>
            <a:endParaRPr lang="en-US" sz="1300" dirty="0"/>
          </a:p>
        </p:txBody>
      </p:sp>
      <p:sp>
        <p:nvSpPr>
          <p:cNvPr id="25" name="Slide Number Placeholder 0"/>
          <p:cNvSpPr>
            <a:spLocks noGrp="1"/>
          </p:cNvSpPr>
          <p:nvPr>
            <p:ph type="sldNum" sz="quarter" idx="4294967295"/>
          </p:nvPr>
        </p:nvSpPr>
        <p:spPr>
          <a:xfrm>
            <a:off x="11201400"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PitWall Tyre Pop">
  <a:themeElements>
    <a:clrScheme name="PitWall Tyre Pop">
      <a:dk1>
        <a:srgbClr val="16161D"/>
      </a:dk1>
      <a:lt1>
        <a:srgbClr val="FFFFFF"/>
      </a:lt1>
      <a:dk2>
        <a:srgbClr val="4A4E5C"/>
      </a:dk2>
      <a:lt2>
        <a:srgbClr val="F2F3F7"/>
      </a:lt2>
      <a:accent1>
        <a:srgbClr val="E10600"/>
      </a:accent1>
      <a:accent2>
        <a:srgbClr val="FFC906"/>
      </a:accent2>
      <a:accent3>
        <a:srgbClr val="2BB34B"/>
      </a:accent3>
      <a:accent4>
        <a:srgbClr val="1E73BE"/>
      </a:accent4>
      <a:accent5>
        <a:srgbClr val="9B5DE5"/>
      </a:accent5>
      <a:accent6>
        <a:srgbClr val="8A8F9C"/>
      </a:accent6>
      <a:hlink>
        <a:srgbClr val="1E73BE"/>
      </a:hlink>
      <a:folHlink>
        <a:srgbClr val="9B5DE5"/>
      </a:folHlink>
    </a:clrScheme>
    <a:fontScheme name="PitWall Tyre Pop">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PitWall AI — Agentic AI for Formula 1 race strategy</dc:title>
  <dc:subject>CA-3 project presentation</dc:subject>
  <dc:creator>PptxGenJS</dc:creator>
  <cp:lastModifiedBy>PptxGenJS</cp:lastModifiedBy>
  <cp:revision>1</cp:revision>
  <dcterms:created xsi:type="dcterms:W3CDTF">2026-10-19T20:17:19Z</dcterms:created>
  <dcterms:modified xsi:type="dcterms:W3CDTF">2026-10-19T20:17:19Z</dcterms:modified>
</cp:coreProperties>
</file>